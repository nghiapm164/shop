
<file path=[Content_Types].xml><?xml version="1.0" encoding="utf-8"?>
<Types xmlns="http://schemas.openxmlformats.org/package/2006/content-types">
  <Default Extension="xml" ContentType="application/xml"/>
  <Default Extension="rels" ContentType="application/vnd.openxmlformats-package.relationships+xml"/>
  <Default Extension="jpeg" ContentType="image/jpeg"/>
  <Default Extension="jpg" ContentType="image/jpg"/>
  <Default Extension="svg" ContentType="image/svg+xml"/>
  <Default Extension="png" ContentType="image/png"/>
  <Default Extension="gif" ContentType="image/gif"/>
  <Default Extension="m4v" ContentType="video/mp4"/>
  <Default Extension="mp4" ContentType="video/mp4"/>
  <Default Extension="vml" ContentType="application/vnd.openxmlformats-officedocument.vmlDrawing"/>
  <Default Extension="xlsx" ContentType="application/vnd.openxmlformats-officedocument.spreadsheetml.sheet"/>
  <Override PartName="/ppt/presentation.xml" ContentType="application/vnd.openxmlformats-officedocument.presentationml.presentation.main+xml"/>
  <Override PartName="/ppt/notesMasters/notesMaster1.xml" ContentType="application/vnd.openxmlformats-officedocument.presentationml.notesMaster+xml"/>
  <Override PartName="/ppt/slideMasters/slideMaster1.xml" ContentType="application/vnd.openxmlformats-officedocument.presentationml.slideMaster+xml"/>
  <Override PartName="/ppt/slides/slide1.xml" ContentType="application/vnd.openxmlformats-officedocument.presentationml.slide+xml"/>
  <Override PartName="/ppt/slideMasters/slideMaster2.xml" ContentType="application/vnd.openxmlformats-officedocument.presentationml.slideMaster+xml"/>
  <Override PartName="/ppt/slides/slide2.xml" ContentType="application/vnd.openxmlformats-officedocument.presentationml.slide+xml"/>
  <Override PartName="/ppt/slideMasters/slideMaster3.xml" ContentType="application/vnd.openxmlformats-officedocument.presentationml.slideMaster+xml"/>
  <Override PartName="/ppt/slides/slide3.xml" ContentType="application/vnd.openxmlformats-officedocument.presentationml.slide+xml"/>
  <Override PartName="/ppt/slideMasters/slideMaster4.xml" ContentType="application/vnd.openxmlformats-officedocument.presentationml.slideMaster+xml"/>
  <Override PartName="/ppt/slides/slide4.xml" ContentType="application/vnd.openxmlformats-officedocument.presentationml.slide+xml"/>
  <Override PartName="/ppt/slideMasters/slideMaster5.xml" ContentType="application/vnd.openxmlformats-officedocument.presentationml.slideMaster+xml"/>
  <Override PartName="/ppt/slides/slide5.xml" ContentType="application/vnd.openxmlformats-officedocument.presentationml.slide+xml"/>
  <Override PartName="/ppt/slideMasters/slideMaster6.xml" ContentType="application/vnd.openxmlformats-officedocument.presentationml.slideMaster+xml"/>
  <Override PartName="/ppt/slides/slide6.xml" ContentType="application/vnd.openxmlformats-officedocument.presentationml.slide+xml"/>
  <Override PartName="/ppt/slideMasters/slideMaster7.xml" ContentType="application/vnd.openxmlformats-officedocument.presentationml.slideMaster+xml"/>
  <Override PartName="/ppt/slides/slide7.xml" ContentType="application/vnd.openxmlformats-officedocument.presentationml.slide+xml"/>
  <Override PartName="/ppt/slideMasters/slideMaster8.xml" ContentType="application/vnd.openxmlformats-officedocument.presentationml.slideMaster+xml"/>
  <Override PartName="/ppt/slides/slide8.xml" ContentType="application/vnd.openxmlformats-officedocument.presentationml.slide+xml"/>
  <Override PartName="/ppt/slideMasters/slideMaster9.xml" ContentType="application/vnd.openxmlformats-officedocument.presentationml.slideMaster+xml"/>
  <Override PartName="/ppt/slides/slide9.xml" ContentType="application/vnd.openxmlformats-officedocument.presentationml.slide+xml"/>
  <Override PartName="/ppt/slideMasters/slideMaster10.xml" ContentType="application/vnd.openxmlformats-officedocument.presentationml.slideMaster+xml"/>
  <Override PartName="/ppt/slides/slide10.xml" ContentType="application/vnd.openxmlformats-officedocument.presentationml.slide+xml"/>
  <Override PartName="/ppt/slideMasters/slideMaster11.xml" ContentType="application/vnd.openxmlformats-officedocument.presentationml.slideMaster+xml"/>
  <Override PartName="/ppt/slides/slide11.xml" ContentType="application/vnd.openxmlformats-officedocument.presentationml.slide+xml"/>
  <Override PartName="/ppt/slideMasters/slideMaster12.xml" ContentType="application/vnd.openxmlformats-officedocument.presentationml.slideMaster+xml"/>
  <Override PartName="/ppt/slides/slide12.xml" ContentType="application/vnd.openxmlformats-officedocument.presentationml.slide+xml"/>
  <Override PartName="/ppt/slideMasters/slideMaster13.xml" ContentType="application/vnd.openxmlformats-officedocument.presentationml.slideMaster+xml"/>
  <Override PartName="/ppt/slides/slide13.xml" ContentType="application/vnd.openxmlformats-officedocument.presentationml.slide+xml"/>
  <Override PartName="/ppt/slideMasters/slideMaster14.xml" ContentType="application/vnd.openxmlformats-officedocument.presentationml.slideMaster+xml"/>
  <Override PartName="/ppt/slides/slide14.xml" ContentType="application/vnd.openxmlformats-officedocument.presentationml.slide+xml"/>
  <Override PartName="/ppt/slideMasters/slideMaster15.xml" ContentType="application/vnd.openxmlformats-officedocument.presentationml.slideMaster+xml"/>
  <Override PartName="/ppt/slides/slide15.xml" ContentType="application/vnd.openxmlformats-officedocument.presentationml.slide+xml"/>
  <Override PartName="/ppt/slideMasters/slideMaster16.xml" ContentType="application/vnd.openxmlformats-officedocument.presentationml.slideMaster+xml"/>
  <Override PartName="/ppt/slides/slide16.xml" ContentType="application/vnd.openxmlformats-officedocument.presentationml.slide+xml"/>
  <Override PartName="/ppt/slideMasters/slideMaster17.xml" ContentType="application/vnd.openxmlformats-officedocument.presentationml.slideMaster+xml"/>
  <Override PartName="/ppt/slides/slide17.xml" ContentType="application/vnd.openxmlformats-officedocument.presentationml.slide+xml"/>
  <Override PartName="/ppt/slideMasters/slideMaster18.xml" ContentType="application/vnd.openxmlformats-officedocument.presentationml.slideMaster+xml"/>
  <Override PartName="/ppt/slides/slide18.xml" ContentType="application/vnd.openxmlformats-officedocument.presentationml.slide+xml"/>
  <Override PartName="/ppt/slideMasters/slideMaster19.xml" ContentType="application/vnd.openxmlformats-officedocument.presentationml.slideMaster+xml"/>
  <Override PartName="/ppt/slides/slide19.xml" ContentType="application/vnd.openxmlformats-officedocument.presentationml.slide+xml"/>
  <Override PartName="/ppt/slideMasters/slideMaster20.xml" ContentType="application/vnd.openxmlformats-officedocument.presentationml.slideMaster+xml"/>
  <Override PartName="/ppt/slides/slide20.xml" ContentType="application/vnd.openxmlformats-officedocument.presentationml.slide+xml"/>
  <Override PartName="/ppt/slideMasters/slideMaster21.xml" ContentType="application/vnd.openxmlformats-officedocument.presentationml.slideMaster+xml"/>
  <Override PartName="/ppt/slides/slide21.xml" ContentType="application/vnd.openxmlformats-officedocument.presentationml.slide+xml"/>
  <Override PartName="/ppt/slideMasters/slideMaster22.xml" ContentType="application/vnd.openxmlformats-officedocument.presentationml.slideMaster+xml"/>
  <Override PartName="/ppt/slides/slide22.xml" ContentType="application/vnd.openxmlformats-officedocument.presentationml.slide+xml"/>
  <Override PartName="/ppt/slideMasters/slideMaster23.xml" ContentType="application/vnd.openxmlformats-officedocument.presentationml.slideMaster+xml"/>
  <Override PartName="/ppt/slides/slide23.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23.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
		<Relationship Id="rId1" Type="http://schemas.openxmlformats.org/officeDocument/2006/relationships/extended-properties" Target="docProps/app.xml"/>
		<Relationship Id="rId2" Type="http://schemas.openxmlformats.org/package/2006/relationships/metadata/core-properties" Target="docProps/core.xml"/>
		<Relationship Id="rId3" Type="http://schemas.openxmlformats.org/officeDocument/2006/relationships/officeDocument" Target="ppt/presentation.xml"/>
		</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 id="268" r:id="rId14"/>
    <p:sldId id="269" r:id="rId15"/>
    <p:sldId id="270" r:id="rId16"/>
    <p:sldId id="271" r:id="rId17"/>
    <p:sldId id="272" r:id="rId18"/>
    <p:sldId id="273" r:id="rId19"/>
    <p:sldId id="274" r:id="rId20"/>
    <p:sldId id="275" r:id="rId21"/>
    <p:sldId id="276" r:id="rId22"/>
    <p:sldId id="277" r:id="rId23"/>
    <p:sldId id="278" r:id="rId24"/>
  </p:sldIdLst>
  <p:notesMasterIdLst>
    <p:notesMasterId r:id="rId25"/>
  </p:notesMasterIdLst>
  <p:sldSz cx="9144000" cy="5143500"/>
  <p:notesSz cx="5143500" cy="9144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521415D9-36F7-43E2-AB2F-B90AF26B5E84}">
      <p14:sectionLst xmlns:p14="http://schemas.microsoft.com/office/powerpoint/2010/main">
        <p14:section name="Mở đầu" id="{8051454a-a3a0-d1e1-e35d-00cf0dc172bb}">
          <p14:sldIdLst>
            <p14:sldId id="256"/>
            <p14:sldId id="257"/>
            <p14:sldId id="258"/>
            <p14:sldId id="259"/>
            <p14:sldId id="260"/>
          </p14:sldIdLst>
        </p14:section>
        <p14:section name="Đặc tả yêu cầu" id="{0915c34f-dd17-0ca0-3e5a-987aa058a238}">
          <p14:sldIdLst>
            <p14:sldId id="261"/>
            <p14:sldId id="262"/>
            <p14:sldId id="263"/>
          </p14:sldIdLst>
        </p14:section>
        <p14:section name="Phân tích thiết kế" id="{3e8562de-979f-7d09-f0d9-8fcceab6b0da}">
          <p14:sldIdLst>
            <p14:sldId id="264"/>
            <p14:sldId id="265"/>
            <p14:sldId id="266"/>
            <p14:sldId id="267"/>
            <p14:sldId id="268"/>
            <p14:sldId id="269"/>
          </p14:sldIdLst>
        </p14:section>
        <p14:section name="Xây dựng chương trình" id="{74937c61-907b-28a7-6fa5-11d8d4192d9e}">
          <p14:sldIdLst>
            <p14:sldId id="270"/>
            <p14:sldId id="271"/>
            <p14:sldId id="272"/>
            <p14:sldId id="273"/>
          </p14:sldIdLst>
        </p14:section>
        <p14:section name="Demo &amp; kết luận" id="{0a911fb9-c7d6-e5e6-85c5-affbeefdd1dc}">
          <p14:sldIdLst>
            <p14:sldId id="274"/>
            <p14:sldId id="275"/>
            <p14:sldId id="276"/>
            <p14:sldId id="277"/>
            <p14:sldId id="278"/>
          </p14:sldIdLst>
        </p14:section>
      </p14:sectionLst>
    </p:ex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36" d="100"/>
          <a:sy n="136" d="100"/>
        </p:scale>
        <p:origin x="216" y="31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slide" Target="slides/slide3.xml"/><Relationship Id="rId5" Type="http://schemas.openxmlformats.org/officeDocument/2006/relationships/slide" Target="slides/slide4.xml"/><Relationship Id="rId6" Type="http://schemas.openxmlformats.org/officeDocument/2006/relationships/slide" Target="slides/slide5.xml"/><Relationship Id="rId7" Type="http://schemas.openxmlformats.org/officeDocument/2006/relationships/slide" Target="slides/slide6.xml"/><Relationship Id="rId8" Type="http://schemas.openxmlformats.org/officeDocument/2006/relationships/slide" Target="slides/slide7.xml"/><Relationship Id="rId9" Type="http://schemas.openxmlformats.org/officeDocument/2006/relationships/slide" Target="slides/slide8.xml"/><Relationship Id="rId10" Type="http://schemas.openxmlformats.org/officeDocument/2006/relationships/slide" Target="slides/slide9.xml"/><Relationship Id="rId11" Type="http://schemas.openxmlformats.org/officeDocument/2006/relationships/slide" Target="slides/slide10.xml"/><Relationship Id="rId12" Type="http://schemas.openxmlformats.org/officeDocument/2006/relationships/slide" Target="slides/slide11.xml"/><Relationship Id="rId13" Type="http://schemas.openxmlformats.org/officeDocument/2006/relationships/slide" Target="slides/slide12.xml"/><Relationship Id="rId14" Type="http://schemas.openxmlformats.org/officeDocument/2006/relationships/slide" Target="slides/slide13.xml"/><Relationship Id="rId15" Type="http://schemas.openxmlformats.org/officeDocument/2006/relationships/slide" Target="slides/slide14.xml"/><Relationship Id="rId16" Type="http://schemas.openxmlformats.org/officeDocument/2006/relationships/slide" Target="slides/slide15.xml"/><Relationship Id="rId17" Type="http://schemas.openxmlformats.org/officeDocument/2006/relationships/slide" Target="slides/slide16.xml"/><Relationship Id="rId18" Type="http://schemas.openxmlformats.org/officeDocument/2006/relationships/slide" Target="slides/slide17.xml"/><Relationship Id="rId19" Type="http://schemas.openxmlformats.org/officeDocument/2006/relationships/slide" Target="slides/slide18.xml"/><Relationship Id="rId20" Type="http://schemas.openxmlformats.org/officeDocument/2006/relationships/slide" Target="slides/slide19.xml"/><Relationship Id="rId21" Type="http://schemas.openxmlformats.org/officeDocument/2006/relationships/slide" Target="slides/slide20.xml"/><Relationship Id="rId22" Type="http://schemas.openxmlformats.org/officeDocument/2006/relationships/slide" Target="slides/slide21.xml"/><Relationship Id="rId23" Type="http://schemas.openxmlformats.org/officeDocument/2006/relationships/slide" Target="slides/slide22.xml"/><Relationship Id="rId24" Type="http://schemas.openxmlformats.org/officeDocument/2006/relationships/slide" Target="slides/slide23.xml"/><Relationship Id="rId25" Type="http://schemas.openxmlformats.org/officeDocument/2006/relationships/notesMaster" Target="notesMasters/notesMaster1.xml"/><Relationship Id="rId26" Type="http://schemas.openxmlformats.org/officeDocument/2006/relationships/presProps" Target="presProps.xml"/><Relationship Id="rId27" Type="http://schemas.openxmlformats.org/officeDocument/2006/relationships/viewProps" Target="viewProps.xml"/><Relationship Id="rId28" Type="http://schemas.openxmlformats.org/officeDocument/2006/relationships/theme" Target="theme/theme1.xml"/><Relationship Id="rId29" Type="http://schemas.openxmlformats.org/officeDocument/2006/relationships/tableStyles" Target="tableStyles.xml"/></Relationships>
</file>

<file path=ppt/notesMasters/_rels/notesMaster1.xml.rels><?xml version="1.0" encoding="UTF-8" standalone="yes"?>
<Relationships xmlns="http://schemas.openxmlformats.org/package/2006/relationships">
		<Relationship Id="rId1" Type="http://schemas.openxmlformats.org/officeDocument/2006/relationships/theme" Target="../theme/theme1.xml"/>
		</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282F153-3F37-0F45-9E97-73ACFA13230C}" type="datetimeFigureOut">
              <a:rPr lang="en-US"/>
              <a:t>7/23/19</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E5E9CC1-C706-0F49-92D6-E571CC5EEA8F}" type="slidenum">
              <a:rPr lang="en-US"/>
              <a:t>‹#›</a:t>
            </a:fld>
            <a:endParaRPr lang="en-US"/>
          </a:p>
        </p:txBody>
      </p:sp>
    </p:spTree>
    <p:extLst>
      <p:ext uri="{BB962C8B-B14F-4D97-AF65-F5344CB8AC3E}">
        <p14:creationId xmlns:p14="http://schemas.microsoft.com/office/powerpoint/2010/main" val="102408699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xml"/>
		</Relationships>
</file>

<file path=ppt/notesSlides/_rels/notesSlide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xml"/>
		</Relationships>
</file>

<file path=ppt/notesSlides/_rels/notesSlide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xml"/>
		</Relationships>
</file>

<file path=ppt/notesSlides/_rels/notesSlide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xml"/>
		</Relationships>
</file>

<file path=ppt/notesSlides/_rels/notesSlide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xml"/>
		</Relationships>
</file>

<file path=ppt/notesSlides/_rels/notesSlide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xml"/>
		</Relationships>
</file>

<file path=ppt/notesSlides/_rels/notesSlide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7.xml"/>
		</Relationships>
</file>

<file path=ppt/notesSlides/_rels/notesSlide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8.xml"/>
		</Relationships>
</file>

<file path=ppt/notesSlides/_rels/notesSlide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9.xml"/>
		</Relationships>
</file>

<file path=ppt/notesSlides/_rels/notesSlide1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0.xml"/>
		</Relationships>
</file>

<file path=ppt/notesSlides/_rels/notesSlide1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1.xml"/>
		</Relationships>
</file>

<file path=ppt/notesSlides/_rels/notesSlide1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2.xml"/>
		</Relationships>
</file>

<file path=ppt/notesSlides/_rels/notesSlide1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3.xml"/>
		</Relationships>
</file>

<file path=ppt/notesSlides/_rels/notesSlide1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4.xml"/>
		</Relationships>
</file>

<file path=ppt/notesSlides/_rels/notesSlide1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5.xml"/>
		</Relationships>
</file>

<file path=ppt/notesSlides/_rels/notesSlide1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6.xml"/>
		</Relationships>
</file>

<file path=ppt/notesSlides/_rels/notesSlide1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7.xml"/>
		</Relationships>
</file>

<file path=ppt/notesSlides/_rels/notesSlide1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8.xml"/>
		</Relationships>
</file>

<file path=ppt/notesSlides/_rels/notesSlide1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9.xml"/>
		</Relationships>
</file>

<file path=ppt/notesSlides/_rels/notesSlide2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0.xml"/>
		</Relationships>
</file>

<file path=ppt/notesSlides/_rels/notesSlide2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1.xml"/>
		</Relationships>
</file>

<file path=ppt/notesSlides/_rels/notesSlide2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2.xml"/>
		</Relationships>
</file>

<file path=ppt/notesSlides/_rels/notesSlide2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3.xml"/>
		</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Giới thiệu đề tài: xây dựng chatbot AI tư vấn sản phẩm (AI Sport Assistant) cho website bán quần áo thể thao MODESPORT. Hình bên phải là câu trả lời thật của chatbot cho câu hỏi kết hợp nhiều điều kiện.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Bài trình bày gồm 5 phần: mở đầu, đặc tả yêu cầu, phân tích thiết kế, xây dựng chương trình và cuối cùng là demo trực tiếp cùng kết luận.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Nêu 3 khó khăn của khách khi mua online. Nhấn mạnh rủi ro nếu chỉ dùng LLM: dễ bịa sản phẩm, giá. Vì vậy nhóm kết hợp Gemini với dữ liệu thật.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Đọc nhanh 7 mục tiêu theo yêu cầu đề bài; tất cả đều đã đạt và sẽ được chứng minh trong phần demo.</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Sáu nhóm chức năng chính. Ngoài ra chatbot hiển thị thẻ sản phẩm dẫn tới trang mua, từ chối câu hỏi ngoài phạm vi và có chế độ Demo.</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Ba tác nhân: khách hàng, quản trị viên và Gemini là hệ thống ngoài. Bên phải là 5 tình huống demo bắt buộc theo đề bài, sẽ chạy trực tiếp ở phần cuối.</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Khung chat trên trình duyệt gửi câu hỏi tới máy chủ Laravel. ChatbotService điều phối 5 thành phần: QueryParser, GeminiClient, SizeAdvisor, StoreKnowledge, ProductRecommender. Dữ liệu sản phẩm lấy từ MySQL; Gemini chỉ để hiểu câu hỏi và diễn đạt câu trả lời.</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Sáu bước xử lý. Bước 2 và 4 là trọng tâm: hiểu câu hỏi thành phiếu yêu cầu, rồi tìm hàng thật trong kho. Dòng chip phía dưới chính là phần "AI hiểu bạn cần" hiện trên giao diện.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Điểm thiết kế quan trọng: kết hợp hai bộ phân tích. Gemini hiểu ngữ cảnh tốt; bộ luật tự viết chính xác với con số và luôn chạy được, nên chatbot không bao giờ đứng hình.</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Bốn bước gợi ý sản phẩm. Lưu ý điều kiện "cùng một phiên bản phải vừa đúng màu vừa đúng size và còn hàng". Bên phải là quy tắc tư vấn size áp dụng cho Demo 3.</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Đây là yêu cầu số 7 của đề bài. Bốn cơ chế đảm bảo chatbot không bịa thông tin; hình bên phải là chatbot từ chối câu hỏi về đồ bơi và thời tiết.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Công nghệ sử dụng và kết quả: 5/5 tình huống demo đạt, 32 ca kiểm thử tự động với 951 phép kiểm tra đều đạt, phản hồi 2–5 giây.</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Ba giao diện: thanh bên phải trên máy tính, bảng 5 tình huống demo, và giao diện toàn màn hình trên điện thoại.</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Nhóm bổ sung 4 cột vào bảng products và 4 ô chọn trong form quản trị để quản trị viên phân loại sản phẩm, giúp AI tư vấn đúng theo yêu cầu đề bài.</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Chuyển sang demo trực tiếp: mở khung chat, bấm nút Demo hoặc phím tắt Alt+1 … Alt+5. Bấm ↻ trước khi bắt đầu.</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Demo 1: 6 áo bóng đá nam. Demo 2: tất cả sản phẩm có giá không quá 300.000đ. Demo 3: 1m75 ứng với XL, 70kg ứng với L, đề xuất size L.</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Demo 4: ba bộ áo + quần chạy bộ, tổng 458k, 498k, 488k. Demo 5: phân tích đủ 5 điều kiện, gợi ý sản phẩm còn màu đen size L. Thêm: hỏi tiếp "Còn màu trắng không?" chatbot giữ nguyên các tiêu chí trước.</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Tổng kết kết quả đạt được và các hướng phát triển tiếp theo.</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Cảm ơn và mời đặt câu hỏi.</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23</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preserve="1">
  <p:cSld name="DARK">
    <p:bg>
      <p:bgPr>
        <a:solidFill>
          <a:schemeClr val="tx1"/>
        </a:solidFill>
      </p:bgPr>
    </p:bg>
    <p:spTree>
      <p:nvGrpSpPr>
        <p:cNvPr id="1" name=""/>
        <p:cNvGrpSpPr/>
        <p:nvPr/>
      </p:nvGrpSpPr>
      <p:grpSpPr>
        <a:xfrm>
          <a:off x="0" y="0"/>
          <a:ext cx="0" cy="0"/>
          <a:chOff x="0" y="0"/>
          <a:chExt cx="0" cy="0"/>
        </a:xfrm>
      </p:grpSpPr>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preserve="1">
  <p:cSld name="SECTION">
    <p:bg>
      <p:bgPr>
        <a:solidFill>
          <a:schemeClr val="tx1"/>
        </a:solidFill>
      </p:bgPr>
    </p:bg>
    <p:spTree>
      <p:nvGrpSpPr>
        <p:cNvPr id="1" name=""/>
        <p:cNvGrpSpPr/>
        <p:nvPr/>
      </p:nvGrpSpPr>
      <p:grpSpPr>
        <a:xfrm>
          <a:off x="0" y="0"/>
          <a:ext cx="0" cy="0"/>
          <a:chOff x="0" y="0"/>
          <a:chExt cx="0" cy="0"/>
        </a:xfrm>
      </p:grpSpPr>
      <p:sp>
        <p:nvSpPr>
          <p:cNvPr id="2" name="Text 0"/>
          <p:cNvSpPr/>
          <p:nvPr>
            <p:ph idx="100" type="body" hasCustomPrompt="1"/>
          </p:nvPr>
        </p:nvSpPr>
        <p:spPr>
          <a:xfrm>
            <a:off x="640080" y="1097280"/>
            <a:ext cx="2743200" cy="1280160"/>
          </a:xfrm>
          <a:prstGeom prst="rect">
            <a:avLst/>
          </a:prstGeom>
          <a:noFill/>
          <a:ln/>
        </p:spPr>
        <p:txBody>
          <a:bodyPr wrap="square" rtlCol="0"/>
          <a:lstStyle>
            <a:lvl1pPr algn="l" indent="0" marL="0">
              <a:buNone/>
              <a:defRPr lang="en-US" sz="9600" b="1" dirty="0">
                <a:solidFill>
                  <a:schemeClr val="accent1"/>
                </a:solidFill>
              </a:defRPr>
            </a:lvl1pPr>
          </a:lstStyle>
          <a:p>
            <a:pPr algn="l" indent="0" marL="0">
              <a:buNone/>
            </a:pPr>
            <a:endParaRPr lang="en-US" sz="9600" dirty="0"/>
          </a:p>
        </p:txBody>
      </p:sp>
      <p:sp>
        <p:nvSpPr>
          <p:cNvPr id="3" name="Text 0"/>
          <p:cNvSpPr/>
          <p:nvPr>
            <p:ph idx="101" type="title" hasCustomPrompt="1"/>
          </p:nvPr>
        </p:nvSpPr>
        <p:spPr>
          <a:xfrm>
            <a:off x="640080" y="2423160"/>
            <a:ext cx="7863840" cy="822960"/>
          </a:xfrm>
          <a:prstGeom prst="rect">
            <a:avLst/>
          </a:prstGeom>
          <a:noFill/>
          <a:ln/>
        </p:spPr>
        <p:txBody>
          <a:bodyPr wrap="square" rtlCol="0"/>
          <a:lstStyle>
            <a:lvl1pPr algn="l" indent="0" marL="0">
              <a:buNone/>
              <a:defRPr lang="en-US" sz="3600" b="1" dirty="0">
                <a:solidFill>
                  <a:schemeClr val="bg1"/>
                </a:solidFill>
              </a:defRPr>
            </a:lvl1pPr>
          </a:lstStyle>
          <a:p>
            <a:pPr algn="l" indent="0" marL="0">
              <a:buNone/>
            </a:pPr>
            <a:endParaRPr lang="en-US" sz="3600" dirty="0"/>
          </a:p>
        </p:txBody>
      </p:sp>
      <p:sp>
        <p:nvSpPr>
          <p:cNvPr id="4" name="Text 0"/>
          <p:cNvSpPr/>
          <p:nvPr>
            <p:ph idx="102" type="body" hasCustomPrompt="1"/>
          </p:nvPr>
        </p:nvSpPr>
        <p:spPr>
          <a:xfrm>
            <a:off x="640080" y="3246120"/>
            <a:ext cx="7863840" cy="548640"/>
          </a:xfrm>
          <a:prstGeom prst="rect">
            <a:avLst/>
          </a:prstGeom>
          <a:noFill/>
          <a:ln/>
        </p:spPr>
        <p:txBody>
          <a:bodyPr wrap="square" rtlCol="0"/>
          <a:lstStyle>
            <a:lvl1pPr algn="l" indent="0" marL="0">
              <a:buNone/>
              <a:defRPr lang="en-US" sz="1600" dirty="0">
                <a:solidFill>
                  <a:schemeClr val="accent4"/>
                </a:solidFill>
              </a:defRPr>
            </a:lvl1pPr>
          </a:lstStyle>
          <a:p>
            <a:pPr algn="l" indent="0" marL="0">
              <a:buNone/>
            </a:pPr>
            <a:endParaRPr lang="en-US" sz="1600" dirty="0"/>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preserve="1">
  <p:cSld name="CONTENT">
    <p:bg>
      <p:bgPr>
        <a:solidFill>
          <a:schemeClr val="bg1"/>
        </a:solidFill>
      </p:bgPr>
    </p:bg>
    <p:spTree>
      <p:nvGrpSpPr>
        <p:cNvPr id="1" name=""/>
        <p:cNvGrpSpPr/>
        <p:nvPr/>
      </p:nvGrpSpPr>
      <p:grpSpPr>
        <a:xfrm>
          <a:off x="0" y="0"/>
          <a:ext cx="0" cy="0"/>
          <a:chOff x="0" y="0"/>
          <a:chExt cx="0" cy="0"/>
        </a:xfrm>
      </p:grpSpPr>
      <p:sp>
        <p:nvSpPr>
          <p:cNvPr id="2" name="Text 0"/>
          <p:cNvSpPr/>
          <p:nvPr>
            <p:ph idx="100" type="title" hasCustomPrompt="1"/>
          </p:nvPr>
        </p:nvSpPr>
        <p:spPr>
          <a:xfrm>
            <a:off x="457200" y="256032"/>
            <a:ext cx="8229600" cy="566928"/>
          </a:xfrm>
          <a:prstGeom prst="rect">
            <a:avLst/>
          </a:prstGeom>
          <a:noFill/>
          <a:ln/>
        </p:spPr>
        <p:txBody>
          <a:bodyPr wrap="square" rtlCol="0"/>
          <a:lstStyle>
            <a:lvl1pPr algn="l" indent="0" marL="0">
              <a:buNone/>
              <a:defRPr lang="en-US" sz="2600" b="1" dirty="0">
                <a:solidFill>
                  <a:schemeClr val="tx1"/>
                </a:solidFill>
              </a:defRPr>
            </a:lvl1pPr>
          </a:lstStyle>
          <a:p>
            <a:pPr algn="l" indent="0" marL="0">
              <a:buNone/>
            </a:pPr>
            <a:endParaRPr lang="en-US" sz="2600" dirty="0"/>
          </a:p>
        </p:txBody>
      </p:sp>
      <p:sp>
        <p:nvSpPr>
          <p:cNvPr id="3" name="Text 0"/>
          <p:cNvSpPr/>
          <p:nvPr/>
        </p:nvSpPr>
        <p:spPr>
          <a:xfrm>
            <a:off x="457200" y="4754880"/>
            <a:ext cx="4572000" cy="274320"/>
          </a:xfrm>
          <a:prstGeom prst="rect">
            <a:avLst/>
          </a:prstGeom>
          <a:noFill/>
          <a:ln/>
        </p:spPr>
        <p:txBody>
          <a:bodyPr wrap="square" lIns="0" tIns="0" rIns="0" bIns="0" rtlCol="0" anchor="ctr"/>
          <a:lstStyle/>
          <a:p>
            <a:pPr indent="0" marL="0">
              <a:buNone/>
            </a:pPr>
            <a:r>
              <a:rPr lang="en-US" sz="900" dirty="0">
                <a:solidFill>
                  <a:schemeClr val="accent4"/>
                </a:solidFill>
              </a:rPr>
              <a:t>MODESPORT · Chatbot AI tư vấn sản phẩm</a:t>
            </a:r>
            <a:endParaRPr lang="en-US" sz="900" dirty="0"/>
          </a:p>
        </p:txBody>
      </p:sp>
      <p:sp>
        <p:nvSpPr>
          <p:cNvPr id="25" name="Slide Number Placeholder 0"/>
          <p:cNvSpPr>
            <a:spLocks noGrp="1"/>
          </p:cNvSpPr>
          <p:nvPr>
            <p:ph type="sldNum" sz="quarter" idx="4294967295"/>
          </p:nvPr>
        </p:nvSpPr>
        <p:spPr>
          <a:xfrm>
            <a:off x="8229600" y="4754880"/>
            <a:ext cx="457200" cy="274320"/>
          </a:xfrm>
          <a:prstGeom prst="rect">
            <a:avLst/>
          </a:prstGeom>
          <a:extLst>
            <a:ext uri="{C572A759-6A51-4108-AA02-DFA0A04FC94B}">
              <ma14:wrappingTextBoxFlag xmlns:ma14="http://schemas.microsoft.com/office/mac/drawingml/2011/main" val="0"/>
            </a:ext>
          </a:extLst>
        </p:spPr>
        <p:txBody>
          <a:bodyPr/>
          <a:lstStyle>
            <a:lvl1pPr>
              <a:defRPr sz="900">
                <a:solidFill>
                  <a:schemeClr val="accent4"/>
                </a:solidFill>
              </a:defRPr>
            </a:lvl1pPr>
          </a:lstStyle>
          <a:p>
            <a:pPr algn="r"/>
            <a:fld id="{F7021451-1387-4CA6-816F-3879F97B5CBC}" type="slidenum">
              <a:rPr b="0" lang="en-US"/>
              <a:t>1004</a:t>
            </a:fld>
            <a:endParaRPr lang="en-US"/>
          </a:p>
        </p:txBody>
      </p:sp>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5" name="Slide Number Placeholder 0"/>
          <p:cNvSpPr>
            <a:spLocks noGrp="1"/>
          </p:cNvSpPr>
          <p:nvPr>
            <p:ph type="sldNum" sz="quarter" idx="4294967295"/>
          </p:nvPr>
        </p:nvSpPr>
        <p:spPr>
          <a:xfrm>
            <a:off x="8229600" y="4754880"/>
            <a:ext cx="457200" cy="274320"/>
          </a:xfrm>
          <a:prstGeom prst="rect">
            <a:avLst/>
          </a:prstGeom>
          <a:extLst>
            <a:ext uri="{C572A759-6A51-4108-AA02-DFA0A04FC94B}">
              <ma14:wrappingTextBoxFlag xmlns:ma14="http://schemas.microsoft.com/office/mac/drawingml/2011/main" val="0"/>
            </a:ext>
          </a:extLst>
        </p:spPr>
        <p:txBody>
          <a:bodyPr/>
          <a:lstStyle>
            <a:lvl1pPr>
              <a:defRPr sz="900">
                <a:solidFill>
                  <a:schemeClr val="accent4"/>
                </a:solidFill>
              </a:defRPr>
            </a:lvl1pPr>
          </a:lstStyle>
          <a:p>
            <a:pPr algn="r"/>
            <a:fld id="{F7021451-1387-4CA6-816F-3879F97B5CBC}" type="slidenum">
              <a:rPr b="0" lang="en-US"/>
              <a:t>null</a:t>
            </a:fld>
            <a:endParaRPr lang="en-US"/>
          </a:p>
        </p:txBody>
      </p:sp>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image" Target="../media/image-1-1.png"/><Relationship Id="rId2" Type="http://schemas.openxmlformats.org/officeDocument/2006/relationships/image" Target="../media/image-1-2.png"/><Relationship Id="rId3" Type="http://schemas.openxmlformats.org/officeDocument/2006/relationships/slideLayout" Target="../slideLayouts/slideLayout2.xml"/><Relationship Id="rId4"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image" Target="../media/image-2-1.png"/><Relationship Id="rId2" Type="http://schemas.openxmlformats.org/officeDocument/2006/relationships/slideLayout" Target="../slideLayouts/slideLayout4.xml"/><Relationship Id="rId3"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image" Target="../media/image-10-1.png"/><Relationship Id="rId2" Type="http://schemas.openxmlformats.org/officeDocument/2006/relationships/slideLayout" Target="../slideLayouts/slideLayout4.xml"/><Relationship Id="rId3"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image" Target="../media/image-14-1.png"/><Relationship Id="rId2" Type="http://schemas.openxmlformats.org/officeDocument/2006/relationships/slideLayout" Target="../slideLayouts/slideLayout4.xml"/><Relationship Id="rId3" Type="http://schemas.openxmlformats.org/officeDocument/2006/relationships/notesSlide" Target="../notesSlides/notesSlide14.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5.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notesSlide" Target="../notesSlides/notesSlide16.xml"/></Relationships>
</file>

<file path=ppt/slides/_rels/slide17.xml.rels><?xml version="1.0" encoding="UTF-8" standalone="yes"?>
<Relationships xmlns="http://schemas.openxmlformats.org/package/2006/relationships"><Relationship Id="rId1" Type="http://schemas.openxmlformats.org/officeDocument/2006/relationships/image" Target="../media/image-17-1.png"/><Relationship Id="rId2" Type="http://schemas.openxmlformats.org/officeDocument/2006/relationships/image" Target="../media/image-17-2.png"/><Relationship Id="rId3" Type="http://schemas.openxmlformats.org/officeDocument/2006/relationships/image" Target="../media/image-17-3.png"/><Relationship Id="rId4" Type="http://schemas.openxmlformats.org/officeDocument/2006/relationships/slideLayout" Target="../slideLayouts/slideLayout4.xml"/><Relationship Id="rId5" Type="http://schemas.openxmlformats.org/officeDocument/2006/relationships/notesSlide" Target="../notesSlides/notesSlide17.xml"/></Relationships>
</file>

<file path=ppt/slides/_rels/slide18.xml.rels><?xml version="1.0" encoding="UTF-8" standalone="yes"?>
<Relationships xmlns="http://schemas.openxmlformats.org/package/2006/relationships"><Relationship Id="rId1" Type="http://schemas.openxmlformats.org/officeDocument/2006/relationships/image" Target="../media/image-18-1.png"/><Relationship Id="rId2" Type="http://schemas.openxmlformats.org/officeDocument/2006/relationships/slideLayout" Target="../slideLayouts/slideLayout4.xml"/><Relationship Id="rId3" Type="http://schemas.openxmlformats.org/officeDocument/2006/relationships/notesSlide" Target="../notesSlides/notesSlide18.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9.xml"/></Relationships>
</file>

<file path=ppt/slides/_rels/slide20.xml.rels><?xml version="1.0" encoding="UTF-8" standalone="yes"?>
<Relationships xmlns="http://schemas.openxmlformats.org/package/2006/relationships"><Relationship Id="rId1" Type="http://schemas.openxmlformats.org/officeDocument/2006/relationships/image" Target="../media/image-20-1.png"/><Relationship Id="rId2" Type="http://schemas.openxmlformats.org/officeDocument/2006/relationships/image" Target="../media/image-20-2.png"/><Relationship Id="rId3" Type="http://schemas.openxmlformats.org/officeDocument/2006/relationships/image" Target="../media/image-20-3.png"/><Relationship Id="rId4" Type="http://schemas.openxmlformats.org/officeDocument/2006/relationships/slideLayout" Target="../slideLayouts/slideLayout4.xml"/><Relationship Id="rId5" Type="http://schemas.openxmlformats.org/officeDocument/2006/relationships/notesSlide" Target="../notesSlides/notesSlide20.xml"/></Relationships>
</file>

<file path=ppt/slides/_rels/slide21.xml.rels><?xml version="1.0" encoding="UTF-8" standalone="yes"?>
<Relationships xmlns="http://schemas.openxmlformats.org/package/2006/relationships"><Relationship Id="rId1" Type="http://schemas.openxmlformats.org/officeDocument/2006/relationships/image" Target="../media/image-21-1.png"/><Relationship Id="rId2" Type="http://schemas.openxmlformats.org/officeDocument/2006/relationships/image" Target="../media/image-21-2.png"/><Relationship Id="rId3" Type="http://schemas.openxmlformats.org/officeDocument/2006/relationships/image" Target="../media/image-21-3.png"/><Relationship Id="rId4" Type="http://schemas.openxmlformats.org/officeDocument/2006/relationships/slideLayout" Target="../slideLayouts/slideLayout4.xml"/><Relationship Id="rId5" Type="http://schemas.openxmlformats.org/officeDocument/2006/relationships/notesSlide" Target="../notesSlides/notesSlide21.xml"/></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notesSlide" Target="../notesSlides/notesSlide22.xml"/></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3.xml"/></Relationships>
</file>

<file path=ppt/slides/slide1.xml><?xml version="1.0" encoding="utf-8"?>
<p:sld xmlns:a="http://schemas.openxmlformats.org/drawingml/2006/main" xmlns:r="http://schemas.openxmlformats.org/officeDocument/2006/relationships" xmlns:p="http://schemas.openxmlformats.org/presentationml/2006/main">
  <p:cSld name="Slide 1">
    <p:spTree>
      <p:nvGrpSpPr>
        <p:cNvPr id="1" name=""/>
        <p:cNvGrpSpPr/>
        <p:nvPr/>
      </p:nvGrpSpPr>
      <p:grpSpPr>
        <a:xfrm>
          <a:off x="0" y="0"/>
          <a:ext cx="0" cy="0"/>
          <a:chOff x="0" y="0"/>
          <a:chExt cx="0" cy="0"/>
        </a:xfrm>
      </p:grpSpPr>
      <p:pic>
        <p:nvPicPr>
          <p:cNvPr id="2" name="logo" descr="Logo Khoa Công nghệ Thông tin">    </p:cNvPr>
          <p:cNvPicPr>
            <a:picLocks noChangeAspect="1"/>
          </p:cNvPicPr>
          <p:nvPr/>
        </p:nvPicPr>
        <p:blipFill>
          <a:blip r:embed="rId1"/>
          <a:stretch>
            <a:fillRect/>
          </a:stretch>
        </p:blipFill>
        <p:spPr>
          <a:xfrm>
            <a:off x="548640" y="411480"/>
            <a:ext cx="685800" cy="685800"/>
          </a:xfrm>
          <a:prstGeom prst="rect">
            <a:avLst/>
          </a:prstGeom>
        </p:spPr>
      </p:pic>
      <p:sp>
        <p:nvSpPr>
          <p:cNvPr id="3" name="Text 0"/>
          <p:cNvSpPr txBox="1"/>
          <p:nvPr/>
        </p:nvSpPr>
        <p:spPr>
          <a:xfrm>
            <a:off x="1371600" y="429768"/>
            <a:ext cx="4206240" cy="640080"/>
          </a:xfrm>
          <a:prstGeom prst="rect">
            <a:avLst/>
          </a:prstGeom>
          <a:noFill/>
          <a:ln/>
        </p:spPr>
        <p:txBody>
          <a:bodyPr wrap="square" lIns="0" tIns="0" rIns="0" bIns="0" rtlCol="0" anchor="ctr"/>
          <a:lstStyle/>
          <a:p>
            <a:pPr indent="0" marL="0">
              <a:buNone/>
            </a:pPr>
            <a:r>
              <a:rPr lang="en-US" sz="1200" b="1" dirty="0">
                <a:solidFill>
                  <a:schemeClr val="bg1"/>
                </a:solidFill>
              </a:rPr>
              <a:t>HỌC VIỆN NÔNG NGHIỆP VIỆT NAM</a:t>
            </a:r>
            <a:endParaRPr lang="en-US" sz="1200" dirty="0"/>
          </a:p>
          <a:p>
            <a:pPr indent="0" marL="0">
              <a:buNone/>
            </a:pPr>
            <a:r>
              <a:rPr lang="en-US" sz="1200" dirty="0">
                <a:solidFill>
                  <a:schemeClr val="bg1"/>
                </a:solidFill>
              </a:rPr>
              <a:t>KHOA CÔNG NGHỆ THÔNG TIN</a:t>
            </a:r>
            <a:endParaRPr lang="en-US" sz="1200" dirty="0"/>
          </a:p>
        </p:txBody>
      </p:sp>
      <p:sp>
        <p:nvSpPr>
          <p:cNvPr id="4" name="Text 1"/>
          <p:cNvSpPr txBox="1"/>
          <p:nvPr/>
        </p:nvSpPr>
        <p:spPr>
          <a:xfrm>
            <a:off x="548640" y="1417320"/>
            <a:ext cx="5120640" cy="365760"/>
          </a:xfrm>
          <a:prstGeom prst="rect">
            <a:avLst/>
          </a:prstGeom>
          <a:noFill/>
          <a:ln/>
        </p:spPr>
        <p:txBody>
          <a:bodyPr wrap="square" lIns="0" tIns="0" rIns="0" bIns="0" rtlCol="0" anchor="ctr"/>
          <a:lstStyle/>
          <a:p>
            <a:pPr indent="0" marL="0">
              <a:buNone/>
            </a:pPr>
            <a:r>
              <a:rPr lang="en-US" sz="1400" b="1" spc="300" kern="0" dirty="0">
                <a:solidFill>
                  <a:schemeClr val="accent1"/>
                </a:solidFill>
              </a:rPr>
              <a:t>BÁO CÁO BÀI TẬP LỚN</a:t>
            </a:r>
            <a:endParaRPr lang="en-US" sz="1400" dirty="0"/>
          </a:p>
        </p:txBody>
      </p:sp>
      <p:sp>
        <p:nvSpPr>
          <p:cNvPr id="5" name="Text 2"/>
          <p:cNvSpPr txBox="1"/>
          <p:nvPr/>
        </p:nvSpPr>
        <p:spPr>
          <a:xfrm>
            <a:off x="548640" y="1783080"/>
            <a:ext cx="5669280" cy="685800"/>
          </a:xfrm>
          <a:prstGeom prst="rect">
            <a:avLst/>
          </a:prstGeom>
          <a:noFill/>
          <a:ln/>
        </p:spPr>
        <p:txBody>
          <a:bodyPr wrap="square" lIns="0" tIns="0" rIns="0" bIns="0" rtlCol="0" anchor="ctr"/>
          <a:lstStyle/>
          <a:p>
            <a:pPr indent="0" marL="0">
              <a:buNone/>
            </a:pPr>
            <a:r>
              <a:rPr lang="en-US" sz="2800" b="1" dirty="0">
                <a:solidFill>
                  <a:schemeClr val="bg1"/>
                </a:solidFill>
              </a:rPr>
              <a:t>Chatbot AI tư vấn sản phẩm</a:t>
            </a:r>
            <a:endParaRPr lang="en-US" sz="2800" dirty="0"/>
          </a:p>
        </p:txBody>
      </p:sp>
      <p:sp>
        <p:nvSpPr>
          <p:cNvPr id="6" name="Text 3"/>
          <p:cNvSpPr txBox="1"/>
          <p:nvPr/>
        </p:nvSpPr>
        <p:spPr>
          <a:xfrm>
            <a:off x="548640" y="2450592"/>
            <a:ext cx="5120640" cy="411480"/>
          </a:xfrm>
          <a:prstGeom prst="rect">
            <a:avLst/>
          </a:prstGeom>
          <a:noFill/>
          <a:ln/>
        </p:spPr>
        <p:txBody>
          <a:bodyPr wrap="square" lIns="0" tIns="0" rIns="0" bIns="0" rtlCol="0" anchor="ctr"/>
          <a:lstStyle/>
          <a:p>
            <a:pPr indent="0" marL="0">
              <a:buNone/>
            </a:pPr>
            <a:r>
              <a:rPr lang="en-US" sz="1700" dirty="0">
                <a:solidFill>
                  <a:srgbClr val="D1D5DB"/>
                </a:solidFill>
              </a:rPr>
              <a:t>cho website bán quần áo thể thao MODESPORT</a:t>
            </a:r>
            <a:endParaRPr lang="en-US" sz="1700" dirty="0"/>
          </a:p>
        </p:txBody>
      </p:sp>
      <p:sp>
        <p:nvSpPr>
          <p:cNvPr id="7" name="Text 4"/>
          <p:cNvSpPr txBox="1"/>
          <p:nvPr/>
        </p:nvSpPr>
        <p:spPr>
          <a:xfrm>
            <a:off x="548640" y="3154680"/>
            <a:ext cx="4937760" cy="960120"/>
          </a:xfrm>
          <a:prstGeom prst="rect">
            <a:avLst/>
          </a:prstGeom>
          <a:noFill/>
          <a:ln/>
        </p:spPr>
        <p:txBody>
          <a:bodyPr wrap="square" lIns="0" tIns="0" rIns="0" bIns="0" rtlCol="0" anchor="ctr"/>
          <a:lstStyle/>
          <a:p>
            <a:pPr indent="0" marL="0">
              <a:spcAft>
                <a:spcPts val="400"/>
              </a:spcAft>
              <a:buNone/>
            </a:pPr>
            <a:r>
              <a:rPr lang="en-US" sz="1300" b="1" dirty="0">
                <a:solidFill>
                  <a:srgbClr val="D1D5DB"/>
                </a:solidFill>
              </a:rPr>
              <a:t>Giảng viên hướng dẫn: </a:t>
            </a:r>
            <a:pPr indent="0" marL="0">
              <a:spcAft>
                <a:spcPts val="400"/>
              </a:spcAft>
              <a:buNone/>
            </a:pPr>
            <a:r>
              <a:rPr lang="en-US" sz="1300" dirty="0">
                <a:solidFill>
                  <a:srgbClr val="D1D5DB"/>
                </a:solidFill>
              </a:rPr>
              <a:t>..............................</a:t>
            </a:r>
            <a:endParaRPr lang="en-US" sz="1300" dirty="0"/>
          </a:p>
          <a:p>
            <a:pPr indent="0" marL="0">
              <a:spcAft>
                <a:spcPts val="400"/>
              </a:spcAft>
              <a:buNone/>
            </a:pPr>
            <a:r>
              <a:rPr lang="en-US" sz="1300" b="1" dirty="0">
                <a:solidFill>
                  <a:srgbClr val="D1D5DB"/>
                </a:solidFill>
              </a:rPr>
              <a:t>Nhóm thực hiện: </a:t>
            </a:r>
            <a:pPr indent="0" marL="0">
              <a:spcAft>
                <a:spcPts val="400"/>
              </a:spcAft>
              <a:buNone/>
            </a:pPr>
            <a:r>
              <a:rPr lang="en-US" sz="1300" dirty="0">
                <a:solidFill>
                  <a:srgbClr val="D1D5DB"/>
                </a:solidFill>
              </a:rPr>
              <a:t>..............................</a:t>
            </a:r>
            <a:endParaRPr lang="en-US" sz="1300" dirty="0"/>
          </a:p>
          <a:p>
            <a:pPr indent="0" marL="0">
              <a:spcAft>
                <a:spcPts val="400"/>
              </a:spcAft>
              <a:buNone/>
            </a:pPr>
            <a:r>
              <a:rPr lang="en-US" sz="1300" b="1" dirty="0">
                <a:solidFill>
                  <a:srgbClr val="D1D5DB"/>
                </a:solidFill>
              </a:rPr>
              <a:t>Lớp: </a:t>
            </a:r>
            <a:pPr indent="0" marL="0">
              <a:spcAft>
                <a:spcPts val="400"/>
              </a:spcAft>
              <a:buNone/>
            </a:pPr>
            <a:r>
              <a:rPr lang="en-US" sz="1300" dirty="0">
                <a:solidFill>
                  <a:srgbClr val="D1D5DB"/>
                </a:solidFill>
              </a:rPr>
              <a:t>..............................</a:t>
            </a:r>
            <a:endParaRPr lang="en-US" sz="1300" dirty="0"/>
          </a:p>
        </p:txBody>
      </p:sp>
      <p:sp>
        <p:nvSpPr>
          <p:cNvPr id="8" name="Text 5"/>
          <p:cNvSpPr txBox="1"/>
          <p:nvPr/>
        </p:nvSpPr>
        <p:spPr>
          <a:xfrm>
            <a:off x="548640" y="4434840"/>
            <a:ext cx="2743200" cy="274320"/>
          </a:xfrm>
          <a:prstGeom prst="rect">
            <a:avLst/>
          </a:prstGeom>
          <a:noFill/>
          <a:ln/>
        </p:spPr>
        <p:txBody>
          <a:bodyPr wrap="square" lIns="0" tIns="0" rIns="0" bIns="0" rtlCol="0" anchor="ctr"/>
          <a:lstStyle/>
          <a:p>
            <a:pPr indent="0" marL="0">
              <a:buNone/>
            </a:pPr>
            <a:r>
              <a:rPr lang="en-US" sz="1100" dirty="0">
                <a:solidFill>
                  <a:schemeClr val="accent4"/>
                </a:solidFill>
              </a:rPr>
              <a:t>Hà Nội, 2026</a:t>
            </a:r>
            <a:endParaRPr lang="en-US" sz="1100" dirty="0"/>
          </a:p>
        </p:txBody>
      </p:sp>
      <p:sp>
        <p:nvSpPr>
          <p:cNvPr id="9" name="motif"/>
          <p:cNvSpPr/>
          <p:nvPr/>
        </p:nvSpPr>
        <p:spPr>
          <a:xfrm>
            <a:off x="5760720" y="320040"/>
            <a:ext cx="4206240" cy="4206240"/>
          </a:xfrm>
          <a:prstGeom prst="ellipse">
            <a:avLst/>
          </a:prstGeom>
          <a:solidFill>
            <a:schemeClr val="accent1">
              <a:alpha val="18000"/>
            </a:schemeClr>
          </a:solidFill>
          <a:ln w="12700">
            <a:solidFill>
              <a:schemeClr val="accent1">
                <a:alpha val="18000"/>
              </a:schemeClr>
            </a:solidFill>
            <a:prstDash val="solid"/>
          </a:ln>
        </p:spPr>
      </p:sp>
      <p:sp>
        <p:nvSpPr>
          <p:cNvPr id="10" name="frame-09-demo5-nhieu-dieu-kien.png"/>
          <p:cNvSpPr/>
          <p:nvPr/>
        </p:nvSpPr>
        <p:spPr>
          <a:xfrm>
            <a:off x="6364224" y="374904"/>
            <a:ext cx="2076907" cy="4416552"/>
          </a:xfrm>
          <a:prstGeom prst="roundRect">
            <a:avLst>
              <a:gd name="adj" fmla="val 2642"/>
            </a:avLst>
          </a:prstGeom>
          <a:solidFill>
            <a:schemeClr val="bg1"/>
          </a:solidFill>
          <a:ln w="9525">
            <a:solidFill>
              <a:srgbClr val="E5E7EB"/>
            </a:solidFill>
            <a:prstDash val="solid"/>
          </a:ln>
          <a:effectLst>
            <a:outerShdw sx="100000" sy="100000" kx="0" ky="0" algn="bl" rotWithShape="0" blurRad="101600" dist="25400" dir="5400000">
              <a:srgbClr val="000000">
                <a:alpha val="12000"/>
              </a:srgbClr>
            </a:outerShdw>
          </a:effectLst>
        </p:spPr>
      </p:sp>
      <p:pic>
        <p:nvPicPr>
          <p:cNvPr id="11" name="img-09-demo5-nhieu-dieu-kien.png" descr="09-demo5-nhieu-dieu-kien.png">    </p:cNvPr>
          <p:cNvPicPr>
            <a:picLocks noChangeAspect="1"/>
          </p:cNvPicPr>
          <p:nvPr/>
        </p:nvPicPr>
        <p:blipFill>
          <a:blip r:embed="rId2"/>
          <a:stretch>
            <a:fillRect/>
          </a:stretch>
        </p:blipFill>
        <p:spPr>
          <a:xfrm>
            <a:off x="6400800" y="411480"/>
            <a:ext cx="2003755" cy="4343400"/>
          </a:xfrm>
          <a:prstGeom prst="rect">
            <a:avLst/>
          </a:prstGeom>
        </p:spPr>
      </p:pic>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spTree>
      <p:nvGrpSpPr>
        <p:cNvPr id="1" name=""/>
        <p:cNvGrpSpPr/>
        <p:nvPr/>
      </p:nvGrpSpPr>
      <p:grpSpPr>
        <a:xfrm>
          <a:off x="0" y="0"/>
          <a:ext cx="0" cy="0"/>
          <a:chOff x="0" y="0"/>
          <a:chExt cx="0" cy="0"/>
        </a:xfrm>
      </p:grpSpPr>
      <p:sp>
        <p:nvSpPr>
          <p:cNvPr id="2" name="Text 0"/>
          <p:cNvSpPr/>
          <p:nvPr>
            <p:ph idx="100" type="title" hasCustomPrompt="1"/>
          </p:nvPr>
        </p:nvSpPr>
        <p:spPr>
          <a:xfrm>
            <a:off x="457200" y="256032"/>
            <a:ext cx="8229600" cy="566928"/>
          </a:xfrm>
          <a:prstGeom prst="rect">
            <a:avLst/>
          </a:prstGeom>
          <a:noFill/>
          <a:ln/>
        </p:spPr>
        <p:txBody>
          <a:bodyPr wrap="square" lIns="0" tIns="0" rIns="0" bIns="0" rtlCol="0" anchor="ctr"/>
          <a:lstStyle/>
          <a:p>
            <a:pPr algn="l" indent="0" marL="0">
              <a:buNone/>
            </a:pPr>
            <a:r>
              <a:rPr lang="en-US" sz="2600" b="1" dirty="0">
                <a:solidFill>
                  <a:schemeClr val="tx1"/>
                </a:solidFill>
              </a:rPr>
              <a:t>Nội dung trình bày</a:t>
            </a:r>
            <a:endParaRPr lang="en-US" sz="2600" dirty="0"/>
          </a:p>
        </p:txBody>
      </p:sp>
      <p:sp>
        <p:nvSpPr>
          <p:cNvPr id="3" name="card"/>
          <p:cNvSpPr/>
          <p:nvPr/>
        </p:nvSpPr>
        <p:spPr>
          <a:xfrm>
            <a:off x="457200" y="1024128"/>
            <a:ext cx="5120640" cy="585216"/>
          </a:xfrm>
          <a:prstGeom prst="roundRect">
            <a:avLst>
              <a:gd name="adj" fmla="val 12500"/>
            </a:avLst>
          </a:prstGeom>
          <a:solidFill>
            <a:schemeClr val="bg2"/>
          </a:solidFill>
          <a:ln w="9525">
            <a:solidFill>
              <a:schemeClr val="bg2"/>
            </a:solidFill>
            <a:prstDash val="solid"/>
          </a:ln>
        </p:spPr>
      </p:sp>
      <p:sp>
        <p:nvSpPr>
          <p:cNvPr id="4" name="Text 2"/>
          <p:cNvSpPr txBox="1"/>
          <p:nvPr/>
        </p:nvSpPr>
        <p:spPr>
          <a:xfrm>
            <a:off x="621792" y="1024128"/>
            <a:ext cx="640080" cy="585216"/>
          </a:xfrm>
          <a:prstGeom prst="rect">
            <a:avLst/>
          </a:prstGeom>
          <a:noFill/>
          <a:ln/>
        </p:spPr>
        <p:txBody>
          <a:bodyPr wrap="square" lIns="0" tIns="0" rIns="0" bIns="0" rtlCol="0" anchor="ctr"/>
          <a:lstStyle/>
          <a:p>
            <a:pPr indent="0" marL="0">
              <a:buNone/>
            </a:pPr>
            <a:r>
              <a:rPr lang="en-US" sz="2200" b="1" dirty="0">
                <a:solidFill>
                  <a:schemeClr val="accent1"/>
                </a:solidFill>
              </a:rPr>
              <a:t>01</a:t>
            </a:r>
            <a:endParaRPr lang="en-US" sz="2200" dirty="0"/>
          </a:p>
        </p:txBody>
      </p:sp>
      <p:sp>
        <p:nvSpPr>
          <p:cNvPr id="5" name="Text 3"/>
          <p:cNvSpPr txBox="1"/>
          <p:nvPr/>
        </p:nvSpPr>
        <p:spPr>
          <a:xfrm>
            <a:off x="1325880" y="1024128"/>
            <a:ext cx="4114800" cy="585216"/>
          </a:xfrm>
          <a:prstGeom prst="rect">
            <a:avLst/>
          </a:prstGeom>
          <a:noFill/>
          <a:ln/>
        </p:spPr>
        <p:txBody>
          <a:bodyPr wrap="square" lIns="0" tIns="0" rIns="0" bIns="0" rtlCol="0" anchor="ctr"/>
          <a:lstStyle/>
          <a:p>
            <a:pPr indent="0" marL="0">
              <a:buNone/>
            </a:pPr>
            <a:r>
              <a:rPr lang="en-US" sz="1500" b="1" dirty="0">
                <a:solidFill>
                  <a:schemeClr val="tx1"/>
                </a:solidFill>
              </a:rPr>
              <a:t>Mở đầu</a:t>
            </a:r>
            <a:endParaRPr lang="en-US" sz="1500" dirty="0"/>
          </a:p>
          <a:p>
            <a:pPr indent="0" marL="0">
              <a:buNone/>
            </a:pPr>
            <a:r>
              <a:rPr lang="en-US" sz="1100" dirty="0">
                <a:solidFill>
                  <a:schemeClr val="tx2"/>
                </a:solidFill>
              </a:rPr>
              <a:t>Bài toán đặt ra, mục tiêu đề tài</a:t>
            </a:r>
            <a:endParaRPr lang="en-US" sz="1500" dirty="0"/>
          </a:p>
        </p:txBody>
      </p:sp>
      <p:sp>
        <p:nvSpPr>
          <p:cNvPr id="6" name="card"/>
          <p:cNvSpPr/>
          <p:nvPr/>
        </p:nvSpPr>
        <p:spPr>
          <a:xfrm>
            <a:off x="457200" y="1737360"/>
            <a:ext cx="5120640" cy="585216"/>
          </a:xfrm>
          <a:prstGeom prst="roundRect">
            <a:avLst>
              <a:gd name="adj" fmla="val 12500"/>
            </a:avLst>
          </a:prstGeom>
          <a:solidFill>
            <a:schemeClr val="bg2"/>
          </a:solidFill>
          <a:ln w="9525">
            <a:solidFill>
              <a:schemeClr val="bg2"/>
            </a:solidFill>
            <a:prstDash val="solid"/>
          </a:ln>
        </p:spPr>
      </p:sp>
      <p:sp>
        <p:nvSpPr>
          <p:cNvPr id="7" name="Text 5"/>
          <p:cNvSpPr txBox="1"/>
          <p:nvPr/>
        </p:nvSpPr>
        <p:spPr>
          <a:xfrm>
            <a:off x="621792" y="1737360"/>
            <a:ext cx="640080" cy="585216"/>
          </a:xfrm>
          <a:prstGeom prst="rect">
            <a:avLst/>
          </a:prstGeom>
          <a:noFill/>
          <a:ln/>
        </p:spPr>
        <p:txBody>
          <a:bodyPr wrap="square" lIns="0" tIns="0" rIns="0" bIns="0" rtlCol="0" anchor="ctr"/>
          <a:lstStyle/>
          <a:p>
            <a:pPr indent="0" marL="0">
              <a:buNone/>
            </a:pPr>
            <a:r>
              <a:rPr lang="en-US" sz="2200" b="1" dirty="0">
                <a:solidFill>
                  <a:schemeClr val="accent1"/>
                </a:solidFill>
              </a:rPr>
              <a:t>02</a:t>
            </a:r>
            <a:endParaRPr lang="en-US" sz="2200" dirty="0"/>
          </a:p>
        </p:txBody>
      </p:sp>
      <p:sp>
        <p:nvSpPr>
          <p:cNvPr id="8" name="Text 6"/>
          <p:cNvSpPr txBox="1"/>
          <p:nvPr/>
        </p:nvSpPr>
        <p:spPr>
          <a:xfrm>
            <a:off x="1325880" y="1737360"/>
            <a:ext cx="4114800" cy="585216"/>
          </a:xfrm>
          <a:prstGeom prst="rect">
            <a:avLst/>
          </a:prstGeom>
          <a:noFill/>
          <a:ln/>
        </p:spPr>
        <p:txBody>
          <a:bodyPr wrap="square" lIns="0" tIns="0" rIns="0" bIns="0" rtlCol="0" anchor="ctr"/>
          <a:lstStyle/>
          <a:p>
            <a:pPr indent="0" marL="0">
              <a:buNone/>
            </a:pPr>
            <a:r>
              <a:rPr lang="en-US" sz="1500" b="1" dirty="0">
                <a:solidFill>
                  <a:schemeClr val="tx1"/>
                </a:solidFill>
              </a:rPr>
              <a:t>Đặc tả yêu cầu</a:t>
            </a:r>
            <a:endParaRPr lang="en-US" sz="1500" dirty="0"/>
          </a:p>
          <a:p>
            <a:pPr indent="0" marL="0">
              <a:buNone/>
            </a:pPr>
            <a:r>
              <a:rPr lang="en-US" sz="1100" dirty="0">
                <a:solidFill>
                  <a:schemeClr val="tx2"/>
                </a:solidFill>
              </a:rPr>
              <a:t>Chức năng, tác nhân, 5 tình huống demo</a:t>
            </a:r>
            <a:endParaRPr lang="en-US" sz="1500" dirty="0"/>
          </a:p>
        </p:txBody>
      </p:sp>
      <p:sp>
        <p:nvSpPr>
          <p:cNvPr id="9" name="card"/>
          <p:cNvSpPr/>
          <p:nvPr/>
        </p:nvSpPr>
        <p:spPr>
          <a:xfrm>
            <a:off x="457200" y="2450592"/>
            <a:ext cx="5120640" cy="585216"/>
          </a:xfrm>
          <a:prstGeom prst="roundRect">
            <a:avLst>
              <a:gd name="adj" fmla="val 12500"/>
            </a:avLst>
          </a:prstGeom>
          <a:solidFill>
            <a:schemeClr val="bg2"/>
          </a:solidFill>
          <a:ln w="9525">
            <a:solidFill>
              <a:schemeClr val="bg2"/>
            </a:solidFill>
            <a:prstDash val="solid"/>
          </a:ln>
        </p:spPr>
      </p:sp>
      <p:sp>
        <p:nvSpPr>
          <p:cNvPr id="10" name="Text 8"/>
          <p:cNvSpPr txBox="1"/>
          <p:nvPr/>
        </p:nvSpPr>
        <p:spPr>
          <a:xfrm>
            <a:off x="621792" y="2450592"/>
            <a:ext cx="640080" cy="585216"/>
          </a:xfrm>
          <a:prstGeom prst="rect">
            <a:avLst/>
          </a:prstGeom>
          <a:noFill/>
          <a:ln/>
        </p:spPr>
        <p:txBody>
          <a:bodyPr wrap="square" lIns="0" tIns="0" rIns="0" bIns="0" rtlCol="0" anchor="ctr"/>
          <a:lstStyle/>
          <a:p>
            <a:pPr indent="0" marL="0">
              <a:buNone/>
            </a:pPr>
            <a:r>
              <a:rPr lang="en-US" sz="2200" b="1" dirty="0">
                <a:solidFill>
                  <a:schemeClr val="accent1"/>
                </a:solidFill>
              </a:rPr>
              <a:t>03</a:t>
            </a:r>
            <a:endParaRPr lang="en-US" sz="2200" dirty="0"/>
          </a:p>
        </p:txBody>
      </p:sp>
      <p:sp>
        <p:nvSpPr>
          <p:cNvPr id="11" name="Text 9"/>
          <p:cNvSpPr txBox="1"/>
          <p:nvPr/>
        </p:nvSpPr>
        <p:spPr>
          <a:xfrm>
            <a:off x="1325880" y="2450592"/>
            <a:ext cx="4114800" cy="585216"/>
          </a:xfrm>
          <a:prstGeom prst="rect">
            <a:avLst/>
          </a:prstGeom>
          <a:noFill/>
          <a:ln/>
        </p:spPr>
        <p:txBody>
          <a:bodyPr wrap="square" lIns="0" tIns="0" rIns="0" bIns="0" rtlCol="0" anchor="ctr"/>
          <a:lstStyle/>
          <a:p>
            <a:pPr indent="0" marL="0">
              <a:buNone/>
            </a:pPr>
            <a:r>
              <a:rPr lang="en-US" sz="1500" b="1" dirty="0">
                <a:solidFill>
                  <a:schemeClr val="tx1"/>
                </a:solidFill>
              </a:rPr>
              <a:t>Phân tích thiết kế</a:t>
            </a:r>
            <a:endParaRPr lang="en-US" sz="1500" dirty="0"/>
          </a:p>
          <a:p>
            <a:pPr indent="0" marL="0">
              <a:buNone/>
            </a:pPr>
            <a:r>
              <a:rPr lang="en-US" sz="1100" dirty="0">
                <a:solidFill>
                  <a:schemeClr val="tx2"/>
                </a:solidFill>
              </a:rPr>
              <a:t>Kiến trúc, luồng xử lý, thuật toán gợi ý</a:t>
            </a:r>
            <a:endParaRPr lang="en-US" sz="1500" dirty="0"/>
          </a:p>
        </p:txBody>
      </p:sp>
      <p:sp>
        <p:nvSpPr>
          <p:cNvPr id="12" name="card"/>
          <p:cNvSpPr/>
          <p:nvPr/>
        </p:nvSpPr>
        <p:spPr>
          <a:xfrm>
            <a:off x="457200" y="3163824"/>
            <a:ext cx="5120640" cy="585216"/>
          </a:xfrm>
          <a:prstGeom prst="roundRect">
            <a:avLst>
              <a:gd name="adj" fmla="val 12500"/>
            </a:avLst>
          </a:prstGeom>
          <a:solidFill>
            <a:schemeClr val="bg2"/>
          </a:solidFill>
          <a:ln w="9525">
            <a:solidFill>
              <a:schemeClr val="bg2"/>
            </a:solidFill>
            <a:prstDash val="solid"/>
          </a:ln>
        </p:spPr>
      </p:sp>
      <p:sp>
        <p:nvSpPr>
          <p:cNvPr id="13" name="Text 11"/>
          <p:cNvSpPr txBox="1"/>
          <p:nvPr/>
        </p:nvSpPr>
        <p:spPr>
          <a:xfrm>
            <a:off x="621792" y="3163824"/>
            <a:ext cx="640080" cy="585216"/>
          </a:xfrm>
          <a:prstGeom prst="rect">
            <a:avLst/>
          </a:prstGeom>
          <a:noFill/>
          <a:ln/>
        </p:spPr>
        <p:txBody>
          <a:bodyPr wrap="square" lIns="0" tIns="0" rIns="0" bIns="0" rtlCol="0" anchor="ctr"/>
          <a:lstStyle/>
          <a:p>
            <a:pPr indent="0" marL="0">
              <a:buNone/>
            </a:pPr>
            <a:r>
              <a:rPr lang="en-US" sz="2200" b="1" dirty="0">
                <a:solidFill>
                  <a:schemeClr val="accent1"/>
                </a:solidFill>
              </a:rPr>
              <a:t>04</a:t>
            </a:r>
            <a:endParaRPr lang="en-US" sz="2200" dirty="0"/>
          </a:p>
        </p:txBody>
      </p:sp>
      <p:sp>
        <p:nvSpPr>
          <p:cNvPr id="14" name="Text 12"/>
          <p:cNvSpPr txBox="1"/>
          <p:nvPr/>
        </p:nvSpPr>
        <p:spPr>
          <a:xfrm>
            <a:off x="1325880" y="3163824"/>
            <a:ext cx="4114800" cy="585216"/>
          </a:xfrm>
          <a:prstGeom prst="rect">
            <a:avLst/>
          </a:prstGeom>
          <a:noFill/>
          <a:ln/>
        </p:spPr>
        <p:txBody>
          <a:bodyPr wrap="square" lIns="0" tIns="0" rIns="0" bIns="0" rtlCol="0" anchor="ctr"/>
          <a:lstStyle/>
          <a:p>
            <a:pPr indent="0" marL="0">
              <a:buNone/>
            </a:pPr>
            <a:r>
              <a:rPr lang="en-US" sz="1500" b="1" dirty="0">
                <a:solidFill>
                  <a:schemeClr val="tx1"/>
                </a:solidFill>
              </a:rPr>
              <a:t>Xây dựng chương trình</a:t>
            </a:r>
            <a:endParaRPr lang="en-US" sz="1500" dirty="0"/>
          </a:p>
          <a:p>
            <a:pPr indent="0" marL="0">
              <a:buNone/>
            </a:pPr>
            <a:r>
              <a:rPr lang="en-US" sz="1100" dirty="0">
                <a:solidFill>
                  <a:schemeClr val="tx2"/>
                </a:solidFill>
              </a:rPr>
              <a:t>Công nghệ, giao diện, kiểm thử</a:t>
            </a:r>
            <a:endParaRPr lang="en-US" sz="1500" dirty="0"/>
          </a:p>
        </p:txBody>
      </p:sp>
      <p:sp>
        <p:nvSpPr>
          <p:cNvPr id="15" name="card"/>
          <p:cNvSpPr/>
          <p:nvPr/>
        </p:nvSpPr>
        <p:spPr>
          <a:xfrm>
            <a:off x="457200" y="3877056"/>
            <a:ext cx="5120640" cy="585216"/>
          </a:xfrm>
          <a:prstGeom prst="roundRect">
            <a:avLst>
              <a:gd name="adj" fmla="val 12500"/>
            </a:avLst>
          </a:prstGeom>
          <a:solidFill>
            <a:schemeClr val="bg2"/>
          </a:solidFill>
          <a:ln w="9525">
            <a:solidFill>
              <a:schemeClr val="bg2"/>
            </a:solidFill>
            <a:prstDash val="solid"/>
          </a:ln>
        </p:spPr>
      </p:sp>
      <p:sp>
        <p:nvSpPr>
          <p:cNvPr id="16" name="Text 14"/>
          <p:cNvSpPr txBox="1"/>
          <p:nvPr/>
        </p:nvSpPr>
        <p:spPr>
          <a:xfrm>
            <a:off x="621792" y="3877056"/>
            <a:ext cx="640080" cy="585216"/>
          </a:xfrm>
          <a:prstGeom prst="rect">
            <a:avLst/>
          </a:prstGeom>
          <a:noFill/>
          <a:ln/>
        </p:spPr>
        <p:txBody>
          <a:bodyPr wrap="square" lIns="0" tIns="0" rIns="0" bIns="0" rtlCol="0" anchor="ctr"/>
          <a:lstStyle/>
          <a:p>
            <a:pPr indent="0" marL="0">
              <a:buNone/>
            </a:pPr>
            <a:r>
              <a:rPr lang="en-US" sz="2200" b="1" dirty="0">
                <a:solidFill>
                  <a:schemeClr val="accent1"/>
                </a:solidFill>
              </a:rPr>
              <a:t>05</a:t>
            </a:r>
            <a:endParaRPr lang="en-US" sz="2200" dirty="0"/>
          </a:p>
        </p:txBody>
      </p:sp>
      <p:sp>
        <p:nvSpPr>
          <p:cNvPr id="17" name="Text 15"/>
          <p:cNvSpPr txBox="1"/>
          <p:nvPr/>
        </p:nvSpPr>
        <p:spPr>
          <a:xfrm>
            <a:off x="1325880" y="3877056"/>
            <a:ext cx="4114800" cy="585216"/>
          </a:xfrm>
          <a:prstGeom prst="rect">
            <a:avLst/>
          </a:prstGeom>
          <a:noFill/>
          <a:ln/>
        </p:spPr>
        <p:txBody>
          <a:bodyPr wrap="square" lIns="0" tIns="0" rIns="0" bIns="0" rtlCol="0" anchor="ctr"/>
          <a:lstStyle/>
          <a:p>
            <a:pPr indent="0" marL="0">
              <a:buNone/>
            </a:pPr>
            <a:r>
              <a:rPr lang="en-US" sz="1500" b="1" dirty="0">
                <a:solidFill>
                  <a:schemeClr val="tx1"/>
                </a:solidFill>
              </a:rPr>
              <a:t>Demo &amp; kết luận</a:t>
            </a:r>
            <a:endParaRPr lang="en-US" sz="1500" dirty="0"/>
          </a:p>
          <a:p>
            <a:pPr indent="0" marL="0">
              <a:buNone/>
            </a:pPr>
            <a:r>
              <a:rPr lang="en-US" sz="1100" dirty="0">
                <a:solidFill>
                  <a:schemeClr val="tx2"/>
                </a:solidFill>
              </a:rPr>
              <a:t>Kết quả 5 tình huống, hướng phát triển</a:t>
            </a:r>
            <a:endParaRPr lang="en-US" sz="1500" dirty="0"/>
          </a:p>
        </p:txBody>
      </p:sp>
      <p:sp>
        <p:nvSpPr>
          <p:cNvPr id="18" name="frame-03-bang-demo.png"/>
          <p:cNvSpPr/>
          <p:nvPr/>
        </p:nvSpPr>
        <p:spPr>
          <a:xfrm>
            <a:off x="6455664" y="987552"/>
            <a:ext cx="1655064" cy="3502152"/>
          </a:xfrm>
          <a:prstGeom prst="roundRect">
            <a:avLst>
              <a:gd name="adj" fmla="val 3315"/>
            </a:avLst>
          </a:prstGeom>
          <a:solidFill>
            <a:schemeClr val="bg1"/>
          </a:solidFill>
          <a:ln w="9525">
            <a:solidFill>
              <a:srgbClr val="E5E7EB"/>
            </a:solidFill>
            <a:prstDash val="solid"/>
          </a:ln>
          <a:effectLst>
            <a:outerShdw sx="100000" sy="100000" kx="0" ky="0" algn="bl" rotWithShape="0" blurRad="101600" dist="25400" dir="5400000">
              <a:srgbClr val="000000">
                <a:alpha val="12000"/>
              </a:srgbClr>
            </a:outerShdw>
          </a:effectLst>
        </p:spPr>
      </p:sp>
      <p:pic>
        <p:nvPicPr>
          <p:cNvPr id="19" name="img-03-bang-demo.png" descr="03-bang-demo.png">    </p:cNvPr>
          <p:cNvPicPr>
            <a:picLocks noChangeAspect="1"/>
          </p:cNvPicPr>
          <p:nvPr/>
        </p:nvPicPr>
        <p:blipFill>
          <a:blip r:embed="rId1"/>
          <a:stretch>
            <a:fillRect/>
          </a:stretch>
        </p:blipFill>
        <p:spPr>
          <a:xfrm>
            <a:off x="6492240" y="1024128"/>
            <a:ext cx="1581912" cy="3429000"/>
          </a:xfrm>
          <a:prstGeom prst="rect">
            <a:avLst/>
          </a:prstGeom>
        </p:spPr>
      </p:pic>
      <p:sp>
        <p:nvSpPr>
          <p:cNvPr id="25" name="Slide Number Placeholder 0"/>
          <p:cNvSpPr>
            <a:spLocks noGrp="1"/>
          </p:cNvSpPr>
          <p:nvPr>
            <p:ph type="sldNum" sz="quarter" idx="4294967295"/>
          </p:nvPr>
        </p:nvSpPr>
        <p:spPr>
          <a:xfrm>
            <a:off x="8229600" y="4754880"/>
            <a:ext cx="457200" cy="274320"/>
          </a:xfrm>
          <a:prstGeom prst="rect">
            <a:avLst/>
          </a:prstGeom>
          <a:extLst>
            <a:ext uri="{C572A759-6A51-4108-AA02-DFA0A04FC94B}">
              <ma14:wrappingTextBoxFlag xmlns:ma14="http://schemas.microsoft.com/office/mac/drawingml/2011/main" val="0"/>
            </a:ext>
          </a:extLst>
        </p:spPr>
        <p:txBody>
          <a:bodyPr/>
          <a:lstStyle>
            <a:lvl1pPr>
              <a:defRPr sz="900">
                <a:solidFill>
                  <a:schemeClr val="accent4"/>
                </a:solidFill>
              </a:defRPr>
            </a:lvl1pPr>
          </a:lstStyle>
          <a:p>
            <a:pPr algn="r"/>
            <a:fld id="{F7021451-1387-4CA6-816F-3879F97B5CBC}" type="slidenum">
              <a:rPr b="0" lang="en-US"/>
              <a:t>2</a:t>
            </a:fld>
            <a:endParaRPr lang="en-US"/>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spTree>
      <p:nvGrpSpPr>
        <p:cNvPr id="1" name=""/>
        <p:cNvGrpSpPr/>
        <p:nvPr/>
      </p:nvGrpSpPr>
      <p:grpSpPr>
        <a:xfrm>
          <a:off x="0" y="0"/>
          <a:ext cx="0" cy="0"/>
          <a:chOff x="0" y="0"/>
          <a:chExt cx="0" cy="0"/>
        </a:xfrm>
      </p:grpSpPr>
      <p:sp>
        <p:nvSpPr>
          <p:cNvPr id="2" name="Text 0"/>
          <p:cNvSpPr/>
          <p:nvPr>
            <p:ph idx="100" type="body" hasCustomPrompt="1"/>
          </p:nvPr>
        </p:nvSpPr>
        <p:spPr>
          <a:xfrm>
            <a:off x="640080" y="1097280"/>
            <a:ext cx="2743200" cy="1280160"/>
          </a:xfrm>
          <a:prstGeom prst="rect">
            <a:avLst/>
          </a:prstGeom>
          <a:noFill/>
          <a:ln/>
        </p:spPr>
        <p:txBody>
          <a:bodyPr wrap="square" lIns="0" tIns="0" rIns="0" bIns="0" rtlCol="0" anchor="b"/>
          <a:lstStyle/>
          <a:p>
            <a:pPr algn="l" indent="0" marL="0">
              <a:buNone/>
            </a:pPr>
            <a:r>
              <a:rPr lang="en-US" sz="9600" b="1" dirty="0">
                <a:solidFill>
                  <a:schemeClr val="accent1"/>
                </a:solidFill>
              </a:rPr>
              <a:t>01</a:t>
            </a:r>
            <a:endParaRPr lang="en-US" sz="9600" dirty="0"/>
          </a:p>
        </p:txBody>
      </p:sp>
      <p:sp>
        <p:nvSpPr>
          <p:cNvPr id="3" name="Text 0"/>
          <p:cNvSpPr/>
          <p:nvPr>
            <p:ph idx="101" type="title" hasCustomPrompt="1"/>
          </p:nvPr>
        </p:nvSpPr>
        <p:spPr>
          <a:xfrm>
            <a:off x="640080" y="2423160"/>
            <a:ext cx="7863840" cy="822960"/>
          </a:xfrm>
          <a:prstGeom prst="rect">
            <a:avLst/>
          </a:prstGeom>
          <a:noFill/>
          <a:ln/>
        </p:spPr>
        <p:txBody>
          <a:bodyPr wrap="square" lIns="0" tIns="0" rIns="0" bIns="0" rtlCol="0" anchor="t"/>
          <a:lstStyle/>
          <a:p>
            <a:pPr algn="l" indent="0" marL="0">
              <a:buNone/>
            </a:pPr>
            <a:r>
              <a:rPr lang="en-US" sz="3600" b="1" dirty="0">
                <a:solidFill>
                  <a:schemeClr val="bg1"/>
                </a:solidFill>
              </a:rPr>
              <a:t>Mở đầu</a:t>
            </a:r>
            <a:endParaRPr lang="en-US" sz="3600" dirty="0"/>
          </a:p>
        </p:txBody>
      </p:sp>
      <p:sp>
        <p:nvSpPr>
          <p:cNvPr id="4" name="Text 0"/>
          <p:cNvSpPr/>
          <p:nvPr>
            <p:ph idx="102" type="body" hasCustomPrompt="1"/>
          </p:nvPr>
        </p:nvSpPr>
        <p:spPr>
          <a:xfrm>
            <a:off x="640080" y="3246120"/>
            <a:ext cx="7863840" cy="548640"/>
          </a:xfrm>
          <a:prstGeom prst="rect">
            <a:avLst/>
          </a:prstGeom>
          <a:noFill/>
          <a:ln/>
        </p:spPr>
        <p:txBody>
          <a:bodyPr wrap="square" lIns="0" tIns="0" rIns="0" bIns="0" rtlCol="0" anchor="t"/>
          <a:lstStyle/>
          <a:p>
            <a:pPr algn="l" indent="0" marL="0">
              <a:buNone/>
            </a:pPr>
            <a:r>
              <a:rPr lang="en-US" sz="1600" dirty="0">
                <a:solidFill>
                  <a:schemeClr val="accent4"/>
                </a:solidFill>
              </a:rPr>
              <a:t>Bài toán đặt ra và mục tiêu của đề tài</a:t>
            </a:r>
            <a:endParaRPr lang="en-US" sz="1600" dirty="0"/>
          </a:p>
        </p:txBody>
      </p:sp>
      <p:sp>
        <p:nvSpPr>
          <p:cNvPr id="5" name="motif"/>
          <p:cNvSpPr/>
          <p:nvPr/>
        </p:nvSpPr>
        <p:spPr>
          <a:xfrm>
            <a:off x="6492240" y="-1097280"/>
            <a:ext cx="3840480" cy="3840480"/>
          </a:xfrm>
          <a:prstGeom prst="ellipse">
            <a:avLst/>
          </a:prstGeom>
          <a:solidFill>
            <a:schemeClr val="accent1">
              <a:alpha val="15000"/>
            </a:schemeClr>
          </a:solidFill>
          <a:ln w="12700">
            <a:solidFill>
              <a:schemeClr val="accent1">
                <a:alpha val="15000"/>
              </a:schemeClr>
            </a:solidFill>
            <a:prstDash val="solid"/>
          </a:ln>
        </p:spPr>
      </p:sp>
      <p:sp>
        <p:nvSpPr>
          <p:cNvPr id="6" name="motif-2"/>
          <p:cNvSpPr/>
          <p:nvPr/>
        </p:nvSpPr>
        <p:spPr>
          <a:xfrm>
            <a:off x="7498080" y="3566160"/>
            <a:ext cx="2194560" cy="2194560"/>
          </a:xfrm>
          <a:prstGeom prst="ellipse">
            <a:avLst/>
          </a:prstGeom>
          <a:solidFill>
            <a:schemeClr val="accent1">
              <a:alpha val="8000"/>
            </a:schemeClr>
          </a:solidFill>
          <a:ln w="12700">
            <a:solidFill>
              <a:schemeClr val="accent1">
                <a:alpha val="8000"/>
              </a:schemeClr>
            </a:solidFill>
            <a:prstDash val="solid"/>
          </a:ln>
        </p:spPr>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spTree>
      <p:nvGrpSpPr>
        <p:cNvPr id="1" name=""/>
        <p:cNvGrpSpPr/>
        <p:nvPr/>
      </p:nvGrpSpPr>
      <p:grpSpPr>
        <a:xfrm>
          <a:off x="0" y="0"/>
          <a:ext cx="0" cy="0"/>
          <a:chOff x="0" y="0"/>
          <a:chExt cx="0" cy="0"/>
        </a:xfrm>
      </p:grpSpPr>
      <p:sp>
        <p:nvSpPr>
          <p:cNvPr id="2" name="Text 0"/>
          <p:cNvSpPr/>
          <p:nvPr>
            <p:ph idx="100" type="title" hasCustomPrompt="1"/>
          </p:nvPr>
        </p:nvSpPr>
        <p:spPr>
          <a:xfrm>
            <a:off x="457200" y="256032"/>
            <a:ext cx="8229600" cy="566928"/>
          </a:xfrm>
          <a:prstGeom prst="rect">
            <a:avLst/>
          </a:prstGeom>
          <a:noFill/>
          <a:ln/>
        </p:spPr>
        <p:txBody>
          <a:bodyPr wrap="square" lIns="0" tIns="0" rIns="0" bIns="0" rtlCol="0" anchor="ctr"/>
          <a:lstStyle/>
          <a:p>
            <a:pPr algn="l" indent="0" marL="0">
              <a:buNone/>
            </a:pPr>
            <a:r>
              <a:rPr lang="en-US" sz="2600" b="1" dirty="0">
                <a:solidFill>
                  <a:schemeClr val="tx1"/>
                </a:solidFill>
              </a:rPr>
              <a:t>Bài toán đặt ra</a:t>
            </a:r>
            <a:endParaRPr lang="en-US" sz="2600" dirty="0"/>
          </a:p>
        </p:txBody>
      </p:sp>
      <p:sp>
        <p:nvSpPr>
          <p:cNvPr id="3" name="Text 1"/>
          <p:cNvSpPr txBox="1"/>
          <p:nvPr/>
        </p:nvSpPr>
        <p:spPr>
          <a:xfrm>
            <a:off x="457200" y="914400"/>
            <a:ext cx="8229600" cy="365760"/>
          </a:xfrm>
          <a:prstGeom prst="rect">
            <a:avLst/>
          </a:prstGeom>
          <a:noFill/>
          <a:ln/>
        </p:spPr>
        <p:txBody>
          <a:bodyPr wrap="square" lIns="0" tIns="0" rIns="0" bIns="0" rtlCol="0" anchor="ctr"/>
          <a:lstStyle/>
          <a:p>
            <a:pPr indent="0" marL="0">
              <a:buNone/>
            </a:pPr>
            <a:r>
              <a:rPr lang="en-US" sz="1500" dirty="0">
                <a:solidFill>
                  <a:schemeClr val="tx2"/>
                </a:solidFill>
              </a:rPr>
              <a:t>Mua quần áo thể thao online, khách hàng thiếu một "nhân viên tư vấn" như ở cửa hàng:</a:t>
            </a:r>
            <a:endParaRPr lang="en-US" sz="1500" dirty="0"/>
          </a:p>
        </p:txBody>
      </p:sp>
      <p:sp>
        <p:nvSpPr>
          <p:cNvPr id="4" name="card"/>
          <p:cNvSpPr/>
          <p:nvPr/>
        </p:nvSpPr>
        <p:spPr>
          <a:xfrm>
            <a:off x="457200" y="1417320"/>
            <a:ext cx="2606040" cy="1417320"/>
          </a:xfrm>
          <a:prstGeom prst="roundRect">
            <a:avLst>
              <a:gd name="adj" fmla="val 5161"/>
            </a:avLst>
          </a:prstGeom>
          <a:solidFill>
            <a:schemeClr val="bg2"/>
          </a:solidFill>
          <a:ln w="9525">
            <a:solidFill>
              <a:schemeClr val="bg2"/>
            </a:solidFill>
            <a:prstDash val="solid"/>
          </a:ln>
        </p:spPr>
      </p:sp>
      <p:sp>
        <p:nvSpPr>
          <p:cNvPr id="5" name="badge"/>
          <p:cNvSpPr/>
          <p:nvPr/>
        </p:nvSpPr>
        <p:spPr>
          <a:xfrm>
            <a:off x="640080" y="1572768"/>
            <a:ext cx="384048" cy="384048"/>
          </a:xfrm>
          <a:prstGeom prst="ellipse">
            <a:avLst/>
          </a:prstGeom>
          <a:solidFill>
            <a:schemeClr val="accent1"/>
          </a:solidFill>
          <a:ln w="12700">
            <a:solidFill>
              <a:schemeClr val="accent1"/>
            </a:solidFill>
            <a:prstDash val="solid"/>
          </a:ln>
        </p:spPr>
      </p:sp>
      <p:sp>
        <p:nvSpPr>
          <p:cNvPr id="6" name="Text 4"/>
          <p:cNvSpPr txBox="1"/>
          <p:nvPr/>
        </p:nvSpPr>
        <p:spPr>
          <a:xfrm>
            <a:off x="640080" y="1572768"/>
            <a:ext cx="384048" cy="384048"/>
          </a:xfrm>
          <a:prstGeom prst="rect">
            <a:avLst/>
          </a:prstGeom>
          <a:noFill/>
          <a:ln/>
        </p:spPr>
        <p:txBody>
          <a:bodyPr wrap="square" lIns="0" tIns="0" rIns="0" bIns="0" rtlCol="0" anchor="ctr"/>
          <a:lstStyle/>
          <a:p>
            <a:pPr algn="ctr" indent="0" marL="0">
              <a:buNone/>
            </a:pPr>
            <a:r>
              <a:rPr lang="en-US" sz="1300" b="1" dirty="0">
                <a:solidFill>
                  <a:schemeClr val="bg1"/>
                </a:solidFill>
              </a:rPr>
              <a:t>1</a:t>
            </a:r>
            <a:endParaRPr lang="en-US" sz="1300" dirty="0"/>
          </a:p>
        </p:txBody>
      </p:sp>
      <p:sp>
        <p:nvSpPr>
          <p:cNvPr id="7" name="Text 5"/>
          <p:cNvSpPr txBox="1"/>
          <p:nvPr/>
        </p:nvSpPr>
        <p:spPr>
          <a:xfrm>
            <a:off x="1143000" y="1572768"/>
            <a:ext cx="1828800" cy="384048"/>
          </a:xfrm>
          <a:prstGeom prst="rect">
            <a:avLst/>
          </a:prstGeom>
          <a:noFill/>
          <a:ln/>
        </p:spPr>
        <p:txBody>
          <a:bodyPr wrap="square" lIns="0" tIns="0" rIns="0" bIns="0" rtlCol="0" anchor="ctr"/>
          <a:lstStyle/>
          <a:p>
            <a:pPr indent="0" marL="0">
              <a:buNone/>
            </a:pPr>
            <a:r>
              <a:rPr lang="en-US" sz="1500" b="1" dirty="0">
                <a:solidFill>
                  <a:schemeClr val="tx1"/>
                </a:solidFill>
              </a:rPr>
              <a:t>Chọn size</a:t>
            </a:r>
            <a:endParaRPr lang="en-US" sz="1500" dirty="0"/>
          </a:p>
        </p:txBody>
      </p:sp>
      <p:sp>
        <p:nvSpPr>
          <p:cNvPr id="8" name="Text 6"/>
          <p:cNvSpPr txBox="1"/>
          <p:nvPr/>
        </p:nvSpPr>
        <p:spPr>
          <a:xfrm>
            <a:off x="640080" y="2057400"/>
            <a:ext cx="2286000" cy="685800"/>
          </a:xfrm>
          <a:prstGeom prst="rect">
            <a:avLst/>
          </a:prstGeom>
          <a:noFill/>
          <a:ln/>
        </p:spPr>
        <p:txBody>
          <a:bodyPr wrap="square" lIns="0" tIns="0" rIns="0" bIns="0" rtlCol="0" anchor="ctr"/>
          <a:lstStyle/>
          <a:p>
            <a:pPr indent="0" marL="0">
              <a:buNone/>
            </a:pPr>
            <a:r>
              <a:rPr lang="en-US" sz="1250" dirty="0">
                <a:solidFill>
                  <a:schemeClr val="tx2"/>
                </a:solidFill>
              </a:rPr>
              <a:t>Không biết cao 1m72, nặng 65kg nên mặc size nào.</a:t>
            </a:r>
            <a:endParaRPr lang="en-US" sz="1250" dirty="0"/>
          </a:p>
        </p:txBody>
      </p:sp>
      <p:sp>
        <p:nvSpPr>
          <p:cNvPr id="9" name="card"/>
          <p:cNvSpPr/>
          <p:nvPr/>
        </p:nvSpPr>
        <p:spPr>
          <a:xfrm>
            <a:off x="3246120" y="1417320"/>
            <a:ext cx="2606040" cy="1417320"/>
          </a:xfrm>
          <a:prstGeom prst="roundRect">
            <a:avLst>
              <a:gd name="adj" fmla="val 5161"/>
            </a:avLst>
          </a:prstGeom>
          <a:solidFill>
            <a:schemeClr val="bg2"/>
          </a:solidFill>
          <a:ln w="9525">
            <a:solidFill>
              <a:schemeClr val="bg2"/>
            </a:solidFill>
            <a:prstDash val="solid"/>
          </a:ln>
        </p:spPr>
      </p:sp>
      <p:sp>
        <p:nvSpPr>
          <p:cNvPr id="10" name="badge"/>
          <p:cNvSpPr/>
          <p:nvPr/>
        </p:nvSpPr>
        <p:spPr>
          <a:xfrm>
            <a:off x="3429000" y="1572768"/>
            <a:ext cx="384048" cy="384048"/>
          </a:xfrm>
          <a:prstGeom prst="ellipse">
            <a:avLst/>
          </a:prstGeom>
          <a:solidFill>
            <a:schemeClr val="accent1"/>
          </a:solidFill>
          <a:ln w="12700">
            <a:solidFill>
              <a:schemeClr val="accent1"/>
            </a:solidFill>
            <a:prstDash val="solid"/>
          </a:ln>
        </p:spPr>
      </p:sp>
      <p:sp>
        <p:nvSpPr>
          <p:cNvPr id="11" name="Text 9"/>
          <p:cNvSpPr txBox="1"/>
          <p:nvPr/>
        </p:nvSpPr>
        <p:spPr>
          <a:xfrm>
            <a:off x="3429000" y="1572768"/>
            <a:ext cx="384048" cy="384048"/>
          </a:xfrm>
          <a:prstGeom prst="rect">
            <a:avLst/>
          </a:prstGeom>
          <a:noFill/>
          <a:ln/>
        </p:spPr>
        <p:txBody>
          <a:bodyPr wrap="square" lIns="0" tIns="0" rIns="0" bIns="0" rtlCol="0" anchor="ctr"/>
          <a:lstStyle/>
          <a:p>
            <a:pPr algn="ctr" indent="0" marL="0">
              <a:buNone/>
            </a:pPr>
            <a:r>
              <a:rPr lang="en-US" sz="1300" b="1" dirty="0">
                <a:solidFill>
                  <a:schemeClr val="bg1"/>
                </a:solidFill>
              </a:rPr>
              <a:t>2</a:t>
            </a:r>
            <a:endParaRPr lang="en-US" sz="1300" dirty="0"/>
          </a:p>
        </p:txBody>
      </p:sp>
      <p:sp>
        <p:nvSpPr>
          <p:cNvPr id="12" name="Text 10"/>
          <p:cNvSpPr txBox="1"/>
          <p:nvPr/>
        </p:nvSpPr>
        <p:spPr>
          <a:xfrm>
            <a:off x="3931920" y="1572768"/>
            <a:ext cx="1828800" cy="384048"/>
          </a:xfrm>
          <a:prstGeom prst="rect">
            <a:avLst/>
          </a:prstGeom>
          <a:noFill/>
          <a:ln/>
        </p:spPr>
        <p:txBody>
          <a:bodyPr wrap="square" lIns="0" tIns="0" rIns="0" bIns="0" rtlCol="0" anchor="ctr"/>
          <a:lstStyle/>
          <a:p>
            <a:pPr indent="0" marL="0">
              <a:buNone/>
            </a:pPr>
            <a:r>
              <a:rPr lang="en-US" sz="1500" b="1" dirty="0">
                <a:solidFill>
                  <a:schemeClr val="tx1"/>
                </a:solidFill>
              </a:rPr>
              <a:t>Tìm đúng sản phẩm</a:t>
            </a:r>
            <a:endParaRPr lang="en-US" sz="1500" dirty="0"/>
          </a:p>
        </p:txBody>
      </p:sp>
      <p:sp>
        <p:nvSpPr>
          <p:cNvPr id="13" name="Text 11"/>
          <p:cNvSpPr txBox="1"/>
          <p:nvPr/>
        </p:nvSpPr>
        <p:spPr>
          <a:xfrm>
            <a:off x="3429000" y="2057400"/>
            <a:ext cx="2286000" cy="685800"/>
          </a:xfrm>
          <a:prstGeom prst="rect">
            <a:avLst/>
          </a:prstGeom>
          <a:noFill/>
          <a:ln/>
        </p:spPr>
        <p:txBody>
          <a:bodyPr wrap="square" lIns="0" tIns="0" rIns="0" bIns="0" rtlCol="0" anchor="ctr"/>
          <a:lstStyle/>
          <a:p>
            <a:pPr indent="0" marL="0">
              <a:buNone/>
            </a:pPr>
            <a:r>
              <a:rPr lang="en-US" sz="1250" dirty="0">
                <a:solidFill>
                  <a:schemeClr val="tx2"/>
                </a:solidFill>
              </a:rPr>
              <a:t>Phải thao tác nhiều bộ lọc: môn, giới tính, màu, giá...</a:t>
            </a:r>
            <a:endParaRPr lang="en-US" sz="1250" dirty="0"/>
          </a:p>
        </p:txBody>
      </p:sp>
      <p:sp>
        <p:nvSpPr>
          <p:cNvPr id="14" name="card"/>
          <p:cNvSpPr/>
          <p:nvPr/>
        </p:nvSpPr>
        <p:spPr>
          <a:xfrm>
            <a:off x="6035040" y="1417320"/>
            <a:ext cx="2606040" cy="1417320"/>
          </a:xfrm>
          <a:prstGeom prst="roundRect">
            <a:avLst>
              <a:gd name="adj" fmla="val 5161"/>
            </a:avLst>
          </a:prstGeom>
          <a:solidFill>
            <a:schemeClr val="bg2"/>
          </a:solidFill>
          <a:ln w="9525">
            <a:solidFill>
              <a:schemeClr val="bg2"/>
            </a:solidFill>
            <a:prstDash val="solid"/>
          </a:ln>
        </p:spPr>
      </p:sp>
      <p:sp>
        <p:nvSpPr>
          <p:cNvPr id="15" name="badge"/>
          <p:cNvSpPr/>
          <p:nvPr/>
        </p:nvSpPr>
        <p:spPr>
          <a:xfrm>
            <a:off x="6217920" y="1572768"/>
            <a:ext cx="384048" cy="384048"/>
          </a:xfrm>
          <a:prstGeom prst="ellipse">
            <a:avLst/>
          </a:prstGeom>
          <a:solidFill>
            <a:schemeClr val="accent1"/>
          </a:solidFill>
          <a:ln w="12700">
            <a:solidFill>
              <a:schemeClr val="accent1"/>
            </a:solidFill>
            <a:prstDash val="solid"/>
          </a:ln>
        </p:spPr>
      </p:sp>
      <p:sp>
        <p:nvSpPr>
          <p:cNvPr id="16" name="Text 14"/>
          <p:cNvSpPr txBox="1"/>
          <p:nvPr/>
        </p:nvSpPr>
        <p:spPr>
          <a:xfrm>
            <a:off x="6217920" y="1572768"/>
            <a:ext cx="384048" cy="384048"/>
          </a:xfrm>
          <a:prstGeom prst="rect">
            <a:avLst/>
          </a:prstGeom>
          <a:noFill/>
          <a:ln/>
        </p:spPr>
        <p:txBody>
          <a:bodyPr wrap="square" lIns="0" tIns="0" rIns="0" bIns="0" rtlCol="0" anchor="ctr"/>
          <a:lstStyle/>
          <a:p>
            <a:pPr algn="ctr" indent="0" marL="0">
              <a:buNone/>
            </a:pPr>
            <a:r>
              <a:rPr lang="en-US" sz="1300" b="1" dirty="0">
                <a:solidFill>
                  <a:schemeClr val="bg1"/>
                </a:solidFill>
              </a:rPr>
              <a:t>3</a:t>
            </a:r>
            <a:endParaRPr lang="en-US" sz="1300" dirty="0"/>
          </a:p>
        </p:txBody>
      </p:sp>
      <p:sp>
        <p:nvSpPr>
          <p:cNvPr id="17" name="Text 15"/>
          <p:cNvSpPr txBox="1"/>
          <p:nvPr/>
        </p:nvSpPr>
        <p:spPr>
          <a:xfrm>
            <a:off x="6720840" y="1572768"/>
            <a:ext cx="1828800" cy="384048"/>
          </a:xfrm>
          <a:prstGeom prst="rect">
            <a:avLst/>
          </a:prstGeom>
          <a:noFill/>
          <a:ln/>
        </p:spPr>
        <p:txBody>
          <a:bodyPr wrap="square" lIns="0" tIns="0" rIns="0" bIns="0" rtlCol="0" anchor="ctr"/>
          <a:lstStyle/>
          <a:p>
            <a:pPr indent="0" marL="0">
              <a:buNone/>
            </a:pPr>
            <a:r>
              <a:rPr lang="en-US" sz="1500" b="1" dirty="0">
                <a:solidFill>
                  <a:schemeClr val="tx1"/>
                </a:solidFill>
              </a:rPr>
              <a:t>Phối đồ theo ngân sách</a:t>
            </a:r>
            <a:endParaRPr lang="en-US" sz="1500" dirty="0"/>
          </a:p>
        </p:txBody>
      </p:sp>
      <p:sp>
        <p:nvSpPr>
          <p:cNvPr id="18" name="Text 16"/>
          <p:cNvSpPr txBox="1"/>
          <p:nvPr/>
        </p:nvSpPr>
        <p:spPr>
          <a:xfrm>
            <a:off x="6217920" y="2057400"/>
            <a:ext cx="2286000" cy="685800"/>
          </a:xfrm>
          <a:prstGeom prst="rect">
            <a:avLst/>
          </a:prstGeom>
          <a:noFill/>
          <a:ln/>
        </p:spPr>
        <p:txBody>
          <a:bodyPr wrap="square" lIns="0" tIns="0" rIns="0" bIns="0" rtlCol="0" anchor="ctr"/>
          <a:lstStyle/>
          <a:p>
            <a:pPr indent="0" marL="0">
              <a:buNone/>
            </a:pPr>
            <a:r>
              <a:rPr lang="en-US" sz="1250" dirty="0">
                <a:solidFill>
                  <a:schemeClr val="tx2"/>
                </a:solidFill>
              </a:rPr>
              <a:t>Khó tự ghép áo + quần vừa túi tiền.</a:t>
            </a:r>
            <a:endParaRPr lang="en-US" sz="1250" dirty="0"/>
          </a:p>
        </p:txBody>
      </p:sp>
      <p:sp>
        <p:nvSpPr>
          <p:cNvPr id="19" name="card"/>
          <p:cNvSpPr/>
          <p:nvPr/>
        </p:nvSpPr>
        <p:spPr>
          <a:xfrm>
            <a:off x="457200" y="3063240"/>
            <a:ext cx="8229600" cy="1417320"/>
          </a:xfrm>
          <a:prstGeom prst="roundRect">
            <a:avLst>
              <a:gd name="adj" fmla="val 5161"/>
            </a:avLst>
          </a:prstGeom>
          <a:solidFill>
            <a:schemeClr val="accent5"/>
          </a:solidFill>
          <a:ln w="9525">
            <a:solidFill>
              <a:schemeClr val="accent5"/>
            </a:solidFill>
            <a:prstDash val="solid"/>
          </a:ln>
        </p:spPr>
      </p:sp>
      <p:sp>
        <p:nvSpPr>
          <p:cNvPr id="20" name="Text 18"/>
          <p:cNvSpPr txBox="1"/>
          <p:nvPr/>
        </p:nvSpPr>
        <p:spPr>
          <a:xfrm>
            <a:off x="731520" y="3154680"/>
            <a:ext cx="7680960" cy="1234440"/>
          </a:xfrm>
          <a:prstGeom prst="rect">
            <a:avLst/>
          </a:prstGeom>
          <a:noFill/>
          <a:ln/>
        </p:spPr>
        <p:txBody>
          <a:bodyPr wrap="square" lIns="0" tIns="0" rIns="0" bIns="0" rtlCol="0" anchor="ctr"/>
          <a:lstStyle/>
          <a:p>
            <a:pPr indent="0" marL="0">
              <a:buNone/>
            </a:pPr>
            <a:r>
              <a:rPr lang="en-US" sz="1600" b="1" dirty="0">
                <a:solidFill>
                  <a:schemeClr val="accent1"/>
                </a:solidFill>
              </a:rPr>
              <a:t>Giải pháp: </a:t>
            </a:r>
            <a:pPr indent="0" marL="0">
              <a:buNone/>
            </a:pPr>
            <a:r>
              <a:rPr lang="en-US" sz="1600" dirty="0">
                <a:solidFill>
                  <a:schemeClr val="tx1"/>
                </a:solidFill>
              </a:rPr>
              <a:t>chatbot AI hiểu câu hỏi tự nhiên bằng </a:t>
            </a:r>
            <a:pPr indent="0" marL="0">
              <a:buNone/>
            </a:pPr>
            <a:r>
              <a:rPr lang="en-US" sz="1600" b="1" dirty="0">
                <a:solidFill>
                  <a:schemeClr val="tx1"/>
                </a:solidFill>
              </a:rPr>
              <a:t>Google Gemini</a:t>
            </a:r>
            <a:pPr indent="0" marL="0">
              <a:buNone/>
            </a:pPr>
            <a:r>
              <a:rPr lang="en-US" sz="1600" dirty="0">
                <a:solidFill>
                  <a:schemeClr val="tx1"/>
                </a:solidFill>
              </a:rPr>
              <a:t>, nhưng mọi sản phẩm, giá, size đều lấy từ </a:t>
            </a:r>
            <a:pPr indent="0" marL="0">
              <a:buNone/>
            </a:pPr>
            <a:r>
              <a:rPr lang="en-US" sz="1600" b="1" dirty="0">
                <a:solidFill>
                  <a:schemeClr val="tx1"/>
                </a:solidFill>
              </a:rPr>
              <a:t>dữ liệu thật của website</a:t>
            </a:r>
            <a:pPr indent="0" marL="0">
              <a:buNone/>
            </a:pPr>
            <a:r>
              <a:rPr lang="en-US" sz="1600" dirty="0">
                <a:solidFill>
                  <a:schemeClr val="tx1"/>
                </a:solidFill>
              </a:rPr>
              <a:t> – thông minh như AI, chính xác như hệ thống.</a:t>
            </a:r>
            <a:endParaRPr lang="en-US" sz="1600" dirty="0"/>
          </a:p>
        </p:txBody>
      </p:sp>
      <p:sp>
        <p:nvSpPr>
          <p:cNvPr id="25" name="Slide Number Placeholder 0"/>
          <p:cNvSpPr>
            <a:spLocks noGrp="1"/>
          </p:cNvSpPr>
          <p:nvPr>
            <p:ph type="sldNum" sz="quarter" idx="4294967295"/>
          </p:nvPr>
        </p:nvSpPr>
        <p:spPr>
          <a:xfrm>
            <a:off x="8229600" y="4754880"/>
            <a:ext cx="457200" cy="274320"/>
          </a:xfrm>
          <a:prstGeom prst="rect">
            <a:avLst/>
          </a:prstGeom>
          <a:extLst>
            <a:ext uri="{C572A759-6A51-4108-AA02-DFA0A04FC94B}">
              <ma14:wrappingTextBoxFlag xmlns:ma14="http://schemas.microsoft.com/office/mac/drawingml/2011/main" val="0"/>
            </a:ext>
          </a:extLst>
        </p:spPr>
        <p:txBody>
          <a:bodyPr/>
          <a:lstStyle>
            <a:lvl1pPr>
              <a:defRPr sz="900">
                <a:solidFill>
                  <a:schemeClr val="accent4"/>
                </a:solidFill>
              </a:defRPr>
            </a:lvl1pPr>
          </a:lstStyle>
          <a:p>
            <a:pPr algn="r"/>
            <a:fld id="{F7021451-1387-4CA6-816F-3879F97B5CBC}" type="slidenum">
              <a:rPr b="0" lang="en-US"/>
              <a:t>4</a:t>
            </a:fld>
            <a:endParaRPr lang="en-US"/>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spTree>
      <p:nvGrpSpPr>
        <p:cNvPr id="1" name=""/>
        <p:cNvGrpSpPr/>
        <p:nvPr/>
      </p:nvGrpSpPr>
      <p:grpSpPr>
        <a:xfrm>
          <a:off x="0" y="0"/>
          <a:ext cx="0" cy="0"/>
          <a:chOff x="0" y="0"/>
          <a:chExt cx="0" cy="0"/>
        </a:xfrm>
      </p:grpSpPr>
      <p:sp>
        <p:nvSpPr>
          <p:cNvPr id="2" name="Text 0"/>
          <p:cNvSpPr/>
          <p:nvPr>
            <p:ph idx="100" type="title" hasCustomPrompt="1"/>
          </p:nvPr>
        </p:nvSpPr>
        <p:spPr>
          <a:xfrm>
            <a:off x="457200" y="256032"/>
            <a:ext cx="8229600" cy="566928"/>
          </a:xfrm>
          <a:prstGeom prst="rect">
            <a:avLst/>
          </a:prstGeom>
          <a:noFill/>
          <a:ln/>
        </p:spPr>
        <p:txBody>
          <a:bodyPr wrap="square" lIns="0" tIns="0" rIns="0" bIns="0" rtlCol="0" anchor="ctr"/>
          <a:lstStyle/>
          <a:p>
            <a:pPr algn="l" indent="0" marL="0">
              <a:buNone/>
            </a:pPr>
            <a:r>
              <a:rPr lang="en-US" sz="2600" b="1" dirty="0">
                <a:solidFill>
                  <a:schemeClr val="tx1"/>
                </a:solidFill>
              </a:rPr>
              <a:t>Mục tiêu của đề tài</a:t>
            </a:r>
            <a:endParaRPr lang="en-US" sz="2600" dirty="0"/>
          </a:p>
        </p:txBody>
      </p:sp>
      <p:sp>
        <p:nvSpPr>
          <p:cNvPr id="3" name="card"/>
          <p:cNvSpPr/>
          <p:nvPr/>
        </p:nvSpPr>
        <p:spPr>
          <a:xfrm>
            <a:off x="457200" y="1005840"/>
            <a:ext cx="4023360" cy="713232"/>
          </a:xfrm>
          <a:prstGeom prst="roundRect">
            <a:avLst>
              <a:gd name="adj" fmla="val 10256"/>
            </a:avLst>
          </a:prstGeom>
          <a:solidFill>
            <a:schemeClr val="bg2"/>
          </a:solidFill>
          <a:ln w="9525">
            <a:solidFill>
              <a:schemeClr val="bg2"/>
            </a:solidFill>
            <a:prstDash val="solid"/>
          </a:ln>
        </p:spPr>
      </p:sp>
      <p:sp>
        <p:nvSpPr>
          <p:cNvPr id="4" name="badge"/>
          <p:cNvSpPr/>
          <p:nvPr/>
        </p:nvSpPr>
        <p:spPr>
          <a:xfrm>
            <a:off x="621792" y="1170432"/>
            <a:ext cx="384048" cy="384048"/>
          </a:xfrm>
          <a:prstGeom prst="ellipse">
            <a:avLst/>
          </a:prstGeom>
          <a:solidFill>
            <a:schemeClr val="accent1"/>
          </a:solidFill>
          <a:ln w="12700">
            <a:solidFill>
              <a:schemeClr val="accent1"/>
            </a:solidFill>
            <a:prstDash val="solid"/>
          </a:ln>
        </p:spPr>
      </p:sp>
      <p:sp>
        <p:nvSpPr>
          <p:cNvPr id="5" name="Text 3"/>
          <p:cNvSpPr txBox="1"/>
          <p:nvPr/>
        </p:nvSpPr>
        <p:spPr>
          <a:xfrm>
            <a:off x="621792" y="1170432"/>
            <a:ext cx="384048" cy="384048"/>
          </a:xfrm>
          <a:prstGeom prst="rect">
            <a:avLst/>
          </a:prstGeom>
          <a:noFill/>
          <a:ln/>
        </p:spPr>
        <p:txBody>
          <a:bodyPr wrap="square" lIns="0" tIns="0" rIns="0" bIns="0" rtlCol="0" anchor="ctr"/>
          <a:lstStyle/>
          <a:p>
            <a:pPr algn="ctr" indent="0" marL="0">
              <a:buNone/>
            </a:pPr>
            <a:r>
              <a:rPr lang="en-US" sz="1300" b="1" dirty="0">
                <a:solidFill>
                  <a:schemeClr val="bg1"/>
                </a:solidFill>
              </a:rPr>
              <a:t>1</a:t>
            </a:r>
            <a:endParaRPr lang="en-US" sz="1300" dirty="0"/>
          </a:p>
        </p:txBody>
      </p:sp>
      <p:sp>
        <p:nvSpPr>
          <p:cNvPr id="6" name="Text 4"/>
          <p:cNvSpPr txBox="1"/>
          <p:nvPr/>
        </p:nvSpPr>
        <p:spPr>
          <a:xfrm>
            <a:off x="1143000" y="1005840"/>
            <a:ext cx="3246120" cy="713232"/>
          </a:xfrm>
          <a:prstGeom prst="rect">
            <a:avLst/>
          </a:prstGeom>
          <a:noFill/>
          <a:ln/>
        </p:spPr>
        <p:txBody>
          <a:bodyPr wrap="square" lIns="0" tIns="0" rIns="0" bIns="0" rtlCol="0" anchor="ctr"/>
          <a:lstStyle/>
          <a:p>
            <a:pPr indent="0" marL="0">
              <a:buNone/>
            </a:pPr>
            <a:r>
              <a:rPr lang="en-US" sz="1350" dirty="0">
                <a:solidFill>
                  <a:schemeClr val="tx1"/>
                </a:solidFill>
              </a:rPr>
              <a:t>Hiểu câu hỏi bằng ngôn ngữ tự nhiên</a:t>
            </a:r>
            <a:endParaRPr lang="en-US" sz="1350" dirty="0"/>
          </a:p>
        </p:txBody>
      </p:sp>
      <p:sp>
        <p:nvSpPr>
          <p:cNvPr id="7" name="card"/>
          <p:cNvSpPr/>
          <p:nvPr/>
        </p:nvSpPr>
        <p:spPr>
          <a:xfrm>
            <a:off x="457200" y="1874520"/>
            <a:ext cx="4023360" cy="713232"/>
          </a:xfrm>
          <a:prstGeom prst="roundRect">
            <a:avLst>
              <a:gd name="adj" fmla="val 10256"/>
            </a:avLst>
          </a:prstGeom>
          <a:solidFill>
            <a:schemeClr val="bg2"/>
          </a:solidFill>
          <a:ln w="9525">
            <a:solidFill>
              <a:schemeClr val="bg2"/>
            </a:solidFill>
            <a:prstDash val="solid"/>
          </a:ln>
        </p:spPr>
      </p:sp>
      <p:sp>
        <p:nvSpPr>
          <p:cNvPr id="8" name="badge"/>
          <p:cNvSpPr/>
          <p:nvPr/>
        </p:nvSpPr>
        <p:spPr>
          <a:xfrm>
            <a:off x="621792" y="2039112"/>
            <a:ext cx="384048" cy="384048"/>
          </a:xfrm>
          <a:prstGeom prst="ellipse">
            <a:avLst/>
          </a:prstGeom>
          <a:solidFill>
            <a:schemeClr val="accent1"/>
          </a:solidFill>
          <a:ln w="12700">
            <a:solidFill>
              <a:schemeClr val="accent1"/>
            </a:solidFill>
            <a:prstDash val="solid"/>
          </a:ln>
        </p:spPr>
      </p:sp>
      <p:sp>
        <p:nvSpPr>
          <p:cNvPr id="9" name="Text 7"/>
          <p:cNvSpPr txBox="1"/>
          <p:nvPr/>
        </p:nvSpPr>
        <p:spPr>
          <a:xfrm>
            <a:off x="621792" y="2039112"/>
            <a:ext cx="384048" cy="384048"/>
          </a:xfrm>
          <a:prstGeom prst="rect">
            <a:avLst/>
          </a:prstGeom>
          <a:noFill/>
          <a:ln/>
        </p:spPr>
        <p:txBody>
          <a:bodyPr wrap="square" lIns="0" tIns="0" rIns="0" bIns="0" rtlCol="0" anchor="ctr"/>
          <a:lstStyle/>
          <a:p>
            <a:pPr algn="ctr" indent="0" marL="0">
              <a:buNone/>
            </a:pPr>
            <a:r>
              <a:rPr lang="en-US" sz="1300" b="1" dirty="0">
                <a:solidFill>
                  <a:schemeClr val="bg1"/>
                </a:solidFill>
              </a:rPr>
              <a:t>2</a:t>
            </a:r>
            <a:endParaRPr lang="en-US" sz="1300" dirty="0"/>
          </a:p>
        </p:txBody>
      </p:sp>
      <p:sp>
        <p:nvSpPr>
          <p:cNvPr id="10" name="Text 8"/>
          <p:cNvSpPr txBox="1"/>
          <p:nvPr/>
        </p:nvSpPr>
        <p:spPr>
          <a:xfrm>
            <a:off x="1143000" y="1874520"/>
            <a:ext cx="3246120" cy="713232"/>
          </a:xfrm>
          <a:prstGeom prst="rect">
            <a:avLst/>
          </a:prstGeom>
          <a:noFill/>
          <a:ln/>
        </p:spPr>
        <p:txBody>
          <a:bodyPr wrap="square" lIns="0" tIns="0" rIns="0" bIns="0" rtlCol="0" anchor="ctr"/>
          <a:lstStyle/>
          <a:p>
            <a:pPr indent="0" marL="0">
              <a:buNone/>
            </a:pPr>
            <a:r>
              <a:rPr lang="en-US" sz="1350" dirty="0">
                <a:solidFill>
                  <a:schemeClr val="tx1"/>
                </a:solidFill>
              </a:rPr>
              <a:t>Trả lời về website và sản phẩm</a:t>
            </a:r>
            <a:endParaRPr lang="en-US" sz="1350" dirty="0"/>
          </a:p>
        </p:txBody>
      </p:sp>
      <p:sp>
        <p:nvSpPr>
          <p:cNvPr id="11" name="card"/>
          <p:cNvSpPr/>
          <p:nvPr/>
        </p:nvSpPr>
        <p:spPr>
          <a:xfrm>
            <a:off x="457200" y="2743200"/>
            <a:ext cx="4023360" cy="713232"/>
          </a:xfrm>
          <a:prstGeom prst="roundRect">
            <a:avLst>
              <a:gd name="adj" fmla="val 10256"/>
            </a:avLst>
          </a:prstGeom>
          <a:solidFill>
            <a:schemeClr val="bg2"/>
          </a:solidFill>
          <a:ln w="9525">
            <a:solidFill>
              <a:schemeClr val="bg2"/>
            </a:solidFill>
            <a:prstDash val="solid"/>
          </a:ln>
        </p:spPr>
      </p:sp>
      <p:sp>
        <p:nvSpPr>
          <p:cNvPr id="12" name="badge"/>
          <p:cNvSpPr/>
          <p:nvPr/>
        </p:nvSpPr>
        <p:spPr>
          <a:xfrm>
            <a:off x="621792" y="2907792"/>
            <a:ext cx="384048" cy="384048"/>
          </a:xfrm>
          <a:prstGeom prst="ellipse">
            <a:avLst/>
          </a:prstGeom>
          <a:solidFill>
            <a:schemeClr val="accent1"/>
          </a:solidFill>
          <a:ln w="12700">
            <a:solidFill>
              <a:schemeClr val="accent1"/>
            </a:solidFill>
            <a:prstDash val="solid"/>
          </a:ln>
        </p:spPr>
      </p:sp>
      <p:sp>
        <p:nvSpPr>
          <p:cNvPr id="13" name="Text 11"/>
          <p:cNvSpPr txBox="1"/>
          <p:nvPr/>
        </p:nvSpPr>
        <p:spPr>
          <a:xfrm>
            <a:off x="621792" y="2907792"/>
            <a:ext cx="384048" cy="384048"/>
          </a:xfrm>
          <a:prstGeom prst="rect">
            <a:avLst/>
          </a:prstGeom>
          <a:noFill/>
          <a:ln/>
        </p:spPr>
        <p:txBody>
          <a:bodyPr wrap="square" lIns="0" tIns="0" rIns="0" bIns="0" rtlCol="0" anchor="ctr"/>
          <a:lstStyle/>
          <a:p>
            <a:pPr algn="ctr" indent="0" marL="0">
              <a:buNone/>
            </a:pPr>
            <a:r>
              <a:rPr lang="en-US" sz="1300" b="1" dirty="0">
                <a:solidFill>
                  <a:schemeClr val="bg1"/>
                </a:solidFill>
              </a:rPr>
              <a:t>3</a:t>
            </a:r>
            <a:endParaRPr lang="en-US" sz="1300" dirty="0"/>
          </a:p>
        </p:txBody>
      </p:sp>
      <p:sp>
        <p:nvSpPr>
          <p:cNvPr id="14" name="Text 12"/>
          <p:cNvSpPr txBox="1"/>
          <p:nvPr/>
        </p:nvSpPr>
        <p:spPr>
          <a:xfrm>
            <a:off x="1143000" y="2743200"/>
            <a:ext cx="3246120" cy="713232"/>
          </a:xfrm>
          <a:prstGeom prst="rect">
            <a:avLst/>
          </a:prstGeom>
          <a:noFill/>
          <a:ln/>
        </p:spPr>
        <p:txBody>
          <a:bodyPr wrap="square" lIns="0" tIns="0" rIns="0" bIns="0" rtlCol="0" anchor="ctr"/>
          <a:lstStyle/>
          <a:p>
            <a:pPr indent="0" marL="0">
              <a:buNone/>
            </a:pPr>
            <a:r>
              <a:rPr lang="en-US" sz="1350" dirty="0">
                <a:solidFill>
                  <a:schemeClr val="tx1"/>
                </a:solidFill>
              </a:rPr>
              <a:t>Tư vấn sản phẩm theo nhu cầu</a:t>
            </a:r>
            <a:endParaRPr lang="en-US" sz="1350" dirty="0"/>
          </a:p>
        </p:txBody>
      </p:sp>
      <p:sp>
        <p:nvSpPr>
          <p:cNvPr id="15" name="card"/>
          <p:cNvSpPr/>
          <p:nvPr/>
        </p:nvSpPr>
        <p:spPr>
          <a:xfrm>
            <a:off x="457200" y="3611880"/>
            <a:ext cx="4023360" cy="713232"/>
          </a:xfrm>
          <a:prstGeom prst="roundRect">
            <a:avLst>
              <a:gd name="adj" fmla="val 10256"/>
            </a:avLst>
          </a:prstGeom>
          <a:solidFill>
            <a:schemeClr val="bg2"/>
          </a:solidFill>
          <a:ln w="9525">
            <a:solidFill>
              <a:schemeClr val="bg2"/>
            </a:solidFill>
            <a:prstDash val="solid"/>
          </a:ln>
        </p:spPr>
      </p:sp>
      <p:sp>
        <p:nvSpPr>
          <p:cNvPr id="16" name="badge"/>
          <p:cNvSpPr/>
          <p:nvPr/>
        </p:nvSpPr>
        <p:spPr>
          <a:xfrm>
            <a:off x="621792" y="3776472"/>
            <a:ext cx="384048" cy="384048"/>
          </a:xfrm>
          <a:prstGeom prst="ellipse">
            <a:avLst/>
          </a:prstGeom>
          <a:solidFill>
            <a:schemeClr val="accent1"/>
          </a:solidFill>
          <a:ln w="12700">
            <a:solidFill>
              <a:schemeClr val="accent1"/>
            </a:solidFill>
            <a:prstDash val="solid"/>
          </a:ln>
        </p:spPr>
      </p:sp>
      <p:sp>
        <p:nvSpPr>
          <p:cNvPr id="17" name="Text 15"/>
          <p:cNvSpPr txBox="1"/>
          <p:nvPr/>
        </p:nvSpPr>
        <p:spPr>
          <a:xfrm>
            <a:off x="621792" y="3776472"/>
            <a:ext cx="384048" cy="384048"/>
          </a:xfrm>
          <a:prstGeom prst="rect">
            <a:avLst/>
          </a:prstGeom>
          <a:noFill/>
          <a:ln/>
        </p:spPr>
        <p:txBody>
          <a:bodyPr wrap="square" lIns="0" tIns="0" rIns="0" bIns="0" rtlCol="0" anchor="ctr"/>
          <a:lstStyle/>
          <a:p>
            <a:pPr algn="ctr" indent="0" marL="0">
              <a:buNone/>
            </a:pPr>
            <a:r>
              <a:rPr lang="en-US" sz="1300" b="1" dirty="0">
                <a:solidFill>
                  <a:schemeClr val="bg1"/>
                </a:solidFill>
              </a:rPr>
              <a:t>4</a:t>
            </a:r>
            <a:endParaRPr lang="en-US" sz="1300" dirty="0"/>
          </a:p>
        </p:txBody>
      </p:sp>
      <p:sp>
        <p:nvSpPr>
          <p:cNvPr id="18" name="Text 16"/>
          <p:cNvSpPr txBox="1"/>
          <p:nvPr/>
        </p:nvSpPr>
        <p:spPr>
          <a:xfrm>
            <a:off x="1143000" y="3611880"/>
            <a:ext cx="3246120" cy="713232"/>
          </a:xfrm>
          <a:prstGeom prst="rect">
            <a:avLst/>
          </a:prstGeom>
          <a:noFill/>
          <a:ln/>
        </p:spPr>
        <p:txBody>
          <a:bodyPr wrap="square" lIns="0" tIns="0" rIns="0" bIns="0" rtlCol="0" anchor="ctr"/>
          <a:lstStyle/>
          <a:p>
            <a:pPr indent="0" marL="0">
              <a:buNone/>
            </a:pPr>
            <a:r>
              <a:rPr lang="en-US" sz="1350" dirty="0">
                <a:solidFill>
                  <a:schemeClr val="tx1"/>
                </a:solidFill>
              </a:rPr>
              <a:t>Gợi ý theo giới tính, môn, mục đích, size, màu, giá, kiểu dáng</a:t>
            </a:r>
            <a:endParaRPr lang="en-US" sz="1350" dirty="0"/>
          </a:p>
        </p:txBody>
      </p:sp>
      <p:sp>
        <p:nvSpPr>
          <p:cNvPr id="19" name="card"/>
          <p:cNvSpPr/>
          <p:nvPr/>
        </p:nvSpPr>
        <p:spPr>
          <a:xfrm>
            <a:off x="4663440" y="1005840"/>
            <a:ext cx="4023360" cy="713232"/>
          </a:xfrm>
          <a:prstGeom prst="roundRect">
            <a:avLst>
              <a:gd name="adj" fmla="val 10256"/>
            </a:avLst>
          </a:prstGeom>
          <a:solidFill>
            <a:schemeClr val="bg2"/>
          </a:solidFill>
          <a:ln w="9525">
            <a:solidFill>
              <a:schemeClr val="bg2"/>
            </a:solidFill>
            <a:prstDash val="solid"/>
          </a:ln>
        </p:spPr>
      </p:sp>
      <p:sp>
        <p:nvSpPr>
          <p:cNvPr id="20" name="badge"/>
          <p:cNvSpPr/>
          <p:nvPr/>
        </p:nvSpPr>
        <p:spPr>
          <a:xfrm>
            <a:off x="4828032" y="1170432"/>
            <a:ext cx="384048" cy="384048"/>
          </a:xfrm>
          <a:prstGeom prst="ellipse">
            <a:avLst/>
          </a:prstGeom>
          <a:solidFill>
            <a:schemeClr val="accent1"/>
          </a:solidFill>
          <a:ln w="12700">
            <a:solidFill>
              <a:schemeClr val="accent1"/>
            </a:solidFill>
            <a:prstDash val="solid"/>
          </a:ln>
        </p:spPr>
      </p:sp>
      <p:sp>
        <p:nvSpPr>
          <p:cNvPr id="21" name="Text 19"/>
          <p:cNvSpPr txBox="1"/>
          <p:nvPr/>
        </p:nvSpPr>
        <p:spPr>
          <a:xfrm>
            <a:off x="4828032" y="1170432"/>
            <a:ext cx="384048" cy="384048"/>
          </a:xfrm>
          <a:prstGeom prst="rect">
            <a:avLst/>
          </a:prstGeom>
          <a:noFill/>
          <a:ln/>
        </p:spPr>
        <p:txBody>
          <a:bodyPr wrap="square" lIns="0" tIns="0" rIns="0" bIns="0" rtlCol="0" anchor="ctr"/>
          <a:lstStyle/>
          <a:p>
            <a:pPr algn="ctr" indent="0" marL="0">
              <a:buNone/>
            </a:pPr>
            <a:r>
              <a:rPr lang="en-US" sz="1300" b="1" dirty="0">
                <a:solidFill>
                  <a:schemeClr val="bg1"/>
                </a:solidFill>
              </a:rPr>
              <a:t>5</a:t>
            </a:r>
            <a:endParaRPr lang="en-US" sz="1300" dirty="0"/>
          </a:p>
        </p:txBody>
      </p:sp>
      <p:sp>
        <p:nvSpPr>
          <p:cNvPr id="22" name="Text 20"/>
          <p:cNvSpPr txBox="1"/>
          <p:nvPr/>
        </p:nvSpPr>
        <p:spPr>
          <a:xfrm>
            <a:off x="5349240" y="1005840"/>
            <a:ext cx="3246120" cy="713232"/>
          </a:xfrm>
          <a:prstGeom prst="rect">
            <a:avLst/>
          </a:prstGeom>
          <a:noFill/>
          <a:ln/>
        </p:spPr>
        <p:txBody>
          <a:bodyPr wrap="square" lIns="0" tIns="0" rIns="0" bIns="0" rtlCol="0" anchor="ctr"/>
          <a:lstStyle/>
          <a:p>
            <a:pPr indent="0" marL="0">
              <a:buNone/>
            </a:pPr>
            <a:r>
              <a:rPr lang="en-US" sz="1350" dirty="0">
                <a:solidFill>
                  <a:schemeClr val="tx1"/>
                </a:solidFill>
              </a:rPr>
              <a:t>Đưa ra nhiều sản phẩm, không chỉ văn bản</a:t>
            </a:r>
            <a:endParaRPr lang="en-US" sz="1350" dirty="0"/>
          </a:p>
        </p:txBody>
      </p:sp>
      <p:sp>
        <p:nvSpPr>
          <p:cNvPr id="23" name="card"/>
          <p:cNvSpPr/>
          <p:nvPr/>
        </p:nvSpPr>
        <p:spPr>
          <a:xfrm>
            <a:off x="4663440" y="1874520"/>
            <a:ext cx="4023360" cy="713232"/>
          </a:xfrm>
          <a:prstGeom prst="roundRect">
            <a:avLst>
              <a:gd name="adj" fmla="val 10256"/>
            </a:avLst>
          </a:prstGeom>
          <a:solidFill>
            <a:schemeClr val="bg2"/>
          </a:solidFill>
          <a:ln w="9525">
            <a:solidFill>
              <a:schemeClr val="bg2"/>
            </a:solidFill>
            <a:prstDash val="solid"/>
          </a:ln>
        </p:spPr>
      </p:sp>
      <p:sp>
        <p:nvSpPr>
          <p:cNvPr id="24" name="badge"/>
          <p:cNvSpPr/>
          <p:nvPr/>
        </p:nvSpPr>
        <p:spPr>
          <a:xfrm>
            <a:off x="4828032" y="2039112"/>
            <a:ext cx="384048" cy="384048"/>
          </a:xfrm>
          <a:prstGeom prst="ellipse">
            <a:avLst/>
          </a:prstGeom>
          <a:solidFill>
            <a:schemeClr val="accent1"/>
          </a:solidFill>
          <a:ln w="12700">
            <a:solidFill>
              <a:schemeClr val="accent1"/>
            </a:solidFill>
            <a:prstDash val="solid"/>
          </a:ln>
        </p:spPr>
      </p:sp>
      <p:sp>
        <p:nvSpPr>
          <p:cNvPr id="25" name="Text 23"/>
          <p:cNvSpPr txBox="1"/>
          <p:nvPr/>
        </p:nvSpPr>
        <p:spPr>
          <a:xfrm>
            <a:off x="4828032" y="2039112"/>
            <a:ext cx="384048" cy="384048"/>
          </a:xfrm>
          <a:prstGeom prst="rect">
            <a:avLst/>
          </a:prstGeom>
          <a:noFill/>
          <a:ln/>
        </p:spPr>
        <p:txBody>
          <a:bodyPr wrap="square" lIns="0" tIns="0" rIns="0" bIns="0" rtlCol="0" anchor="ctr"/>
          <a:lstStyle/>
          <a:p>
            <a:pPr algn="ctr" indent="0" marL="0">
              <a:buNone/>
            </a:pPr>
            <a:r>
              <a:rPr lang="en-US" sz="1300" b="1" dirty="0">
                <a:solidFill>
                  <a:schemeClr val="bg1"/>
                </a:solidFill>
              </a:rPr>
              <a:t>6</a:t>
            </a:r>
            <a:endParaRPr lang="en-US" sz="1300" dirty="0"/>
          </a:p>
        </p:txBody>
      </p:sp>
      <p:sp>
        <p:nvSpPr>
          <p:cNvPr id="26" name="Text 24"/>
          <p:cNvSpPr txBox="1"/>
          <p:nvPr/>
        </p:nvSpPr>
        <p:spPr>
          <a:xfrm>
            <a:off x="5349240" y="1874520"/>
            <a:ext cx="3246120" cy="713232"/>
          </a:xfrm>
          <a:prstGeom prst="rect">
            <a:avLst/>
          </a:prstGeom>
          <a:noFill/>
          <a:ln/>
        </p:spPr>
        <p:txBody>
          <a:bodyPr wrap="square" lIns="0" tIns="0" rIns="0" bIns="0" rtlCol="0" anchor="ctr"/>
          <a:lstStyle/>
          <a:p>
            <a:pPr indent="0" marL="0">
              <a:buNone/>
            </a:pPr>
            <a:r>
              <a:rPr lang="en-US" sz="1350" dirty="0">
                <a:solidFill>
                  <a:schemeClr val="tx1"/>
                </a:solidFill>
              </a:rPr>
              <a:t>Dẫn khách đến trang sản phẩm đề xuất</a:t>
            </a:r>
            <a:endParaRPr lang="en-US" sz="1350" dirty="0"/>
          </a:p>
        </p:txBody>
      </p:sp>
      <p:sp>
        <p:nvSpPr>
          <p:cNvPr id="27" name="card"/>
          <p:cNvSpPr/>
          <p:nvPr/>
        </p:nvSpPr>
        <p:spPr>
          <a:xfrm>
            <a:off x="4663440" y="2743200"/>
            <a:ext cx="4023360" cy="713232"/>
          </a:xfrm>
          <a:prstGeom prst="roundRect">
            <a:avLst>
              <a:gd name="adj" fmla="val 10256"/>
            </a:avLst>
          </a:prstGeom>
          <a:solidFill>
            <a:schemeClr val="bg2"/>
          </a:solidFill>
          <a:ln w="9525">
            <a:solidFill>
              <a:schemeClr val="bg2"/>
            </a:solidFill>
            <a:prstDash val="solid"/>
          </a:ln>
        </p:spPr>
      </p:sp>
      <p:sp>
        <p:nvSpPr>
          <p:cNvPr id="28" name="badge"/>
          <p:cNvSpPr/>
          <p:nvPr/>
        </p:nvSpPr>
        <p:spPr>
          <a:xfrm>
            <a:off x="4828032" y="2907792"/>
            <a:ext cx="384048" cy="384048"/>
          </a:xfrm>
          <a:prstGeom prst="ellipse">
            <a:avLst/>
          </a:prstGeom>
          <a:solidFill>
            <a:schemeClr val="accent1"/>
          </a:solidFill>
          <a:ln w="12700">
            <a:solidFill>
              <a:schemeClr val="accent1"/>
            </a:solidFill>
            <a:prstDash val="solid"/>
          </a:ln>
        </p:spPr>
      </p:sp>
      <p:sp>
        <p:nvSpPr>
          <p:cNvPr id="29" name="Text 27"/>
          <p:cNvSpPr txBox="1"/>
          <p:nvPr/>
        </p:nvSpPr>
        <p:spPr>
          <a:xfrm>
            <a:off x="4828032" y="2907792"/>
            <a:ext cx="384048" cy="384048"/>
          </a:xfrm>
          <a:prstGeom prst="rect">
            <a:avLst/>
          </a:prstGeom>
          <a:noFill/>
          <a:ln/>
        </p:spPr>
        <p:txBody>
          <a:bodyPr wrap="square" lIns="0" tIns="0" rIns="0" bIns="0" rtlCol="0" anchor="ctr"/>
          <a:lstStyle/>
          <a:p>
            <a:pPr algn="ctr" indent="0" marL="0">
              <a:buNone/>
            </a:pPr>
            <a:r>
              <a:rPr lang="en-US" sz="1300" b="1" dirty="0">
                <a:solidFill>
                  <a:schemeClr val="bg1"/>
                </a:solidFill>
              </a:rPr>
              <a:t>7</a:t>
            </a:r>
            <a:endParaRPr lang="en-US" sz="1300" dirty="0"/>
          </a:p>
        </p:txBody>
      </p:sp>
      <p:sp>
        <p:nvSpPr>
          <p:cNvPr id="30" name="Text 28"/>
          <p:cNvSpPr txBox="1"/>
          <p:nvPr/>
        </p:nvSpPr>
        <p:spPr>
          <a:xfrm>
            <a:off x="5349240" y="2743200"/>
            <a:ext cx="3246120" cy="713232"/>
          </a:xfrm>
          <a:prstGeom prst="rect">
            <a:avLst/>
          </a:prstGeom>
          <a:noFill/>
          <a:ln/>
        </p:spPr>
        <p:txBody>
          <a:bodyPr wrap="square" lIns="0" tIns="0" rIns="0" bIns="0" rtlCol="0" anchor="ctr"/>
          <a:lstStyle/>
          <a:p>
            <a:pPr indent="0" marL="0">
              <a:buNone/>
            </a:pPr>
            <a:r>
              <a:rPr lang="en-US" sz="1350" dirty="0">
                <a:solidFill>
                  <a:schemeClr val="tx1"/>
                </a:solidFill>
              </a:rPr>
              <a:t>Không trả lời tùy tiện thông tin ngoài dữ liệu</a:t>
            </a:r>
            <a:endParaRPr lang="en-US" sz="1350" dirty="0"/>
          </a:p>
        </p:txBody>
      </p:sp>
      <p:sp>
        <p:nvSpPr>
          <p:cNvPr id="31" name="card"/>
          <p:cNvSpPr/>
          <p:nvPr/>
        </p:nvSpPr>
        <p:spPr>
          <a:xfrm>
            <a:off x="4663440" y="3611880"/>
            <a:ext cx="4023360" cy="713232"/>
          </a:xfrm>
          <a:prstGeom prst="roundRect">
            <a:avLst>
              <a:gd name="adj" fmla="val 10256"/>
            </a:avLst>
          </a:prstGeom>
          <a:solidFill>
            <a:schemeClr val="tx1"/>
          </a:solidFill>
          <a:ln w="9525">
            <a:solidFill>
              <a:schemeClr val="tx1"/>
            </a:solidFill>
            <a:prstDash val="solid"/>
          </a:ln>
        </p:spPr>
      </p:sp>
      <p:sp>
        <p:nvSpPr>
          <p:cNvPr id="32" name="Text 30"/>
          <p:cNvSpPr txBox="1"/>
          <p:nvPr/>
        </p:nvSpPr>
        <p:spPr>
          <a:xfrm>
            <a:off x="4846320" y="3611880"/>
            <a:ext cx="3657600" cy="713232"/>
          </a:xfrm>
          <a:prstGeom prst="rect">
            <a:avLst/>
          </a:prstGeom>
          <a:noFill/>
          <a:ln/>
        </p:spPr>
        <p:txBody>
          <a:bodyPr wrap="square" lIns="0" tIns="0" rIns="0" bIns="0" rtlCol="0" anchor="ctr"/>
          <a:lstStyle/>
          <a:p>
            <a:pPr indent="0" marL="0">
              <a:buNone/>
            </a:pPr>
            <a:r>
              <a:rPr lang="en-US" sz="2000" b="1" dirty="0">
                <a:solidFill>
                  <a:schemeClr val="accent1"/>
                </a:solidFill>
              </a:rPr>
              <a:t>7/7 </a:t>
            </a:r>
            <a:pPr indent="0" marL="0">
              <a:buNone/>
            </a:pPr>
            <a:r>
              <a:rPr lang="en-US" sz="1400" dirty="0">
                <a:solidFill>
                  <a:schemeClr val="bg1"/>
                </a:solidFill>
              </a:rPr>
              <a:t>mục tiêu đã đạt được</a:t>
            </a:r>
            <a:endParaRPr lang="en-US" sz="2000" dirty="0"/>
          </a:p>
        </p:txBody>
      </p:sp>
      <p:sp>
        <p:nvSpPr>
          <p:cNvPr id="25" name="Slide Number Placeholder 0"/>
          <p:cNvSpPr>
            <a:spLocks noGrp="1"/>
          </p:cNvSpPr>
          <p:nvPr>
            <p:ph type="sldNum" sz="quarter" idx="4294967295"/>
          </p:nvPr>
        </p:nvSpPr>
        <p:spPr>
          <a:xfrm>
            <a:off x="8229600" y="4754880"/>
            <a:ext cx="457200" cy="274320"/>
          </a:xfrm>
          <a:prstGeom prst="rect">
            <a:avLst/>
          </a:prstGeom>
          <a:extLst>
            <a:ext uri="{C572A759-6A51-4108-AA02-DFA0A04FC94B}">
              <ma14:wrappingTextBoxFlag xmlns:ma14="http://schemas.microsoft.com/office/mac/drawingml/2011/main" val="0"/>
            </a:ext>
          </a:extLst>
        </p:spPr>
        <p:txBody>
          <a:bodyPr/>
          <a:lstStyle>
            <a:lvl1pPr>
              <a:defRPr sz="900">
                <a:solidFill>
                  <a:schemeClr val="accent4"/>
                </a:solidFill>
              </a:defRPr>
            </a:lvl1pPr>
          </a:lstStyle>
          <a:p>
            <a:pPr algn="r"/>
            <a:fld id="{F7021451-1387-4CA6-816F-3879F97B5CBC}" type="slidenum">
              <a:rPr b="0" lang="en-US"/>
              <a:t>5</a:t>
            </a:fld>
            <a:endParaRPr lang="en-US"/>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spTree>
      <p:nvGrpSpPr>
        <p:cNvPr id="1" name=""/>
        <p:cNvGrpSpPr/>
        <p:nvPr/>
      </p:nvGrpSpPr>
      <p:grpSpPr>
        <a:xfrm>
          <a:off x="0" y="0"/>
          <a:ext cx="0" cy="0"/>
          <a:chOff x="0" y="0"/>
          <a:chExt cx="0" cy="0"/>
        </a:xfrm>
      </p:grpSpPr>
      <p:sp>
        <p:nvSpPr>
          <p:cNvPr id="2" name="Text 0"/>
          <p:cNvSpPr/>
          <p:nvPr>
            <p:ph idx="100" type="body" hasCustomPrompt="1"/>
          </p:nvPr>
        </p:nvSpPr>
        <p:spPr>
          <a:xfrm>
            <a:off x="640080" y="1097280"/>
            <a:ext cx="2743200" cy="1280160"/>
          </a:xfrm>
          <a:prstGeom prst="rect">
            <a:avLst/>
          </a:prstGeom>
          <a:noFill/>
          <a:ln/>
        </p:spPr>
        <p:txBody>
          <a:bodyPr wrap="square" lIns="0" tIns="0" rIns="0" bIns="0" rtlCol="0" anchor="b"/>
          <a:lstStyle/>
          <a:p>
            <a:pPr algn="l" indent="0" marL="0">
              <a:buNone/>
            </a:pPr>
            <a:r>
              <a:rPr lang="en-US" sz="9600" b="1" dirty="0">
                <a:solidFill>
                  <a:schemeClr val="accent1"/>
                </a:solidFill>
              </a:rPr>
              <a:t>02</a:t>
            </a:r>
            <a:endParaRPr lang="en-US" sz="9600" dirty="0"/>
          </a:p>
        </p:txBody>
      </p:sp>
      <p:sp>
        <p:nvSpPr>
          <p:cNvPr id="3" name="Text 0"/>
          <p:cNvSpPr/>
          <p:nvPr>
            <p:ph idx="101" type="title" hasCustomPrompt="1"/>
          </p:nvPr>
        </p:nvSpPr>
        <p:spPr>
          <a:xfrm>
            <a:off x="640080" y="2423160"/>
            <a:ext cx="7863840" cy="822960"/>
          </a:xfrm>
          <a:prstGeom prst="rect">
            <a:avLst/>
          </a:prstGeom>
          <a:noFill/>
          <a:ln/>
        </p:spPr>
        <p:txBody>
          <a:bodyPr wrap="square" lIns="0" tIns="0" rIns="0" bIns="0" rtlCol="0" anchor="t"/>
          <a:lstStyle/>
          <a:p>
            <a:pPr algn="l" indent="0" marL="0">
              <a:buNone/>
            </a:pPr>
            <a:r>
              <a:rPr lang="en-US" sz="3600" b="1" dirty="0">
                <a:solidFill>
                  <a:schemeClr val="bg1"/>
                </a:solidFill>
              </a:rPr>
              <a:t>Đặc tả yêu cầu</a:t>
            </a:r>
            <a:endParaRPr lang="en-US" sz="3600" dirty="0"/>
          </a:p>
        </p:txBody>
      </p:sp>
      <p:sp>
        <p:nvSpPr>
          <p:cNvPr id="4" name="Text 0"/>
          <p:cNvSpPr/>
          <p:nvPr>
            <p:ph idx="102" type="body" hasCustomPrompt="1"/>
          </p:nvPr>
        </p:nvSpPr>
        <p:spPr>
          <a:xfrm>
            <a:off x="640080" y="3246120"/>
            <a:ext cx="7863840" cy="548640"/>
          </a:xfrm>
          <a:prstGeom prst="rect">
            <a:avLst/>
          </a:prstGeom>
          <a:noFill/>
          <a:ln/>
        </p:spPr>
        <p:txBody>
          <a:bodyPr wrap="square" lIns="0" tIns="0" rIns="0" bIns="0" rtlCol="0" anchor="t"/>
          <a:lstStyle/>
          <a:p>
            <a:pPr algn="l" indent="0" marL="0">
              <a:buNone/>
            </a:pPr>
            <a:r>
              <a:rPr lang="en-US" sz="1600" dirty="0">
                <a:solidFill>
                  <a:schemeClr val="accent4"/>
                </a:solidFill>
              </a:rPr>
              <a:t>Chức năng, tác nhân và 5 tình huống demo bắt buộc</a:t>
            </a:r>
            <a:endParaRPr lang="en-US" sz="1600" dirty="0"/>
          </a:p>
        </p:txBody>
      </p:sp>
      <p:sp>
        <p:nvSpPr>
          <p:cNvPr id="5" name="motif"/>
          <p:cNvSpPr/>
          <p:nvPr/>
        </p:nvSpPr>
        <p:spPr>
          <a:xfrm>
            <a:off x="6492240" y="-1097280"/>
            <a:ext cx="3840480" cy="3840480"/>
          </a:xfrm>
          <a:prstGeom prst="ellipse">
            <a:avLst/>
          </a:prstGeom>
          <a:solidFill>
            <a:schemeClr val="accent1">
              <a:alpha val="15000"/>
            </a:schemeClr>
          </a:solidFill>
          <a:ln w="12700">
            <a:solidFill>
              <a:schemeClr val="accent1">
                <a:alpha val="15000"/>
              </a:schemeClr>
            </a:solidFill>
            <a:prstDash val="solid"/>
          </a:ln>
        </p:spPr>
      </p:sp>
      <p:sp>
        <p:nvSpPr>
          <p:cNvPr id="6" name="motif-2"/>
          <p:cNvSpPr/>
          <p:nvPr/>
        </p:nvSpPr>
        <p:spPr>
          <a:xfrm>
            <a:off x="7498080" y="3566160"/>
            <a:ext cx="2194560" cy="2194560"/>
          </a:xfrm>
          <a:prstGeom prst="ellipse">
            <a:avLst/>
          </a:prstGeom>
          <a:solidFill>
            <a:schemeClr val="accent1">
              <a:alpha val="8000"/>
            </a:schemeClr>
          </a:solidFill>
          <a:ln w="12700">
            <a:solidFill>
              <a:schemeClr val="accent1">
                <a:alpha val="8000"/>
              </a:schemeClr>
            </a:solidFill>
            <a:prstDash val="solid"/>
          </a:ln>
        </p:spPr>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spTree>
      <p:nvGrpSpPr>
        <p:cNvPr id="1" name=""/>
        <p:cNvGrpSpPr/>
        <p:nvPr/>
      </p:nvGrpSpPr>
      <p:grpSpPr>
        <a:xfrm>
          <a:off x="0" y="0"/>
          <a:ext cx="0" cy="0"/>
          <a:chOff x="0" y="0"/>
          <a:chExt cx="0" cy="0"/>
        </a:xfrm>
      </p:grpSpPr>
      <p:sp>
        <p:nvSpPr>
          <p:cNvPr id="2" name="Text 0"/>
          <p:cNvSpPr/>
          <p:nvPr>
            <p:ph idx="100" type="title" hasCustomPrompt="1"/>
          </p:nvPr>
        </p:nvSpPr>
        <p:spPr>
          <a:xfrm>
            <a:off x="457200" y="256032"/>
            <a:ext cx="8229600" cy="566928"/>
          </a:xfrm>
          <a:prstGeom prst="rect">
            <a:avLst/>
          </a:prstGeom>
          <a:noFill/>
          <a:ln/>
        </p:spPr>
        <p:txBody>
          <a:bodyPr wrap="square" lIns="0" tIns="0" rIns="0" bIns="0" rtlCol="0" anchor="ctr"/>
          <a:lstStyle/>
          <a:p>
            <a:pPr algn="l" indent="0" marL="0">
              <a:buNone/>
            </a:pPr>
            <a:r>
              <a:rPr lang="en-US" sz="2600" b="1" dirty="0">
                <a:solidFill>
                  <a:schemeClr val="tx1"/>
                </a:solidFill>
              </a:rPr>
              <a:t>Chức năng chính của chatbot</a:t>
            </a:r>
            <a:endParaRPr lang="en-US" sz="2600" dirty="0"/>
          </a:p>
        </p:txBody>
      </p:sp>
      <p:sp>
        <p:nvSpPr>
          <p:cNvPr id="3" name="card"/>
          <p:cNvSpPr/>
          <p:nvPr/>
        </p:nvSpPr>
        <p:spPr>
          <a:xfrm>
            <a:off x="457200" y="1005840"/>
            <a:ext cx="2606040" cy="1508760"/>
          </a:xfrm>
          <a:prstGeom prst="roundRect">
            <a:avLst>
              <a:gd name="adj" fmla="val 4848"/>
            </a:avLst>
          </a:prstGeom>
          <a:solidFill>
            <a:schemeClr val="bg2"/>
          </a:solidFill>
          <a:ln w="9525">
            <a:solidFill>
              <a:schemeClr val="bg2"/>
            </a:solidFill>
            <a:prstDash val="solid"/>
          </a:ln>
        </p:spPr>
      </p:sp>
      <p:sp>
        <p:nvSpPr>
          <p:cNvPr id="4" name="badge"/>
          <p:cNvSpPr/>
          <p:nvPr/>
        </p:nvSpPr>
        <p:spPr>
          <a:xfrm>
            <a:off x="640080" y="1188720"/>
            <a:ext cx="438912" cy="438912"/>
          </a:xfrm>
          <a:prstGeom prst="ellipse">
            <a:avLst/>
          </a:prstGeom>
          <a:solidFill>
            <a:schemeClr val="accent1"/>
          </a:solidFill>
          <a:ln w="12700">
            <a:solidFill>
              <a:schemeClr val="accent1"/>
            </a:solidFill>
            <a:prstDash val="solid"/>
          </a:ln>
        </p:spPr>
      </p:sp>
      <p:sp>
        <p:nvSpPr>
          <p:cNvPr id="5" name="Text 3"/>
          <p:cNvSpPr txBox="1"/>
          <p:nvPr/>
        </p:nvSpPr>
        <p:spPr>
          <a:xfrm>
            <a:off x="640080" y="1188720"/>
            <a:ext cx="438912" cy="438912"/>
          </a:xfrm>
          <a:prstGeom prst="rect">
            <a:avLst/>
          </a:prstGeom>
          <a:noFill/>
          <a:ln/>
        </p:spPr>
        <p:txBody>
          <a:bodyPr wrap="square" lIns="0" tIns="0" rIns="0" bIns="0" rtlCol="0" anchor="ctr"/>
          <a:lstStyle/>
          <a:p>
            <a:pPr algn="ctr" indent="0" marL="0">
              <a:buNone/>
            </a:pPr>
            <a:r>
              <a:rPr lang="en-US" sz="1600" b="1" dirty="0">
                <a:solidFill>
                  <a:schemeClr val="bg1"/>
                </a:solidFill>
              </a:rPr>
              <a:t>1</a:t>
            </a:r>
            <a:endParaRPr lang="en-US" sz="1600" dirty="0"/>
          </a:p>
        </p:txBody>
      </p:sp>
      <p:sp>
        <p:nvSpPr>
          <p:cNvPr id="6" name="Text 4"/>
          <p:cNvSpPr txBox="1"/>
          <p:nvPr/>
        </p:nvSpPr>
        <p:spPr>
          <a:xfrm>
            <a:off x="640080" y="1719072"/>
            <a:ext cx="2286000" cy="347472"/>
          </a:xfrm>
          <a:prstGeom prst="rect">
            <a:avLst/>
          </a:prstGeom>
          <a:noFill/>
          <a:ln/>
        </p:spPr>
        <p:txBody>
          <a:bodyPr wrap="square" lIns="0" tIns="0" rIns="0" bIns="0" rtlCol="0" anchor="ctr"/>
          <a:lstStyle/>
          <a:p>
            <a:pPr indent="0" marL="0">
              <a:buNone/>
            </a:pPr>
            <a:r>
              <a:rPr lang="en-US" sz="1500" b="1" dirty="0">
                <a:solidFill>
                  <a:schemeClr val="tx1"/>
                </a:solidFill>
              </a:rPr>
              <a:t>Hiểu câu hỏi</a:t>
            </a:r>
            <a:endParaRPr lang="en-US" sz="1500" dirty="0"/>
          </a:p>
        </p:txBody>
      </p:sp>
      <p:sp>
        <p:nvSpPr>
          <p:cNvPr id="7" name="Text 5"/>
          <p:cNvSpPr txBox="1"/>
          <p:nvPr/>
        </p:nvSpPr>
        <p:spPr>
          <a:xfrm>
            <a:off x="640080" y="2039112"/>
            <a:ext cx="2286000" cy="411480"/>
          </a:xfrm>
          <a:prstGeom prst="rect">
            <a:avLst/>
          </a:prstGeom>
          <a:noFill/>
          <a:ln/>
        </p:spPr>
        <p:txBody>
          <a:bodyPr wrap="square" lIns="0" tIns="0" rIns="0" bIns="0" rtlCol="0" anchor="ctr"/>
          <a:lstStyle/>
          <a:p>
            <a:pPr indent="0" marL="0">
              <a:buNone/>
            </a:pPr>
            <a:r>
              <a:rPr lang="en-US" sz="1150" dirty="0">
                <a:solidFill>
                  <a:schemeClr val="tx2"/>
                </a:solidFill>
              </a:rPr>
              <a:t>Có dấu/không dấu, 300k, 1tr2, 1m75, 70kg</a:t>
            </a:r>
            <a:endParaRPr lang="en-US" sz="1150" dirty="0"/>
          </a:p>
        </p:txBody>
      </p:sp>
      <p:sp>
        <p:nvSpPr>
          <p:cNvPr id="8" name="card"/>
          <p:cNvSpPr/>
          <p:nvPr/>
        </p:nvSpPr>
        <p:spPr>
          <a:xfrm>
            <a:off x="3246120" y="1005840"/>
            <a:ext cx="2606040" cy="1508760"/>
          </a:xfrm>
          <a:prstGeom prst="roundRect">
            <a:avLst>
              <a:gd name="adj" fmla="val 4848"/>
            </a:avLst>
          </a:prstGeom>
          <a:solidFill>
            <a:schemeClr val="bg2"/>
          </a:solidFill>
          <a:ln w="9525">
            <a:solidFill>
              <a:schemeClr val="bg2"/>
            </a:solidFill>
            <a:prstDash val="solid"/>
          </a:ln>
        </p:spPr>
      </p:sp>
      <p:sp>
        <p:nvSpPr>
          <p:cNvPr id="9" name="badge"/>
          <p:cNvSpPr/>
          <p:nvPr/>
        </p:nvSpPr>
        <p:spPr>
          <a:xfrm>
            <a:off x="3429000" y="1188720"/>
            <a:ext cx="438912" cy="438912"/>
          </a:xfrm>
          <a:prstGeom prst="ellipse">
            <a:avLst/>
          </a:prstGeom>
          <a:solidFill>
            <a:schemeClr val="accent1"/>
          </a:solidFill>
          <a:ln w="12700">
            <a:solidFill>
              <a:schemeClr val="accent1"/>
            </a:solidFill>
            <a:prstDash val="solid"/>
          </a:ln>
        </p:spPr>
      </p:sp>
      <p:sp>
        <p:nvSpPr>
          <p:cNvPr id="10" name="Text 8"/>
          <p:cNvSpPr txBox="1"/>
          <p:nvPr/>
        </p:nvSpPr>
        <p:spPr>
          <a:xfrm>
            <a:off x="3429000" y="1188720"/>
            <a:ext cx="438912" cy="438912"/>
          </a:xfrm>
          <a:prstGeom prst="rect">
            <a:avLst/>
          </a:prstGeom>
          <a:noFill/>
          <a:ln/>
        </p:spPr>
        <p:txBody>
          <a:bodyPr wrap="square" lIns="0" tIns="0" rIns="0" bIns="0" rtlCol="0" anchor="ctr"/>
          <a:lstStyle/>
          <a:p>
            <a:pPr algn="ctr" indent="0" marL="0">
              <a:buNone/>
            </a:pPr>
            <a:r>
              <a:rPr lang="en-US" sz="1600" b="1" dirty="0">
                <a:solidFill>
                  <a:schemeClr val="bg1"/>
                </a:solidFill>
              </a:rPr>
              <a:t>2</a:t>
            </a:r>
            <a:endParaRPr lang="en-US" sz="1600" dirty="0"/>
          </a:p>
        </p:txBody>
      </p:sp>
      <p:sp>
        <p:nvSpPr>
          <p:cNvPr id="11" name="Text 9"/>
          <p:cNvSpPr txBox="1"/>
          <p:nvPr/>
        </p:nvSpPr>
        <p:spPr>
          <a:xfrm>
            <a:off x="3429000" y="1719072"/>
            <a:ext cx="2286000" cy="347472"/>
          </a:xfrm>
          <a:prstGeom prst="rect">
            <a:avLst/>
          </a:prstGeom>
          <a:noFill/>
          <a:ln/>
        </p:spPr>
        <p:txBody>
          <a:bodyPr wrap="square" lIns="0" tIns="0" rIns="0" bIns="0" rtlCol="0" anchor="ctr"/>
          <a:lstStyle/>
          <a:p>
            <a:pPr indent="0" marL="0">
              <a:buNone/>
            </a:pPr>
            <a:r>
              <a:rPr lang="en-US" sz="1500" b="1" dirty="0">
                <a:solidFill>
                  <a:schemeClr val="tx1"/>
                </a:solidFill>
              </a:rPr>
              <a:t>Gợi ý theo 7 tiêu chí</a:t>
            </a:r>
            <a:endParaRPr lang="en-US" sz="1500" dirty="0"/>
          </a:p>
        </p:txBody>
      </p:sp>
      <p:sp>
        <p:nvSpPr>
          <p:cNvPr id="12" name="Text 10"/>
          <p:cNvSpPr txBox="1"/>
          <p:nvPr/>
        </p:nvSpPr>
        <p:spPr>
          <a:xfrm>
            <a:off x="3429000" y="2039112"/>
            <a:ext cx="2286000" cy="411480"/>
          </a:xfrm>
          <a:prstGeom prst="rect">
            <a:avLst/>
          </a:prstGeom>
          <a:noFill/>
          <a:ln/>
        </p:spPr>
        <p:txBody>
          <a:bodyPr wrap="square" lIns="0" tIns="0" rIns="0" bIns="0" rtlCol="0" anchor="ctr"/>
          <a:lstStyle/>
          <a:p>
            <a:pPr indent="0" marL="0">
              <a:buNone/>
            </a:pPr>
            <a:r>
              <a:rPr lang="en-US" sz="1150" dirty="0">
                <a:solidFill>
                  <a:schemeClr val="tx2"/>
                </a:solidFill>
              </a:rPr>
              <a:t>Giới tính, môn, mục đích, size, màu, giá, kiểu dáng</a:t>
            </a:r>
            <a:endParaRPr lang="en-US" sz="1150" dirty="0"/>
          </a:p>
        </p:txBody>
      </p:sp>
      <p:sp>
        <p:nvSpPr>
          <p:cNvPr id="13" name="card"/>
          <p:cNvSpPr/>
          <p:nvPr/>
        </p:nvSpPr>
        <p:spPr>
          <a:xfrm>
            <a:off x="6035040" y="1005840"/>
            <a:ext cx="2606040" cy="1508760"/>
          </a:xfrm>
          <a:prstGeom prst="roundRect">
            <a:avLst>
              <a:gd name="adj" fmla="val 4848"/>
            </a:avLst>
          </a:prstGeom>
          <a:solidFill>
            <a:schemeClr val="bg2"/>
          </a:solidFill>
          <a:ln w="9525">
            <a:solidFill>
              <a:schemeClr val="bg2"/>
            </a:solidFill>
            <a:prstDash val="solid"/>
          </a:ln>
        </p:spPr>
      </p:sp>
      <p:sp>
        <p:nvSpPr>
          <p:cNvPr id="14" name="badge"/>
          <p:cNvSpPr/>
          <p:nvPr/>
        </p:nvSpPr>
        <p:spPr>
          <a:xfrm>
            <a:off x="6217920" y="1188720"/>
            <a:ext cx="438912" cy="438912"/>
          </a:xfrm>
          <a:prstGeom prst="ellipse">
            <a:avLst/>
          </a:prstGeom>
          <a:solidFill>
            <a:schemeClr val="accent1"/>
          </a:solidFill>
          <a:ln w="12700">
            <a:solidFill>
              <a:schemeClr val="accent1"/>
            </a:solidFill>
            <a:prstDash val="solid"/>
          </a:ln>
        </p:spPr>
      </p:sp>
      <p:sp>
        <p:nvSpPr>
          <p:cNvPr id="15" name="Text 13"/>
          <p:cNvSpPr txBox="1"/>
          <p:nvPr/>
        </p:nvSpPr>
        <p:spPr>
          <a:xfrm>
            <a:off x="6217920" y="1188720"/>
            <a:ext cx="438912" cy="438912"/>
          </a:xfrm>
          <a:prstGeom prst="rect">
            <a:avLst/>
          </a:prstGeom>
          <a:noFill/>
          <a:ln/>
        </p:spPr>
        <p:txBody>
          <a:bodyPr wrap="square" lIns="0" tIns="0" rIns="0" bIns="0" rtlCol="0" anchor="ctr"/>
          <a:lstStyle/>
          <a:p>
            <a:pPr algn="ctr" indent="0" marL="0">
              <a:buNone/>
            </a:pPr>
            <a:r>
              <a:rPr lang="en-US" sz="1600" b="1" dirty="0">
                <a:solidFill>
                  <a:schemeClr val="bg1"/>
                </a:solidFill>
              </a:rPr>
              <a:t>3</a:t>
            </a:r>
            <a:endParaRPr lang="en-US" sz="1600" dirty="0"/>
          </a:p>
        </p:txBody>
      </p:sp>
      <p:sp>
        <p:nvSpPr>
          <p:cNvPr id="16" name="Text 14"/>
          <p:cNvSpPr txBox="1"/>
          <p:nvPr/>
        </p:nvSpPr>
        <p:spPr>
          <a:xfrm>
            <a:off x="6217920" y="1719072"/>
            <a:ext cx="2286000" cy="347472"/>
          </a:xfrm>
          <a:prstGeom prst="rect">
            <a:avLst/>
          </a:prstGeom>
          <a:noFill/>
          <a:ln/>
        </p:spPr>
        <p:txBody>
          <a:bodyPr wrap="square" lIns="0" tIns="0" rIns="0" bIns="0" rtlCol="0" anchor="ctr"/>
          <a:lstStyle/>
          <a:p>
            <a:pPr indent="0" marL="0">
              <a:buNone/>
            </a:pPr>
            <a:r>
              <a:rPr lang="en-US" sz="1500" b="1" dirty="0">
                <a:solidFill>
                  <a:schemeClr val="tx1"/>
                </a:solidFill>
              </a:rPr>
              <a:t>Tư vấn size</a:t>
            </a:r>
            <a:endParaRPr lang="en-US" sz="1500" dirty="0"/>
          </a:p>
        </p:txBody>
      </p:sp>
      <p:sp>
        <p:nvSpPr>
          <p:cNvPr id="17" name="Text 15"/>
          <p:cNvSpPr txBox="1"/>
          <p:nvPr/>
        </p:nvSpPr>
        <p:spPr>
          <a:xfrm>
            <a:off x="6217920" y="2039112"/>
            <a:ext cx="2286000" cy="411480"/>
          </a:xfrm>
          <a:prstGeom prst="rect">
            <a:avLst/>
          </a:prstGeom>
          <a:noFill/>
          <a:ln/>
        </p:spPr>
        <p:txBody>
          <a:bodyPr wrap="square" lIns="0" tIns="0" rIns="0" bIns="0" rtlCol="0" anchor="ctr"/>
          <a:lstStyle/>
          <a:p>
            <a:pPr indent="0" marL="0">
              <a:buNone/>
            </a:pPr>
            <a:r>
              <a:rPr lang="en-US" sz="1150" dirty="0">
                <a:solidFill>
                  <a:schemeClr val="tx2"/>
                </a:solidFill>
              </a:rPr>
              <a:t>Theo chiều cao, cân nặng và bảng size</a:t>
            </a:r>
            <a:endParaRPr lang="en-US" sz="1150" dirty="0"/>
          </a:p>
        </p:txBody>
      </p:sp>
      <p:sp>
        <p:nvSpPr>
          <p:cNvPr id="18" name="card"/>
          <p:cNvSpPr/>
          <p:nvPr/>
        </p:nvSpPr>
        <p:spPr>
          <a:xfrm>
            <a:off x="457200" y="2697480"/>
            <a:ext cx="2606040" cy="1508760"/>
          </a:xfrm>
          <a:prstGeom prst="roundRect">
            <a:avLst>
              <a:gd name="adj" fmla="val 4848"/>
            </a:avLst>
          </a:prstGeom>
          <a:solidFill>
            <a:schemeClr val="bg2"/>
          </a:solidFill>
          <a:ln w="9525">
            <a:solidFill>
              <a:schemeClr val="bg2"/>
            </a:solidFill>
            <a:prstDash val="solid"/>
          </a:ln>
        </p:spPr>
      </p:sp>
      <p:sp>
        <p:nvSpPr>
          <p:cNvPr id="19" name="badge"/>
          <p:cNvSpPr/>
          <p:nvPr/>
        </p:nvSpPr>
        <p:spPr>
          <a:xfrm>
            <a:off x="640080" y="2880360"/>
            <a:ext cx="438912" cy="438912"/>
          </a:xfrm>
          <a:prstGeom prst="ellipse">
            <a:avLst/>
          </a:prstGeom>
          <a:solidFill>
            <a:schemeClr val="accent1"/>
          </a:solidFill>
          <a:ln w="12700">
            <a:solidFill>
              <a:schemeClr val="accent1"/>
            </a:solidFill>
            <a:prstDash val="solid"/>
          </a:ln>
        </p:spPr>
      </p:sp>
      <p:sp>
        <p:nvSpPr>
          <p:cNvPr id="20" name="Text 18"/>
          <p:cNvSpPr txBox="1"/>
          <p:nvPr/>
        </p:nvSpPr>
        <p:spPr>
          <a:xfrm>
            <a:off x="640080" y="2880360"/>
            <a:ext cx="438912" cy="438912"/>
          </a:xfrm>
          <a:prstGeom prst="rect">
            <a:avLst/>
          </a:prstGeom>
          <a:noFill/>
          <a:ln/>
        </p:spPr>
        <p:txBody>
          <a:bodyPr wrap="square" lIns="0" tIns="0" rIns="0" bIns="0" rtlCol="0" anchor="ctr"/>
          <a:lstStyle/>
          <a:p>
            <a:pPr algn="ctr" indent="0" marL="0">
              <a:buNone/>
            </a:pPr>
            <a:r>
              <a:rPr lang="en-US" sz="1600" b="1" dirty="0">
                <a:solidFill>
                  <a:schemeClr val="bg1"/>
                </a:solidFill>
              </a:rPr>
              <a:t>4</a:t>
            </a:r>
            <a:endParaRPr lang="en-US" sz="1600" dirty="0"/>
          </a:p>
        </p:txBody>
      </p:sp>
      <p:sp>
        <p:nvSpPr>
          <p:cNvPr id="21" name="Text 19"/>
          <p:cNvSpPr txBox="1"/>
          <p:nvPr/>
        </p:nvSpPr>
        <p:spPr>
          <a:xfrm>
            <a:off x="640080" y="3410712"/>
            <a:ext cx="2286000" cy="347472"/>
          </a:xfrm>
          <a:prstGeom prst="rect">
            <a:avLst/>
          </a:prstGeom>
          <a:noFill/>
          <a:ln/>
        </p:spPr>
        <p:txBody>
          <a:bodyPr wrap="square" lIns="0" tIns="0" rIns="0" bIns="0" rtlCol="0" anchor="ctr"/>
          <a:lstStyle/>
          <a:p>
            <a:pPr indent="0" marL="0">
              <a:buNone/>
            </a:pPr>
            <a:r>
              <a:rPr lang="en-US" sz="1500" b="1" dirty="0">
                <a:solidFill>
                  <a:schemeClr val="tx1"/>
                </a:solidFill>
              </a:rPr>
              <a:t>Phối bộ đồ</a:t>
            </a:r>
            <a:endParaRPr lang="en-US" sz="1500" dirty="0"/>
          </a:p>
        </p:txBody>
      </p:sp>
      <p:sp>
        <p:nvSpPr>
          <p:cNvPr id="22" name="Text 20"/>
          <p:cNvSpPr txBox="1"/>
          <p:nvPr/>
        </p:nvSpPr>
        <p:spPr>
          <a:xfrm>
            <a:off x="640080" y="3730752"/>
            <a:ext cx="2286000" cy="411480"/>
          </a:xfrm>
          <a:prstGeom prst="rect">
            <a:avLst/>
          </a:prstGeom>
          <a:noFill/>
          <a:ln/>
        </p:spPr>
        <p:txBody>
          <a:bodyPr wrap="square" lIns="0" tIns="0" rIns="0" bIns="0" rtlCol="0" anchor="ctr"/>
          <a:lstStyle/>
          <a:p>
            <a:pPr indent="0" marL="0">
              <a:buNone/>
            </a:pPr>
            <a:r>
              <a:rPr lang="en-US" sz="1150" dirty="0">
                <a:solidFill>
                  <a:schemeClr val="tx2"/>
                </a:solidFill>
              </a:rPr>
              <a:t>Áo + quần cùng giới tính, vừa ngân sách</a:t>
            </a:r>
            <a:endParaRPr lang="en-US" sz="1150" dirty="0"/>
          </a:p>
        </p:txBody>
      </p:sp>
      <p:sp>
        <p:nvSpPr>
          <p:cNvPr id="23" name="card"/>
          <p:cNvSpPr/>
          <p:nvPr/>
        </p:nvSpPr>
        <p:spPr>
          <a:xfrm>
            <a:off x="3246120" y="2697480"/>
            <a:ext cx="2606040" cy="1508760"/>
          </a:xfrm>
          <a:prstGeom prst="roundRect">
            <a:avLst>
              <a:gd name="adj" fmla="val 4848"/>
            </a:avLst>
          </a:prstGeom>
          <a:solidFill>
            <a:schemeClr val="bg2"/>
          </a:solidFill>
          <a:ln w="9525">
            <a:solidFill>
              <a:schemeClr val="bg2"/>
            </a:solidFill>
            <a:prstDash val="solid"/>
          </a:ln>
        </p:spPr>
      </p:sp>
      <p:sp>
        <p:nvSpPr>
          <p:cNvPr id="24" name="badge"/>
          <p:cNvSpPr/>
          <p:nvPr/>
        </p:nvSpPr>
        <p:spPr>
          <a:xfrm>
            <a:off x="3429000" y="2880360"/>
            <a:ext cx="438912" cy="438912"/>
          </a:xfrm>
          <a:prstGeom prst="ellipse">
            <a:avLst/>
          </a:prstGeom>
          <a:solidFill>
            <a:schemeClr val="accent1"/>
          </a:solidFill>
          <a:ln w="12700">
            <a:solidFill>
              <a:schemeClr val="accent1"/>
            </a:solidFill>
            <a:prstDash val="solid"/>
          </a:ln>
        </p:spPr>
      </p:sp>
      <p:sp>
        <p:nvSpPr>
          <p:cNvPr id="25" name="Text 23"/>
          <p:cNvSpPr txBox="1"/>
          <p:nvPr/>
        </p:nvSpPr>
        <p:spPr>
          <a:xfrm>
            <a:off x="3429000" y="2880360"/>
            <a:ext cx="438912" cy="438912"/>
          </a:xfrm>
          <a:prstGeom prst="rect">
            <a:avLst/>
          </a:prstGeom>
          <a:noFill/>
          <a:ln/>
        </p:spPr>
        <p:txBody>
          <a:bodyPr wrap="square" lIns="0" tIns="0" rIns="0" bIns="0" rtlCol="0" anchor="ctr"/>
          <a:lstStyle/>
          <a:p>
            <a:pPr algn="ctr" indent="0" marL="0">
              <a:buNone/>
            </a:pPr>
            <a:r>
              <a:rPr lang="en-US" sz="1600" b="1" dirty="0">
                <a:solidFill>
                  <a:schemeClr val="bg1"/>
                </a:solidFill>
              </a:rPr>
              <a:t>5</a:t>
            </a:r>
            <a:endParaRPr lang="en-US" sz="1600" dirty="0"/>
          </a:p>
        </p:txBody>
      </p:sp>
      <p:sp>
        <p:nvSpPr>
          <p:cNvPr id="26" name="Text 24"/>
          <p:cNvSpPr txBox="1"/>
          <p:nvPr/>
        </p:nvSpPr>
        <p:spPr>
          <a:xfrm>
            <a:off x="3429000" y="3410712"/>
            <a:ext cx="2286000" cy="347472"/>
          </a:xfrm>
          <a:prstGeom prst="rect">
            <a:avLst/>
          </a:prstGeom>
          <a:noFill/>
          <a:ln/>
        </p:spPr>
        <p:txBody>
          <a:bodyPr wrap="square" lIns="0" tIns="0" rIns="0" bIns="0" rtlCol="0" anchor="ctr"/>
          <a:lstStyle/>
          <a:p>
            <a:pPr indent="0" marL="0">
              <a:buNone/>
            </a:pPr>
            <a:r>
              <a:rPr lang="en-US" sz="1500" b="1" dirty="0">
                <a:solidFill>
                  <a:schemeClr val="tx1"/>
                </a:solidFill>
              </a:rPr>
              <a:t>Hỏi đáp chính sách</a:t>
            </a:r>
            <a:endParaRPr lang="en-US" sz="1500" dirty="0"/>
          </a:p>
        </p:txBody>
      </p:sp>
      <p:sp>
        <p:nvSpPr>
          <p:cNvPr id="27" name="Text 25"/>
          <p:cNvSpPr txBox="1"/>
          <p:nvPr/>
        </p:nvSpPr>
        <p:spPr>
          <a:xfrm>
            <a:off x="3429000" y="3730752"/>
            <a:ext cx="2286000" cy="411480"/>
          </a:xfrm>
          <a:prstGeom prst="rect">
            <a:avLst/>
          </a:prstGeom>
          <a:noFill/>
          <a:ln/>
        </p:spPr>
        <p:txBody>
          <a:bodyPr wrap="square" lIns="0" tIns="0" rIns="0" bIns="0" rtlCol="0" anchor="ctr"/>
          <a:lstStyle/>
          <a:p>
            <a:pPr indent="0" marL="0">
              <a:buNone/>
            </a:pPr>
            <a:r>
              <a:rPr lang="en-US" sz="1150" dirty="0">
                <a:solidFill>
                  <a:schemeClr val="tx2"/>
                </a:solidFill>
              </a:rPr>
              <a:t>Ship, đổi trả, thanh toán, mã giảm giá</a:t>
            </a:r>
            <a:endParaRPr lang="en-US" sz="1150" dirty="0"/>
          </a:p>
        </p:txBody>
      </p:sp>
      <p:sp>
        <p:nvSpPr>
          <p:cNvPr id="28" name="card"/>
          <p:cNvSpPr/>
          <p:nvPr/>
        </p:nvSpPr>
        <p:spPr>
          <a:xfrm>
            <a:off x="6035040" y="2697480"/>
            <a:ext cx="2606040" cy="1508760"/>
          </a:xfrm>
          <a:prstGeom prst="roundRect">
            <a:avLst>
              <a:gd name="adj" fmla="val 4848"/>
            </a:avLst>
          </a:prstGeom>
          <a:solidFill>
            <a:schemeClr val="bg2"/>
          </a:solidFill>
          <a:ln w="9525">
            <a:solidFill>
              <a:schemeClr val="bg2"/>
            </a:solidFill>
            <a:prstDash val="solid"/>
          </a:ln>
        </p:spPr>
      </p:sp>
      <p:sp>
        <p:nvSpPr>
          <p:cNvPr id="29" name="badge"/>
          <p:cNvSpPr/>
          <p:nvPr/>
        </p:nvSpPr>
        <p:spPr>
          <a:xfrm>
            <a:off x="6217920" y="2880360"/>
            <a:ext cx="438912" cy="438912"/>
          </a:xfrm>
          <a:prstGeom prst="ellipse">
            <a:avLst/>
          </a:prstGeom>
          <a:solidFill>
            <a:schemeClr val="accent1"/>
          </a:solidFill>
          <a:ln w="12700">
            <a:solidFill>
              <a:schemeClr val="accent1"/>
            </a:solidFill>
            <a:prstDash val="solid"/>
          </a:ln>
        </p:spPr>
      </p:sp>
      <p:sp>
        <p:nvSpPr>
          <p:cNvPr id="30" name="Text 28"/>
          <p:cNvSpPr txBox="1"/>
          <p:nvPr/>
        </p:nvSpPr>
        <p:spPr>
          <a:xfrm>
            <a:off x="6217920" y="2880360"/>
            <a:ext cx="438912" cy="438912"/>
          </a:xfrm>
          <a:prstGeom prst="rect">
            <a:avLst/>
          </a:prstGeom>
          <a:noFill/>
          <a:ln/>
        </p:spPr>
        <p:txBody>
          <a:bodyPr wrap="square" lIns="0" tIns="0" rIns="0" bIns="0" rtlCol="0" anchor="ctr"/>
          <a:lstStyle/>
          <a:p>
            <a:pPr algn="ctr" indent="0" marL="0">
              <a:buNone/>
            </a:pPr>
            <a:r>
              <a:rPr lang="en-US" sz="1600" b="1" dirty="0">
                <a:solidFill>
                  <a:schemeClr val="bg1"/>
                </a:solidFill>
              </a:rPr>
              <a:t>6</a:t>
            </a:r>
            <a:endParaRPr lang="en-US" sz="1600" dirty="0"/>
          </a:p>
        </p:txBody>
      </p:sp>
      <p:sp>
        <p:nvSpPr>
          <p:cNvPr id="31" name="Text 29"/>
          <p:cNvSpPr txBox="1"/>
          <p:nvPr/>
        </p:nvSpPr>
        <p:spPr>
          <a:xfrm>
            <a:off x="6217920" y="3410712"/>
            <a:ext cx="2286000" cy="347472"/>
          </a:xfrm>
          <a:prstGeom prst="rect">
            <a:avLst/>
          </a:prstGeom>
          <a:noFill/>
          <a:ln/>
        </p:spPr>
        <p:txBody>
          <a:bodyPr wrap="square" lIns="0" tIns="0" rIns="0" bIns="0" rtlCol="0" anchor="ctr"/>
          <a:lstStyle/>
          <a:p>
            <a:pPr indent="0" marL="0">
              <a:buNone/>
            </a:pPr>
            <a:r>
              <a:rPr lang="en-US" sz="1500" b="1" dirty="0">
                <a:solidFill>
                  <a:schemeClr val="tx1"/>
                </a:solidFill>
              </a:rPr>
              <a:t>Hỏi tiếp theo ngữ cảnh</a:t>
            </a:r>
            <a:endParaRPr lang="en-US" sz="1500" dirty="0"/>
          </a:p>
        </p:txBody>
      </p:sp>
      <p:sp>
        <p:nvSpPr>
          <p:cNvPr id="32" name="Text 30"/>
          <p:cNvSpPr txBox="1"/>
          <p:nvPr/>
        </p:nvSpPr>
        <p:spPr>
          <a:xfrm>
            <a:off x="6217920" y="3730752"/>
            <a:ext cx="2286000" cy="411480"/>
          </a:xfrm>
          <a:prstGeom prst="rect">
            <a:avLst/>
          </a:prstGeom>
          <a:noFill/>
          <a:ln/>
        </p:spPr>
        <p:txBody>
          <a:bodyPr wrap="square" lIns="0" tIns="0" rIns="0" bIns="0" rtlCol="0" anchor="ctr"/>
          <a:lstStyle/>
          <a:p>
            <a:pPr indent="0" marL="0">
              <a:buNone/>
            </a:pPr>
            <a:r>
              <a:rPr lang="en-US" sz="1150" dirty="0">
                <a:solidFill>
                  <a:schemeClr val="tx2"/>
                </a:solidFill>
              </a:rPr>
              <a:t>"Còn màu trắng không?", "rẻ hơn?"</a:t>
            </a:r>
            <a:endParaRPr lang="en-US" sz="1150" dirty="0"/>
          </a:p>
        </p:txBody>
      </p:sp>
      <p:sp>
        <p:nvSpPr>
          <p:cNvPr id="25" name="Slide Number Placeholder 0"/>
          <p:cNvSpPr>
            <a:spLocks noGrp="1"/>
          </p:cNvSpPr>
          <p:nvPr>
            <p:ph type="sldNum" sz="quarter" idx="4294967295"/>
          </p:nvPr>
        </p:nvSpPr>
        <p:spPr>
          <a:xfrm>
            <a:off x="8229600" y="4754880"/>
            <a:ext cx="457200" cy="274320"/>
          </a:xfrm>
          <a:prstGeom prst="rect">
            <a:avLst/>
          </a:prstGeom>
          <a:extLst>
            <a:ext uri="{C572A759-6A51-4108-AA02-DFA0A04FC94B}">
              <ma14:wrappingTextBoxFlag xmlns:ma14="http://schemas.microsoft.com/office/mac/drawingml/2011/main" val="0"/>
            </a:ext>
          </a:extLst>
        </p:spPr>
        <p:txBody>
          <a:bodyPr/>
          <a:lstStyle>
            <a:lvl1pPr>
              <a:defRPr sz="900">
                <a:solidFill>
                  <a:schemeClr val="accent4"/>
                </a:solidFill>
              </a:defRPr>
            </a:lvl1pPr>
          </a:lstStyle>
          <a:p>
            <a:pPr algn="r"/>
            <a:fld id="{F7021451-1387-4CA6-816F-3879F97B5CBC}" type="slidenum">
              <a:rPr b="0" lang="en-US"/>
              <a:t>7</a:t>
            </a:fld>
            <a:endParaRPr lang="en-US"/>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8">
    <p:spTree>
      <p:nvGrpSpPr>
        <p:cNvPr id="1" name=""/>
        <p:cNvGrpSpPr/>
        <p:nvPr/>
      </p:nvGrpSpPr>
      <p:grpSpPr>
        <a:xfrm>
          <a:off x="0" y="0"/>
          <a:ext cx="0" cy="0"/>
          <a:chOff x="0" y="0"/>
          <a:chExt cx="0" cy="0"/>
        </a:xfrm>
      </p:grpSpPr>
      <p:sp>
        <p:nvSpPr>
          <p:cNvPr id="2" name="Text 0"/>
          <p:cNvSpPr/>
          <p:nvPr>
            <p:ph idx="100" type="title" hasCustomPrompt="1"/>
          </p:nvPr>
        </p:nvSpPr>
        <p:spPr>
          <a:xfrm>
            <a:off x="457200" y="256032"/>
            <a:ext cx="8229600" cy="566928"/>
          </a:xfrm>
          <a:prstGeom prst="rect">
            <a:avLst/>
          </a:prstGeom>
          <a:noFill/>
          <a:ln/>
        </p:spPr>
        <p:txBody>
          <a:bodyPr wrap="square" lIns="0" tIns="0" rIns="0" bIns="0" rtlCol="0" anchor="ctr"/>
          <a:lstStyle/>
          <a:p>
            <a:pPr algn="l" indent="0" marL="0">
              <a:buNone/>
            </a:pPr>
            <a:r>
              <a:rPr lang="en-US" sz="2600" b="1" dirty="0">
                <a:solidFill>
                  <a:schemeClr val="tx1"/>
                </a:solidFill>
              </a:rPr>
              <a:t>Tác nhân &amp; 5 tình huống demo bắt buộc</a:t>
            </a:r>
            <a:endParaRPr lang="en-US" sz="2600" dirty="0"/>
          </a:p>
        </p:txBody>
      </p:sp>
      <p:sp>
        <p:nvSpPr>
          <p:cNvPr id="3" name="card"/>
          <p:cNvSpPr/>
          <p:nvPr/>
        </p:nvSpPr>
        <p:spPr>
          <a:xfrm>
            <a:off x="457200" y="1005840"/>
            <a:ext cx="2651760" cy="987552"/>
          </a:xfrm>
          <a:prstGeom prst="roundRect">
            <a:avLst>
              <a:gd name="adj" fmla="val 7407"/>
            </a:avLst>
          </a:prstGeom>
          <a:solidFill>
            <a:schemeClr val="bg2"/>
          </a:solidFill>
          <a:ln w="9525">
            <a:solidFill>
              <a:schemeClr val="bg2"/>
            </a:solidFill>
            <a:prstDash val="solid"/>
          </a:ln>
        </p:spPr>
      </p:sp>
      <p:sp>
        <p:nvSpPr>
          <p:cNvPr id="4" name="Text 2"/>
          <p:cNvSpPr txBox="1"/>
          <p:nvPr/>
        </p:nvSpPr>
        <p:spPr>
          <a:xfrm>
            <a:off x="640080" y="1005840"/>
            <a:ext cx="2377440" cy="987552"/>
          </a:xfrm>
          <a:prstGeom prst="rect">
            <a:avLst/>
          </a:prstGeom>
          <a:noFill/>
          <a:ln/>
        </p:spPr>
        <p:txBody>
          <a:bodyPr wrap="square" lIns="0" tIns="0" rIns="0" bIns="0" rtlCol="0" anchor="ctr"/>
          <a:lstStyle/>
          <a:p>
            <a:pPr indent="0" marL="0">
              <a:buNone/>
            </a:pPr>
            <a:r>
              <a:rPr lang="en-US" sz="1400" b="1" dirty="0">
                <a:solidFill>
                  <a:schemeClr val="accent1"/>
                </a:solidFill>
              </a:rPr>
              <a:t>Khách hàng</a:t>
            </a:r>
            <a:endParaRPr lang="en-US" sz="1400" dirty="0"/>
          </a:p>
          <a:p>
            <a:pPr indent="0" marL="0">
              <a:buNone/>
            </a:pPr>
            <a:r>
              <a:rPr lang="en-US" sz="1150" dirty="0">
                <a:solidFill>
                  <a:schemeClr val="tx2"/>
                </a:solidFill>
              </a:rPr>
              <a:t>Hỏi đáp, nhận tư vấn, xem sản phẩm</a:t>
            </a:r>
            <a:endParaRPr lang="en-US" sz="1400" dirty="0"/>
          </a:p>
        </p:txBody>
      </p:sp>
      <p:sp>
        <p:nvSpPr>
          <p:cNvPr id="5" name="card"/>
          <p:cNvSpPr/>
          <p:nvPr/>
        </p:nvSpPr>
        <p:spPr>
          <a:xfrm>
            <a:off x="457200" y="2148840"/>
            <a:ext cx="2651760" cy="987552"/>
          </a:xfrm>
          <a:prstGeom prst="roundRect">
            <a:avLst>
              <a:gd name="adj" fmla="val 7407"/>
            </a:avLst>
          </a:prstGeom>
          <a:solidFill>
            <a:schemeClr val="bg2"/>
          </a:solidFill>
          <a:ln w="9525">
            <a:solidFill>
              <a:schemeClr val="bg2"/>
            </a:solidFill>
            <a:prstDash val="solid"/>
          </a:ln>
        </p:spPr>
      </p:sp>
      <p:sp>
        <p:nvSpPr>
          <p:cNvPr id="6" name="Text 4"/>
          <p:cNvSpPr txBox="1"/>
          <p:nvPr/>
        </p:nvSpPr>
        <p:spPr>
          <a:xfrm>
            <a:off x="640080" y="2148840"/>
            <a:ext cx="2377440" cy="987552"/>
          </a:xfrm>
          <a:prstGeom prst="rect">
            <a:avLst/>
          </a:prstGeom>
          <a:noFill/>
          <a:ln/>
        </p:spPr>
        <p:txBody>
          <a:bodyPr wrap="square" lIns="0" tIns="0" rIns="0" bIns="0" rtlCol="0" anchor="ctr"/>
          <a:lstStyle/>
          <a:p>
            <a:pPr indent="0" marL="0">
              <a:buNone/>
            </a:pPr>
            <a:r>
              <a:rPr lang="en-US" sz="1400" b="1" dirty="0">
                <a:solidFill>
                  <a:schemeClr val="accent1"/>
                </a:solidFill>
              </a:rPr>
              <a:t>Quản trị viên</a:t>
            </a:r>
            <a:endParaRPr lang="en-US" sz="1400" dirty="0"/>
          </a:p>
          <a:p>
            <a:pPr indent="0" marL="0">
              <a:buNone/>
            </a:pPr>
            <a:r>
              <a:rPr lang="en-US" sz="1150" dirty="0">
                <a:solidFill>
                  <a:schemeClr val="tx2"/>
                </a:solidFill>
              </a:rPr>
              <a:t>Gán thuộc tính AI, cấu hình size</a:t>
            </a:r>
            <a:endParaRPr lang="en-US" sz="1400" dirty="0"/>
          </a:p>
        </p:txBody>
      </p:sp>
      <p:sp>
        <p:nvSpPr>
          <p:cNvPr id="7" name="card"/>
          <p:cNvSpPr/>
          <p:nvPr/>
        </p:nvSpPr>
        <p:spPr>
          <a:xfrm>
            <a:off x="457200" y="3291840"/>
            <a:ext cx="2651760" cy="987552"/>
          </a:xfrm>
          <a:prstGeom prst="roundRect">
            <a:avLst>
              <a:gd name="adj" fmla="val 7407"/>
            </a:avLst>
          </a:prstGeom>
          <a:solidFill>
            <a:schemeClr val="bg2"/>
          </a:solidFill>
          <a:ln w="9525">
            <a:solidFill>
              <a:schemeClr val="bg2"/>
            </a:solidFill>
            <a:prstDash val="solid"/>
          </a:ln>
        </p:spPr>
      </p:sp>
      <p:sp>
        <p:nvSpPr>
          <p:cNvPr id="8" name="Text 6"/>
          <p:cNvSpPr txBox="1"/>
          <p:nvPr/>
        </p:nvSpPr>
        <p:spPr>
          <a:xfrm>
            <a:off x="640080" y="3291840"/>
            <a:ext cx="2377440" cy="987552"/>
          </a:xfrm>
          <a:prstGeom prst="rect">
            <a:avLst/>
          </a:prstGeom>
          <a:noFill/>
          <a:ln/>
        </p:spPr>
        <p:txBody>
          <a:bodyPr wrap="square" lIns="0" tIns="0" rIns="0" bIns="0" rtlCol="0" anchor="ctr"/>
          <a:lstStyle/>
          <a:p>
            <a:pPr indent="0" marL="0">
              <a:buNone/>
            </a:pPr>
            <a:r>
              <a:rPr lang="en-US" sz="1400" b="1" dirty="0">
                <a:solidFill>
                  <a:schemeClr val="accent1"/>
                </a:solidFill>
              </a:rPr>
              <a:t>Gemini AI</a:t>
            </a:r>
            <a:endParaRPr lang="en-US" sz="1400" dirty="0"/>
          </a:p>
          <a:p>
            <a:pPr indent="0" marL="0">
              <a:buNone/>
            </a:pPr>
            <a:r>
              <a:rPr lang="en-US" sz="1150" dirty="0">
                <a:solidFill>
                  <a:schemeClr val="tx2"/>
                </a:solidFill>
              </a:rPr>
              <a:t>Hiểu câu hỏi, diễn đạt câu trả lời</a:t>
            </a:r>
            <a:endParaRPr lang="en-US" sz="1400" dirty="0"/>
          </a:p>
        </p:txBody>
      </p:sp>
      <p:sp>
        <p:nvSpPr>
          <p:cNvPr id="9" name="card"/>
          <p:cNvSpPr/>
          <p:nvPr/>
        </p:nvSpPr>
        <p:spPr>
          <a:xfrm>
            <a:off x="3337560" y="1005840"/>
            <a:ext cx="5349240" cy="566928"/>
          </a:xfrm>
          <a:prstGeom prst="roundRect">
            <a:avLst>
              <a:gd name="adj" fmla="val 12903"/>
            </a:avLst>
          </a:prstGeom>
          <a:solidFill>
            <a:schemeClr val="bg2"/>
          </a:solidFill>
          <a:ln w="9525">
            <a:solidFill>
              <a:schemeClr val="bg2"/>
            </a:solidFill>
            <a:prstDash val="solid"/>
          </a:ln>
        </p:spPr>
      </p:sp>
      <p:sp>
        <p:nvSpPr>
          <p:cNvPr id="10" name="badge"/>
          <p:cNvSpPr/>
          <p:nvPr/>
        </p:nvSpPr>
        <p:spPr>
          <a:xfrm>
            <a:off x="3474720" y="1097280"/>
            <a:ext cx="384048" cy="384048"/>
          </a:xfrm>
          <a:prstGeom prst="ellipse">
            <a:avLst/>
          </a:prstGeom>
          <a:solidFill>
            <a:schemeClr val="accent1"/>
          </a:solidFill>
          <a:ln w="12700">
            <a:solidFill>
              <a:schemeClr val="accent1"/>
            </a:solidFill>
            <a:prstDash val="solid"/>
          </a:ln>
        </p:spPr>
      </p:sp>
      <p:sp>
        <p:nvSpPr>
          <p:cNvPr id="11" name="Text 9"/>
          <p:cNvSpPr txBox="1"/>
          <p:nvPr/>
        </p:nvSpPr>
        <p:spPr>
          <a:xfrm>
            <a:off x="3474720" y="1097280"/>
            <a:ext cx="384048" cy="384048"/>
          </a:xfrm>
          <a:prstGeom prst="rect">
            <a:avLst/>
          </a:prstGeom>
          <a:noFill/>
          <a:ln/>
        </p:spPr>
        <p:txBody>
          <a:bodyPr wrap="square" lIns="0" tIns="0" rIns="0" bIns="0" rtlCol="0" anchor="ctr"/>
          <a:lstStyle/>
          <a:p>
            <a:pPr algn="ctr" indent="0" marL="0">
              <a:buNone/>
            </a:pPr>
            <a:r>
              <a:rPr lang="en-US" sz="1300" b="1" dirty="0">
                <a:solidFill>
                  <a:schemeClr val="bg1"/>
                </a:solidFill>
              </a:rPr>
              <a:t>1</a:t>
            </a:r>
            <a:endParaRPr lang="en-US" sz="1300" dirty="0"/>
          </a:p>
        </p:txBody>
      </p:sp>
      <p:sp>
        <p:nvSpPr>
          <p:cNvPr id="12" name="Text 10"/>
          <p:cNvSpPr txBox="1"/>
          <p:nvPr/>
        </p:nvSpPr>
        <p:spPr>
          <a:xfrm>
            <a:off x="3977640" y="1005840"/>
            <a:ext cx="4617720" cy="566928"/>
          </a:xfrm>
          <a:prstGeom prst="rect">
            <a:avLst/>
          </a:prstGeom>
          <a:noFill/>
          <a:ln/>
        </p:spPr>
        <p:txBody>
          <a:bodyPr wrap="square" lIns="0" tIns="0" rIns="0" bIns="0" rtlCol="0" anchor="ctr"/>
          <a:lstStyle/>
          <a:p>
            <a:pPr indent="0" marL="0">
              <a:buNone/>
            </a:pPr>
            <a:r>
              <a:rPr lang="en-US" sz="1250" b="1" dirty="0">
                <a:solidFill>
                  <a:schemeClr val="tx1"/>
                </a:solidFill>
              </a:rPr>
              <a:t>Hỏi sản phẩm</a:t>
            </a:r>
            <a:endParaRPr lang="en-US" sz="1250" dirty="0"/>
          </a:p>
          <a:p>
            <a:pPr indent="0" marL="0">
              <a:buNone/>
            </a:pPr>
            <a:r>
              <a:rPr lang="en-US" sz="1100" dirty="0">
                <a:solidFill>
                  <a:schemeClr val="tx2"/>
                </a:solidFill>
              </a:rPr>
              <a:t>"Tìm áo bóng đá nam."</a:t>
            </a:r>
            <a:endParaRPr lang="en-US" sz="1250" dirty="0"/>
          </a:p>
        </p:txBody>
      </p:sp>
      <p:sp>
        <p:nvSpPr>
          <p:cNvPr id="13" name="card"/>
          <p:cNvSpPr/>
          <p:nvPr/>
        </p:nvSpPr>
        <p:spPr>
          <a:xfrm>
            <a:off x="3337560" y="1691640"/>
            <a:ext cx="5349240" cy="566928"/>
          </a:xfrm>
          <a:prstGeom prst="roundRect">
            <a:avLst>
              <a:gd name="adj" fmla="val 12903"/>
            </a:avLst>
          </a:prstGeom>
          <a:solidFill>
            <a:schemeClr val="bg2"/>
          </a:solidFill>
          <a:ln w="9525">
            <a:solidFill>
              <a:schemeClr val="bg2"/>
            </a:solidFill>
            <a:prstDash val="solid"/>
          </a:ln>
        </p:spPr>
      </p:sp>
      <p:sp>
        <p:nvSpPr>
          <p:cNvPr id="14" name="badge"/>
          <p:cNvSpPr/>
          <p:nvPr/>
        </p:nvSpPr>
        <p:spPr>
          <a:xfrm>
            <a:off x="3474720" y="1783080"/>
            <a:ext cx="384048" cy="384048"/>
          </a:xfrm>
          <a:prstGeom prst="ellipse">
            <a:avLst/>
          </a:prstGeom>
          <a:solidFill>
            <a:schemeClr val="accent1"/>
          </a:solidFill>
          <a:ln w="12700">
            <a:solidFill>
              <a:schemeClr val="accent1"/>
            </a:solidFill>
            <a:prstDash val="solid"/>
          </a:ln>
        </p:spPr>
      </p:sp>
      <p:sp>
        <p:nvSpPr>
          <p:cNvPr id="15" name="Text 13"/>
          <p:cNvSpPr txBox="1"/>
          <p:nvPr/>
        </p:nvSpPr>
        <p:spPr>
          <a:xfrm>
            <a:off x="3474720" y="1783080"/>
            <a:ext cx="384048" cy="384048"/>
          </a:xfrm>
          <a:prstGeom prst="rect">
            <a:avLst/>
          </a:prstGeom>
          <a:noFill/>
          <a:ln/>
        </p:spPr>
        <p:txBody>
          <a:bodyPr wrap="square" lIns="0" tIns="0" rIns="0" bIns="0" rtlCol="0" anchor="ctr"/>
          <a:lstStyle/>
          <a:p>
            <a:pPr algn="ctr" indent="0" marL="0">
              <a:buNone/>
            </a:pPr>
            <a:r>
              <a:rPr lang="en-US" sz="1300" b="1" dirty="0">
                <a:solidFill>
                  <a:schemeClr val="bg1"/>
                </a:solidFill>
              </a:rPr>
              <a:t>2</a:t>
            </a:r>
            <a:endParaRPr lang="en-US" sz="1300" dirty="0"/>
          </a:p>
        </p:txBody>
      </p:sp>
      <p:sp>
        <p:nvSpPr>
          <p:cNvPr id="16" name="Text 14"/>
          <p:cNvSpPr txBox="1"/>
          <p:nvPr/>
        </p:nvSpPr>
        <p:spPr>
          <a:xfrm>
            <a:off x="3977640" y="1691640"/>
            <a:ext cx="4617720" cy="566928"/>
          </a:xfrm>
          <a:prstGeom prst="rect">
            <a:avLst/>
          </a:prstGeom>
          <a:noFill/>
          <a:ln/>
        </p:spPr>
        <p:txBody>
          <a:bodyPr wrap="square" lIns="0" tIns="0" rIns="0" bIns="0" rtlCol="0" anchor="ctr"/>
          <a:lstStyle/>
          <a:p>
            <a:pPr indent="0" marL="0">
              <a:buNone/>
            </a:pPr>
            <a:r>
              <a:rPr lang="en-US" sz="1250" b="1" dirty="0">
                <a:solidFill>
                  <a:schemeClr val="tx1"/>
                </a:solidFill>
              </a:rPr>
              <a:t>Lọc theo giá</a:t>
            </a:r>
            <a:endParaRPr lang="en-US" sz="1250" dirty="0"/>
          </a:p>
          <a:p>
            <a:pPr indent="0" marL="0">
              <a:buNone/>
            </a:pPr>
            <a:r>
              <a:rPr lang="en-US" sz="1100" dirty="0">
                <a:solidFill>
                  <a:schemeClr val="tx2"/>
                </a:solidFill>
              </a:rPr>
              <a:t>"Tìm cho tôi áo thể thao nam dưới 300k."</a:t>
            </a:r>
            <a:endParaRPr lang="en-US" sz="1250" dirty="0"/>
          </a:p>
        </p:txBody>
      </p:sp>
      <p:sp>
        <p:nvSpPr>
          <p:cNvPr id="17" name="card"/>
          <p:cNvSpPr/>
          <p:nvPr/>
        </p:nvSpPr>
        <p:spPr>
          <a:xfrm>
            <a:off x="3337560" y="2377440"/>
            <a:ext cx="5349240" cy="566928"/>
          </a:xfrm>
          <a:prstGeom prst="roundRect">
            <a:avLst>
              <a:gd name="adj" fmla="val 12903"/>
            </a:avLst>
          </a:prstGeom>
          <a:solidFill>
            <a:schemeClr val="bg2"/>
          </a:solidFill>
          <a:ln w="9525">
            <a:solidFill>
              <a:schemeClr val="bg2"/>
            </a:solidFill>
            <a:prstDash val="solid"/>
          </a:ln>
        </p:spPr>
      </p:sp>
      <p:sp>
        <p:nvSpPr>
          <p:cNvPr id="18" name="badge"/>
          <p:cNvSpPr/>
          <p:nvPr/>
        </p:nvSpPr>
        <p:spPr>
          <a:xfrm>
            <a:off x="3474720" y="2468880"/>
            <a:ext cx="384048" cy="384048"/>
          </a:xfrm>
          <a:prstGeom prst="ellipse">
            <a:avLst/>
          </a:prstGeom>
          <a:solidFill>
            <a:schemeClr val="accent1"/>
          </a:solidFill>
          <a:ln w="12700">
            <a:solidFill>
              <a:schemeClr val="accent1"/>
            </a:solidFill>
            <a:prstDash val="solid"/>
          </a:ln>
        </p:spPr>
      </p:sp>
      <p:sp>
        <p:nvSpPr>
          <p:cNvPr id="19" name="Text 17"/>
          <p:cNvSpPr txBox="1"/>
          <p:nvPr/>
        </p:nvSpPr>
        <p:spPr>
          <a:xfrm>
            <a:off x="3474720" y="2468880"/>
            <a:ext cx="384048" cy="384048"/>
          </a:xfrm>
          <a:prstGeom prst="rect">
            <a:avLst/>
          </a:prstGeom>
          <a:noFill/>
          <a:ln/>
        </p:spPr>
        <p:txBody>
          <a:bodyPr wrap="square" lIns="0" tIns="0" rIns="0" bIns="0" rtlCol="0" anchor="ctr"/>
          <a:lstStyle/>
          <a:p>
            <a:pPr algn="ctr" indent="0" marL="0">
              <a:buNone/>
            </a:pPr>
            <a:r>
              <a:rPr lang="en-US" sz="1300" b="1" dirty="0">
                <a:solidFill>
                  <a:schemeClr val="bg1"/>
                </a:solidFill>
              </a:rPr>
              <a:t>3</a:t>
            </a:r>
            <a:endParaRPr lang="en-US" sz="1300" dirty="0"/>
          </a:p>
        </p:txBody>
      </p:sp>
      <p:sp>
        <p:nvSpPr>
          <p:cNvPr id="20" name="Text 18"/>
          <p:cNvSpPr txBox="1"/>
          <p:nvPr/>
        </p:nvSpPr>
        <p:spPr>
          <a:xfrm>
            <a:off x="3977640" y="2377440"/>
            <a:ext cx="4617720" cy="566928"/>
          </a:xfrm>
          <a:prstGeom prst="rect">
            <a:avLst/>
          </a:prstGeom>
          <a:noFill/>
          <a:ln/>
        </p:spPr>
        <p:txBody>
          <a:bodyPr wrap="square" lIns="0" tIns="0" rIns="0" bIns="0" rtlCol="0" anchor="ctr"/>
          <a:lstStyle/>
          <a:p>
            <a:pPr indent="0" marL="0">
              <a:buNone/>
            </a:pPr>
            <a:r>
              <a:rPr lang="en-US" sz="1250" b="1" dirty="0">
                <a:solidFill>
                  <a:schemeClr val="tx1"/>
                </a:solidFill>
              </a:rPr>
              <a:t>Tư vấn size</a:t>
            </a:r>
            <a:endParaRPr lang="en-US" sz="1250" dirty="0"/>
          </a:p>
          <a:p>
            <a:pPr indent="0" marL="0">
              <a:buNone/>
            </a:pPr>
            <a:r>
              <a:rPr lang="en-US" sz="1100" dirty="0">
                <a:solidFill>
                  <a:schemeClr val="tx2"/>
                </a:solidFill>
              </a:rPr>
              <a:t>"Nam 1m75, 70kg nên mặc size gì?"</a:t>
            </a:r>
            <a:endParaRPr lang="en-US" sz="1250" dirty="0"/>
          </a:p>
        </p:txBody>
      </p:sp>
      <p:sp>
        <p:nvSpPr>
          <p:cNvPr id="21" name="card"/>
          <p:cNvSpPr/>
          <p:nvPr/>
        </p:nvSpPr>
        <p:spPr>
          <a:xfrm>
            <a:off x="3337560" y="3063240"/>
            <a:ext cx="5349240" cy="566928"/>
          </a:xfrm>
          <a:prstGeom prst="roundRect">
            <a:avLst>
              <a:gd name="adj" fmla="val 12903"/>
            </a:avLst>
          </a:prstGeom>
          <a:solidFill>
            <a:schemeClr val="bg2"/>
          </a:solidFill>
          <a:ln w="9525">
            <a:solidFill>
              <a:schemeClr val="bg2"/>
            </a:solidFill>
            <a:prstDash val="solid"/>
          </a:ln>
        </p:spPr>
      </p:sp>
      <p:sp>
        <p:nvSpPr>
          <p:cNvPr id="22" name="badge"/>
          <p:cNvSpPr/>
          <p:nvPr/>
        </p:nvSpPr>
        <p:spPr>
          <a:xfrm>
            <a:off x="3474720" y="3154680"/>
            <a:ext cx="384048" cy="384048"/>
          </a:xfrm>
          <a:prstGeom prst="ellipse">
            <a:avLst/>
          </a:prstGeom>
          <a:solidFill>
            <a:schemeClr val="accent1"/>
          </a:solidFill>
          <a:ln w="12700">
            <a:solidFill>
              <a:schemeClr val="accent1"/>
            </a:solidFill>
            <a:prstDash val="solid"/>
          </a:ln>
        </p:spPr>
      </p:sp>
      <p:sp>
        <p:nvSpPr>
          <p:cNvPr id="23" name="Text 21"/>
          <p:cNvSpPr txBox="1"/>
          <p:nvPr/>
        </p:nvSpPr>
        <p:spPr>
          <a:xfrm>
            <a:off x="3474720" y="3154680"/>
            <a:ext cx="384048" cy="384048"/>
          </a:xfrm>
          <a:prstGeom prst="rect">
            <a:avLst/>
          </a:prstGeom>
          <a:noFill/>
          <a:ln/>
        </p:spPr>
        <p:txBody>
          <a:bodyPr wrap="square" lIns="0" tIns="0" rIns="0" bIns="0" rtlCol="0" anchor="ctr"/>
          <a:lstStyle/>
          <a:p>
            <a:pPr algn="ctr" indent="0" marL="0">
              <a:buNone/>
            </a:pPr>
            <a:r>
              <a:rPr lang="en-US" sz="1300" b="1" dirty="0">
                <a:solidFill>
                  <a:schemeClr val="bg1"/>
                </a:solidFill>
              </a:rPr>
              <a:t>4</a:t>
            </a:r>
            <a:endParaRPr lang="en-US" sz="1300" dirty="0"/>
          </a:p>
        </p:txBody>
      </p:sp>
      <p:sp>
        <p:nvSpPr>
          <p:cNvPr id="24" name="Text 22"/>
          <p:cNvSpPr txBox="1"/>
          <p:nvPr/>
        </p:nvSpPr>
        <p:spPr>
          <a:xfrm>
            <a:off x="3977640" y="3063240"/>
            <a:ext cx="4617720" cy="566928"/>
          </a:xfrm>
          <a:prstGeom prst="rect">
            <a:avLst/>
          </a:prstGeom>
          <a:noFill/>
          <a:ln/>
        </p:spPr>
        <p:txBody>
          <a:bodyPr wrap="square" lIns="0" tIns="0" rIns="0" bIns="0" rtlCol="0" anchor="ctr"/>
          <a:lstStyle/>
          <a:p>
            <a:pPr indent="0" marL="0">
              <a:buNone/>
            </a:pPr>
            <a:r>
              <a:rPr lang="en-US" sz="1250" b="1" dirty="0">
                <a:solidFill>
                  <a:schemeClr val="tx1"/>
                </a:solidFill>
              </a:rPr>
              <a:t>Tư vấn theo nhu cầu</a:t>
            </a:r>
            <a:endParaRPr lang="en-US" sz="1250" dirty="0"/>
          </a:p>
          <a:p>
            <a:pPr indent="0" marL="0">
              <a:buNone/>
            </a:pPr>
            <a:r>
              <a:rPr lang="en-US" sz="1100" dirty="0">
                <a:solidFill>
                  <a:schemeClr val="tx2"/>
                </a:solidFill>
              </a:rPr>
              <a:t>"Tôi cần một bộ đồ để chạy bộ khoảng 500k."</a:t>
            </a:r>
            <a:endParaRPr lang="en-US" sz="1250" dirty="0"/>
          </a:p>
        </p:txBody>
      </p:sp>
      <p:sp>
        <p:nvSpPr>
          <p:cNvPr id="25" name="card"/>
          <p:cNvSpPr/>
          <p:nvPr/>
        </p:nvSpPr>
        <p:spPr>
          <a:xfrm>
            <a:off x="3337560" y="3749040"/>
            <a:ext cx="5349240" cy="566928"/>
          </a:xfrm>
          <a:prstGeom prst="roundRect">
            <a:avLst>
              <a:gd name="adj" fmla="val 12903"/>
            </a:avLst>
          </a:prstGeom>
          <a:solidFill>
            <a:schemeClr val="bg2"/>
          </a:solidFill>
          <a:ln w="9525">
            <a:solidFill>
              <a:schemeClr val="bg2"/>
            </a:solidFill>
            <a:prstDash val="solid"/>
          </a:ln>
        </p:spPr>
      </p:sp>
      <p:sp>
        <p:nvSpPr>
          <p:cNvPr id="26" name="badge"/>
          <p:cNvSpPr/>
          <p:nvPr/>
        </p:nvSpPr>
        <p:spPr>
          <a:xfrm>
            <a:off x="3474720" y="3840480"/>
            <a:ext cx="384048" cy="384048"/>
          </a:xfrm>
          <a:prstGeom prst="ellipse">
            <a:avLst/>
          </a:prstGeom>
          <a:solidFill>
            <a:schemeClr val="accent1"/>
          </a:solidFill>
          <a:ln w="12700">
            <a:solidFill>
              <a:schemeClr val="accent1"/>
            </a:solidFill>
            <a:prstDash val="solid"/>
          </a:ln>
        </p:spPr>
      </p:sp>
      <p:sp>
        <p:nvSpPr>
          <p:cNvPr id="27" name="Text 25"/>
          <p:cNvSpPr txBox="1"/>
          <p:nvPr/>
        </p:nvSpPr>
        <p:spPr>
          <a:xfrm>
            <a:off x="3474720" y="3840480"/>
            <a:ext cx="384048" cy="384048"/>
          </a:xfrm>
          <a:prstGeom prst="rect">
            <a:avLst/>
          </a:prstGeom>
          <a:noFill/>
          <a:ln/>
        </p:spPr>
        <p:txBody>
          <a:bodyPr wrap="square" lIns="0" tIns="0" rIns="0" bIns="0" rtlCol="0" anchor="ctr"/>
          <a:lstStyle/>
          <a:p>
            <a:pPr algn="ctr" indent="0" marL="0">
              <a:buNone/>
            </a:pPr>
            <a:r>
              <a:rPr lang="en-US" sz="1300" b="1" dirty="0">
                <a:solidFill>
                  <a:schemeClr val="bg1"/>
                </a:solidFill>
              </a:rPr>
              <a:t>5</a:t>
            </a:r>
            <a:endParaRPr lang="en-US" sz="1300" dirty="0"/>
          </a:p>
        </p:txBody>
      </p:sp>
      <p:sp>
        <p:nvSpPr>
          <p:cNvPr id="28" name="Text 26"/>
          <p:cNvSpPr txBox="1"/>
          <p:nvPr/>
        </p:nvSpPr>
        <p:spPr>
          <a:xfrm>
            <a:off x="3977640" y="3749040"/>
            <a:ext cx="4617720" cy="566928"/>
          </a:xfrm>
          <a:prstGeom prst="rect">
            <a:avLst/>
          </a:prstGeom>
          <a:noFill/>
          <a:ln/>
        </p:spPr>
        <p:txBody>
          <a:bodyPr wrap="square" lIns="0" tIns="0" rIns="0" bIns="0" rtlCol="0" anchor="ctr"/>
          <a:lstStyle/>
          <a:p>
            <a:pPr indent="0" marL="0">
              <a:buNone/>
            </a:pPr>
            <a:r>
              <a:rPr lang="en-US" sz="1250" b="1" dirty="0">
                <a:solidFill>
                  <a:schemeClr val="tx1"/>
                </a:solidFill>
              </a:rPr>
              <a:t>Nhiều điều kiện</a:t>
            </a:r>
            <a:endParaRPr lang="en-US" sz="1250" dirty="0"/>
          </a:p>
          <a:p>
            <a:pPr indent="0" marL="0">
              <a:buNone/>
            </a:pPr>
            <a:r>
              <a:rPr lang="en-US" sz="1100" dirty="0">
                <a:solidFill>
                  <a:schemeClr val="tx2"/>
                </a:solidFill>
              </a:rPr>
              <a:t>"Nam, cao 1m72 nặng 65kg, đồ chạy bộ màu đen dưới 500k."</a:t>
            </a:r>
            <a:endParaRPr lang="en-US" sz="1250" dirty="0"/>
          </a:p>
        </p:txBody>
      </p:sp>
      <p:sp>
        <p:nvSpPr>
          <p:cNvPr id="25" name="Slide Number Placeholder 0"/>
          <p:cNvSpPr>
            <a:spLocks noGrp="1"/>
          </p:cNvSpPr>
          <p:nvPr>
            <p:ph type="sldNum" sz="quarter" idx="4294967295"/>
          </p:nvPr>
        </p:nvSpPr>
        <p:spPr>
          <a:xfrm>
            <a:off x="8229600" y="4754880"/>
            <a:ext cx="457200" cy="274320"/>
          </a:xfrm>
          <a:prstGeom prst="rect">
            <a:avLst/>
          </a:prstGeom>
          <a:extLst>
            <a:ext uri="{C572A759-6A51-4108-AA02-DFA0A04FC94B}">
              <ma14:wrappingTextBoxFlag xmlns:ma14="http://schemas.microsoft.com/office/mac/drawingml/2011/main" val="0"/>
            </a:ext>
          </a:extLst>
        </p:spPr>
        <p:txBody>
          <a:bodyPr/>
          <a:lstStyle>
            <a:lvl1pPr>
              <a:defRPr sz="900">
                <a:solidFill>
                  <a:schemeClr val="accent4"/>
                </a:solidFill>
              </a:defRPr>
            </a:lvl1pPr>
          </a:lstStyle>
          <a:p>
            <a:pPr algn="r"/>
            <a:fld id="{F7021451-1387-4CA6-816F-3879F97B5CBC}" type="slidenum">
              <a:rPr b="0" lang="en-US"/>
              <a:t>8</a:t>
            </a:fld>
            <a:endParaRPr lang="en-US"/>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9">
    <p:spTree>
      <p:nvGrpSpPr>
        <p:cNvPr id="1" name=""/>
        <p:cNvGrpSpPr/>
        <p:nvPr/>
      </p:nvGrpSpPr>
      <p:grpSpPr>
        <a:xfrm>
          <a:off x="0" y="0"/>
          <a:ext cx="0" cy="0"/>
          <a:chOff x="0" y="0"/>
          <a:chExt cx="0" cy="0"/>
        </a:xfrm>
      </p:grpSpPr>
      <p:sp>
        <p:nvSpPr>
          <p:cNvPr id="2" name="Text 0"/>
          <p:cNvSpPr/>
          <p:nvPr>
            <p:ph idx="100" type="body" hasCustomPrompt="1"/>
          </p:nvPr>
        </p:nvSpPr>
        <p:spPr>
          <a:xfrm>
            <a:off x="640080" y="1097280"/>
            <a:ext cx="2743200" cy="1280160"/>
          </a:xfrm>
          <a:prstGeom prst="rect">
            <a:avLst/>
          </a:prstGeom>
          <a:noFill/>
          <a:ln/>
        </p:spPr>
        <p:txBody>
          <a:bodyPr wrap="square" lIns="0" tIns="0" rIns="0" bIns="0" rtlCol="0" anchor="b"/>
          <a:lstStyle/>
          <a:p>
            <a:pPr algn="l" indent="0" marL="0">
              <a:buNone/>
            </a:pPr>
            <a:r>
              <a:rPr lang="en-US" sz="9600" b="1" dirty="0">
                <a:solidFill>
                  <a:schemeClr val="accent1"/>
                </a:solidFill>
              </a:rPr>
              <a:t>03</a:t>
            </a:r>
            <a:endParaRPr lang="en-US" sz="9600" dirty="0"/>
          </a:p>
        </p:txBody>
      </p:sp>
      <p:sp>
        <p:nvSpPr>
          <p:cNvPr id="3" name="Text 0"/>
          <p:cNvSpPr/>
          <p:nvPr>
            <p:ph idx="101" type="title" hasCustomPrompt="1"/>
          </p:nvPr>
        </p:nvSpPr>
        <p:spPr>
          <a:xfrm>
            <a:off x="640080" y="2423160"/>
            <a:ext cx="7863840" cy="822960"/>
          </a:xfrm>
          <a:prstGeom prst="rect">
            <a:avLst/>
          </a:prstGeom>
          <a:noFill/>
          <a:ln/>
        </p:spPr>
        <p:txBody>
          <a:bodyPr wrap="square" lIns="0" tIns="0" rIns="0" bIns="0" rtlCol="0" anchor="t"/>
          <a:lstStyle/>
          <a:p>
            <a:pPr algn="l" indent="0" marL="0">
              <a:buNone/>
            </a:pPr>
            <a:r>
              <a:rPr lang="en-US" sz="3600" b="1" dirty="0">
                <a:solidFill>
                  <a:schemeClr val="bg1"/>
                </a:solidFill>
              </a:rPr>
              <a:t>Phân tích thiết kế</a:t>
            </a:r>
            <a:endParaRPr lang="en-US" sz="3600" dirty="0"/>
          </a:p>
        </p:txBody>
      </p:sp>
      <p:sp>
        <p:nvSpPr>
          <p:cNvPr id="4" name="Text 0"/>
          <p:cNvSpPr/>
          <p:nvPr>
            <p:ph idx="102" type="body" hasCustomPrompt="1"/>
          </p:nvPr>
        </p:nvSpPr>
        <p:spPr>
          <a:xfrm>
            <a:off x="640080" y="3246120"/>
            <a:ext cx="7863840" cy="548640"/>
          </a:xfrm>
          <a:prstGeom prst="rect">
            <a:avLst/>
          </a:prstGeom>
          <a:noFill/>
          <a:ln/>
        </p:spPr>
        <p:txBody>
          <a:bodyPr wrap="square" lIns="0" tIns="0" rIns="0" bIns="0" rtlCol="0" anchor="t"/>
          <a:lstStyle/>
          <a:p>
            <a:pPr algn="l" indent="0" marL="0">
              <a:buNone/>
            </a:pPr>
            <a:r>
              <a:rPr lang="en-US" sz="1600" dirty="0">
                <a:solidFill>
                  <a:schemeClr val="accent4"/>
                </a:solidFill>
              </a:rPr>
              <a:t>Kiến trúc, luồng xử lý và thuật toán gợi ý</a:t>
            </a:r>
            <a:endParaRPr lang="en-US" sz="1600" dirty="0"/>
          </a:p>
        </p:txBody>
      </p:sp>
      <p:sp>
        <p:nvSpPr>
          <p:cNvPr id="5" name="motif"/>
          <p:cNvSpPr/>
          <p:nvPr/>
        </p:nvSpPr>
        <p:spPr>
          <a:xfrm>
            <a:off x="6492240" y="-1097280"/>
            <a:ext cx="3840480" cy="3840480"/>
          </a:xfrm>
          <a:prstGeom prst="ellipse">
            <a:avLst/>
          </a:prstGeom>
          <a:solidFill>
            <a:schemeClr val="accent1">
              <a:alpha val="15000"/>
            </a:schemeClr>
          </a:solidFill>
          <a:ln w="12700">
            <a:solidFill>
              <a:schemeClr val="accent1">
                <a:alpha val="15000"/>
              </a:schemeClr>
            </a:solidFill>
            <a:prstDash val="solid"/>
          </a:ln>
        </p:spPr>
      </p:sp>
      <p:sp>
        <p:nvSpPr>
          <p:cNvPr id="6" name="motif-2"/>
          <p:cNvSpPr/>
          <p:nvPr/>
        </p:nvSpPr>
        <p:spPr>
          <a:xfrm>
            <a:off x="7498080" y="3566160"/>
            <a:ext cx="2194560" cy="2194560"/>
          </a:xfrm>
          <a:prstGeom prst="ellipse">
            <a:avLst/>
          </a:prstGeom>
          <a:solidFill>
            <a:schemeClr val="accent1">
              <a:alpha val="8000"/>
            </a:schemeClr>
          </a:solidFill>
          <a:ln w="12700">
            <a:solidFill>
              <a:schemeClr val="accent1">
                <a:alpha val="8000"/>
              </a:schemeClr>
            </a:solidFill>
            <a:prstDash val="solid"/>
          </a:ln>
        </p:spPr>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name="Slide 10">
    <p:spTree>
      <p:nvGrpSpPr>
        <p:cNvPr id="1" name=""/>
        <p:cNvGrpSpPr/>
        <p:nvPr/>
      </p:nvGrpSpPr>
      <p:grpSpPr>
        <a:xfrm>
          <a:off x="0" y="0"/>
          <a:ext cx="0" cy="0"/>
          <a:chOff x="0" y="0"/>
          <a:chExt cx="0" cy="0"/>
        </a:xfrm>
      </p:grpSpPr>
      <p:sp>
        <p:nvSpPr>
          <p:cNvPr id="2" name="Text 0"/>
          <p:cNvSpPr/>
          <p:nvPr>
            <p:ph idx="100" type="title" hasCustomPrompt="1"/>
          </p:nvPr>
        </p:nvSpPr>
        <p:spPr>
          <a:xfrm>
            <a:off x="457200" y="256032"/>
            <a:ext cx="8229600" cy="566928"/>
          </a:xfrm>
          <a:prstGeom prst="rect">
            <a:avLst/>
          </a:prstGeom>
          <a:noFill/>
          <a:ln/>
        </p:spPr>
        <p:txBody>
          <a:bodyPr wrap="square" lIns="0" tIns="0" rIns="0" bIns="0" rtlCol="0" anchor="ctr"/>
          <a:lstStyle/>
          <a:p>
            <a:pPr algn="l" indent="0" marL="0">
              <a:buNone/>
            </a:pPr>
            <a:r>
              <a:rPr lang="en-US" sz="2600" b="1" dirty="0">
                <a:solidFill>
                  <a:schemeClr val="tx1"/>
                </a:solidFill>
              </a:rPr>
              <a:t>Kiến trúc tổng thể</a:t>
            </a:r>
            <a:endParaRPr lang="en-US" sz="2600" dirty="0"/>
          </a:p>
        </p:txBody>
      </p:sp>
      <p:pic>
        <p:nvPicPr>
          <p:cNvPr id="3" name="img-kien-truc" descr="Sơ đồ kiến trúc tổng thể của chatbot">    </p:cNvPr>
          <p:cNvPicPr>
            <a:picLocks noChangeAspect="1"/>
          </p:cNvPicPr>
          <p:nvPr/>
        </p:nvPicPr>
        <p:blipFill>
          <a:blip r:embed="rId1"/>
          <a:stretch>
            <a:fillRect/>
          </a:stretch>
        </p:blipFill>
        <p:spPr>
          <a:xfrm>
            <a:off x="1642158" y="914400"/>
            <a:ext cx="5859684" cy="3703320"/>
          </a:xfrm>
          <a:prstGeom prst="rect">
            <a:avLst/>
          </a:prstGeom>
        </p:spPr>
      </p:pic>
      <p:sp>
        <p:nvSpPr>
          <p:cNvPr id="25" name="Slide Number Placeholder 0"/>
          <p:cNvSpPr>
            <a:spLocks noGrp="1"/>
          </p:cNvSpPr>
          <p:nvPr>
            <p:ph type="sldNum" sz="quarter" idx="4294967295"/>
          </p:nvPr>
        </p:nvSpPr>
        <p:spPr>
          <a:xfrm>
            <a:off x="8229600" y="4754880"/>
            <a:ext cx="457200" cy="274320"/>
          </a:xfrm>
          <a:prstGeom prst="rect">
            <a:avLst/>
          </a:prstGeom>
          <a:extLst>
            <a:ext uri="{C572A759-6A51-4108-AA02-DFA0A04FC94B}">
              <ma14:wrappingTextBoxFlag xmlns:ma14="http://schemas.microsoft.com/office/mac/drawingml/2011/main" val="0"/>
            </a:ext>
          </a:extLst>
        </p:spPr>
        <p:txBody>
          <a:bodyPr/>
          <a:lstStyle>
            <a:lvl1pPr>
              <a:defRPr sz="900">
                <a:solidFill>
                  <a:schemeClr val="accent4"/>
                </a:solidFill>
              </a:defRPr>
            </a:lvl1pPr>
          </a:lstStyle>
          <a:p>
            <a:pPr algn="r"/>
            <a:fld id="{F7021451-1387-4CA6-816F-3879F97B5CBC}" type="slidenum">
              <a:rPr b="0" lang="en-US"/>
              <a:t>10</a:t>
            </a:fld>
            <a:endParaRPr lang="en-US"/>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name="Slide 11">
    <p:spTree>
      <p:nvGrpSpPr>
        <p:cNvPr id="1" name=""/>
        <p:cNvGrpSpPr/>
        <p:nvPr/>
      </p:nvGrpSpPr>
      <p:grpSpPr>
        <a:xfrm>
          <a:off x="0" y="0"/>
          <a:ext cx="0" cy="0"/>
          <a:chOff x="0" y="0"/>
          <a:chExt cx="0" cy="0"/>
        </a:xfrm>
      </p:grpSpPr>
      <p:sp>
        <p:nvSpPr>
          <p:cNvPr id="2" name="Text 0"/>
          <p:cNvSpPr/>
          <p:nvPr>
            <p:ph idx="100" type="title" hasCustomPrompt="1"/>
          </p:nvPr>
        </p:nvSpPr>
        <p:spPr>
          <a:xfrm>
            <a:off x="457200" y="256032"/>
            <a:ext cx="8229600" cy="566928"/>
          </a:xfrm>
          <a:prstGeom prst="rect">
            <a:avLst/>
          </a:prstGeom>
          <a:noFill/>
          <a:ln/>
        </p:spPr>
        <p:txBody>
          <a:bodyPr wrap="square" lIns="0" tIns="0" rIns="0" bIns="0" rtlCol="0" anchor="ctr"/>
          <a:lstStyle/>
          <a:p>
            <a:pPr algn="l" indent="0" marL="0">
              <a:buNone/>
            </a:pPr>
            <a:r>
              <a:rPr lang="en-US" sz="2600" b="1" dirty="0">
                <a:solidFill>
                  <a:schemeClr val="tx1"/>
                </a:solidFill>
              </a:rPr>
              <a:t>Luồng xử lý một câu hỏi</a:t>
            </a:r>
            <a:endParaRPr lang="en-US" sz="2600" dirty="0"/>
          </a:p>
        </p:txBody>
      </p:sp>
      <p:sp>
        <p:nvSpPr>
          <p:cNvPr id="3" name="card"/>
          <p:cNvSpPr/>
          <p:nvPr/>
        </p:nvSpPr>
        <p:spPr>
          <a:xfrm>
            <a:off x="457200" y="1005840"/>
            <a:ext cx="1298448" cy="1325880"/>
          </a:xfrm>
          <a:prstGeom prst="roundRect">
            <a:avLst>
              <a:gd name="adj" fmla="val 5634"/>
            </a:avLst>
          </a:prstGeom>
          <a:solidFill>
            <a:schemeClr val="bg2"/>
          </a:solidFill>
          <a:ln w="9525">
            <a:solidFill>
              <a:schemeClr val="bg2"/>
            </a:solidFill>
            <a:prstDash val="solid"/>
          </a:ln>
        </p:spPr>
      </p:sp>
      <p:sp>
        <p:nvSpPr>
          <p:cNvPr id="4" name="badge"/>
          <p:cNvSpPr/>
          <p:nvPr/>
        </p:nvSpPr>
        <p:spPr>
          <a:xfrm>
            <a:off x="914400" y="1097280"/>
            <a:ext cx="384048" cy="384048"/>
          </a:xfrm>
          <a:prstGeom prst="ellipse">
            <a:avLst/>
          </a:prstGeom>
          <a:solidFill>
            <a:schemeClr val="accent1"/>
          </a:solidFill>
          <a:ln w="12700">
            <a:solidFill>
              <a:schemeClr val="accent1"/>
            </a:solidFill>
            <a:prstDash val="solid"/>
          </a:ln>
        </p:spPr>
      </p:sp>
      <p:sp>
        <p:nvSpPr>
          <p:cNvPr id="5" name="Text 3"/>
          <p:cNvSpPr txBox="1"/>
          <p:nvPr/>
        </p:nvSpPr>
        <p:spPr>
          <a:xfrm>
            <a:off x="914400" y="1097280"/>
            <a:ext cx="384048" cy="384048"/>
          </a:xfrm>
          <a:prstGeom prst="rect">
            <a:avLst/>
          </a:prstGeom>
          <a:noFill/>
          <a:ln/>
        </p:spPr>
        <p:txBody>
          <a:bodyPr wrap="square" lIns="0" tIns="0" rIns="0" bIns="0" rtlCol="0" anchor="ctr"/>
          <a:lstStyle/>
          <a:p>
            <a:pPr algn="ctr" indent="0" marL="0">
              <a:buNone/>
            </a:pPr>
            <a:r>
              <a:rPr lang="en-US" sz="1300" b="1" dirty="0">
                <a:solidFill>
                  <a:schemeClr val="bg1"/>
                </a:solidFill>
              </a:rPr>
              <a:t>1</a:t>
            </a:r>
            <a:endParaRPr lang="en-US" sz="1300" dirty="0"/>
          </a:p>
        </p:txBody>
      </p:sp>
      <p:sp>
        <p:nvSpPr>
          <p:cNvPr id="6" name="Text 4"/>
          <p:cNvSpPr txBox="1"/>
          <p:nvPr/>
        </p:nvSpPr>
        <p:spPr>
          <a:xfrm>
            <a:off x="502920" y="1554480"/>
            <a:ext cx="1207008" cy="329184"/>
          </a:xfrm>
          <a:prstGeom prst="rect">
            <a:avLst/>
          </a:prstGeom>
          <a:noFill/>
          <a:ln/>
        </p:spPr>
        <p:txBody>
          <a:bodyPr wrap="square" lIns="0" tIns="0" rIns="0" bIns="0" rtlCol="0" anchor="ctr"/>
          <a:lstStyle/>
          <a:p>
            <a:pPr algn="ctr" indent="0" marL="0">
              <a:buNone/>
            </a:pPr>
            <a:r>
              <a:rPr lang="en-US" sz="1300" b="1" dirty="0">
                <a:solidFill>
                  <a:schemeClr val="tx1"/>
                </a:solidFill>
              </a:rPr>
              <a:t>Nhận câu hỏi</a:t>
            </a:r>
            <a:endParaRPr lang="en-US" sz="1300" dirty="0"/>
          </a:p>
        </p:txBody>
      </p:sp>
      <p:sp>
        <p:nvSpPr>
          <p:cNvPr id="7" name="Text 5"/>
          <p:cNvSpPr txBox="1"/>
          <p:nvPr/>
        </p:nvSpPr>
        <p:spPr>
          <a:xfrm>
            <a:off x="502920" y="1883664"/>
            <a:ext cx="1207008" cy="384048"/>
          </a:xfrm>
          <a:prstGeom prst="rect">
            <a:avLst/>
          </a:prstGeom>
          <a:noFill/>
          <a:ln/>
        </p:spPr>
        <p:txBody>
          <a:bodyPr wrap="square" lIns="0" tIns="0" rIns="0" bIns="0" rtlCol="0" anchor="ctr"/>
          <a:lstStyle/>
          <a:p>
            <a:pPr algn="ctr" indent="0" marL="0">
              <a:buNone/>
            </a:pPr>
            <a:r>
              <a:rPr lang="en-US" sz="1050" dirty="0">
                <a:solidFill>
                  <a:schemeClr val="tx2"/>
                </a:solidFill>
              </a:rPr>
              <a:t>kiểm tra, lấy ngữ cảnh</a:t>
            </a:r>
            <a:endParaRPr lang="en-US" sz="1050" dirty="0"/>
          </a:p>
        </p:txBody>
      </p:sp>
      <p:sp>
        <p:nvSpPr>
          <p:cNvPr id="8" name="card"/>
          <p:cNvSpPr/>
          <p:nvPr/>
        </p:nvSpPr>
        <p:spPr>
          <a:xfrm>
            <a:off x="1865376" y="1005840"/>
            <a:ext cx="1298448" cy="1325880"/>
          </a:xfrm>
          <a:prstGeom prst="roundRect">
            <a:avLst>
              <a:gd name="adj" fmla="val 5634"/>
            </a:avLst>
          </a:prstGeom>
          <a:solidFill>
            <a:schemeClr val="accent5"/>
          </a:solidFill>
          <a:ln w="9525">
            <a:solidFill>
              <a:schemeClr val="accent5"/>
            </a:solidFill>
            <a:prstDash val="solid"/>
          </a:ln>
        </p:spPr>
      </p:sp>
      <p:sp>
        <p:nvSpPr>
          <p:cNvPr id="9" name="badge"/>
          <p:cNvSpPr/>
          <p:nvPr/>
        </p:nvSpPr>
        <p:spPr>
          <a:xfrm>
            <a:off x="2322576" y="1097280"/>
            <a:ext cx="384048" cy="384048"/>
          </a:xfrm>
          <a:prstGeom prst="ellipse">
            <a:avLst/>
          </a:prstGeom>
          <a:solidFill>
            <a:schemeClr val="accent1"/>
          </a:solidFill>
          <a:ln w="12700">
            <a:solidFill>
              <a:schemeClr val="accent1"/>
            </a:solidFill>
            <a:prstDash val="solid"/>
          </a:ln>
        </p:spPr>
      </p:sp>
      <p:sp>
        <p:nvSpPr>
          <p:cNvPr id="10" name="Text 8"/>
          <p:cNvSpPr txBox="1"/>
          <p:nvPr/>
        </p:nvSpPr>
        <p:spPr>
          <a:xfrm>
            <a:off x="2322576" y="1097280"/>
            <a:ext cx="384048" cy="384048"/>
          </a:xfrm>
          <a:prstGeom prst="rect">
            <a:avLst/>
          </a:prstGeom>
          <a:noFill/>
          <a:ln/>
        </p:spPr>
        <p:txBody>
          <a:bodyPr wrap="square" lIns="0" tIns="0" rIns="0" bIns="0" rtlCol="0" anchor="ctr"/>
          <a:lstStyle/>
          <a:p>
            <a:pPr algn="ctr" indent="0" marL="0">
              <a:buNone/>
            </a:pPr>
            <a:r>
              <a:rPr lang="en-US" sz="1300" b="1" dirty="0">
                <a:solidFill>
                  <a:schemeClr val="bg1"/>
                </a:solidFill>
              </a:rPr>
              <a:t>2</a:t>
            </a:r>
            <a:endParaRPr lang="en-US" sz="1300" dirty="0"/>
          </a:p>
        </p:txBody>
      </p:sp>
      <p:sp>
        <p:nvSpPr>
          <p:cNvPr id="11" name="Text 9"/>
          <p:cNvSpPr txBox="1"/>
          <p:nvPr/>
        </p:nvSpPr>
        <p:spPr>
          <a:xfrm>
            <a:off x="1911096" y="1554480"/>
            <a:ext cx="1207008" cy="329184"/>
          </a:xfrm>
          <a:prstGeom prst="rect">
            <a:avLst/>
          </a:prstGeom>
          <a:noFill/>
          <a:ln/>
        </p:spPr>
        <p:txBody>
          <a:bodyPr wrap="square" lIns="0" tIns="0" rIns="0" bIns="0" rtlCol="0" anchor="ctr"/>
          <a:lstStyle/>
          <a:p>
            <a:pPr algn="ctr" indent="0" marL="0">
              <a:buNone/>
            </a:pPr>
            <a:r>
              <a:rPr lang="en-US" sz="1300" b="1" dirty="0">
                <a:solidFill>
                  <a:schemeClr val="tx1"/>
                </a:solidFill>
              </a:rPr>
              <a:t>Hiểu câu hỏi</a:t>
            </a:r>
            <a:endParaRPr lang="en-US" sz="1300" dirty="0"/>
          </a:p>
        </p:txBody>
      </p:sp>
      <p:sp>
        <p:nvSpPr>
          <p:cNvPr id="12" name="Text 10"/>
          <p:cNvSpPr txBox="1"/>
          <p:nvPr/>
        </p:nvSpPr>
        <p:spPr>
          <a:xfrm>
            <a:off x="1911096" y="1883664"/>
            <a:ext cx="1207008" cy="384048"/>
          </a:xfrm>
          <a:prstGeom prst="rect">
            <a:avLst/>
          </a:prstGeom>
          <a:noFill/>
          <a:ln/>
        </p:spPr>
        <p:txBody>
          <a:bodyPr wrap="square" lIns="0" tIns="0" rIns="0" bIns="0" rtlCol="0" anchor="ctr"/>
          <a:lstStyle/>
          <a:p>
            <a:pPr algn="ctr" indent="0" marL="0">
              <a:buNone/>
            </a:pPr>
            <a:r>
              <a:rPr lang="en-US" sz="1050" dirty="0">
                <a:solidFill>
                  <a:schemeClr val="tx2"/>
                </a:solidFill>
              </a:rPr>
              <a:t>Gemini + NLP tiếng Việt</a:t>
            </a:r>
            <a:endParaRPr lang="en-US" sz="1050" dirty="0"/>
          </a:p>
        </p:txBody>
      </p:sp>
      <p:sp>
        <p:nvSpPr>
          <p:cNvPr id="13" name="card"/>
          <p:cNvSpPr/>
          <p:nvPr/>
        </p:nvSpPr>
        <p:spPr>
          <a:xfrm>
            <a:off x="3273552" y="1005840"/>
            <a:ext cx="1298448" cy="1325880"/>
          </a:xfrm>
          <a:prstGeom prst="roundRect">
            <a:avLst>
              <a:gd name="adj" fmla="val 5634"/>
            </a:avLst>
          </a:prstGeom>
          <a:solidFill>
            <a:schemeClr val="bg2"/>
          </a:solidFill>
          <a:ln w="9525">
            <a:solidFill>
              <a:schemeClr val="bg2"/>
            </a:solidFill>
            <a:prstDash val="solid"/>
          </a:ln>
        </p:spPr>
      </p:sp>
      <p:sp>
        <p:nvSpPr>
          <p:cNvPr id="14" name="badge"/>
          <p:cNvSpPr/>
          <p:nvPr/>
        </p:nvSpPr>
        <p:spPr>
          <a:xfrm>
            <a:off x="3730752" y="1097280"/>
            <a:ext cx="384048" cy="384048"/>
          </a:xfrm>
          <a:prstGeom prst="ellipse">
            <a:avLst/>
          </a:prstGeom>
          <a:solidFill>
            <a:schemeClr val="accent1"/>
          </a:solidFill>
          <a:ln w="12700">
            <a:solidFill>
              <a:schemeClr val="accent1"/>
            </a:solidFill>
            <a:prstDash val="solid"/>
          </a:ln>
        </p:spPr>
      </p:sp>
      <p:sp>
        <p:nvSpPr>
          <p:cNvPr id="15" name="Text 13"/>
          <p:cNvSpPr txBox="1"/>
          <p:nvPr/>
        </p:nvSpPr>
        <p:spPr>
          <a:xfrm>
            <a:off x="3730752" y="1097280"/>
            <a:ext cx="384048" cy="384048"/>
          </a:xfrm>
          <a:prstGeom prst="rect">
            <a:avLst/>
          </a:prstGeom>
          <a:noFill/>
          <a:ln/>
        </p:spPr>
        <p:txBody>
          <a:bodyPr wrap="square" lIns="0" tIns="0" rIns="0" bIns="0" rtlCol="0" anchor="ctr"/>
          <a:lstStyle/>
          <a:p>
            <a:pPr algn="ctr" indent="0" marL="0">
              <a:buNone/>
            </a:pPr>
            <a:r>
              <a:rPr lang="en-US" sz="1300" b="1" dirty="0">
                <a:solidFill>
                  <a:schemeClr val="bg1"/>
                </a:solidFill>
              </a:rPr>
              <a:t>3</a:t>
            </a:r>
            <a:endParaRPr lang="en-US" sz="1300" dirty="0"/>
          </a:p>
        </p:txBody>
      </p:sp>
      <p:sp>
        <p:nvSpPr>
          <p:cNvPr id="16" name="Text 14"/>
          <p:cNvSpPr txBox="1"/>
          <p:nvPr/>
        </p:nvSpPr>
        <p:spPr>
          <a:xfrm>
            <a:off x="3319272" y="1554480"/>
            <a:ext cx="1207008" cy="329184"/>
          </a:xfrm>
          <a:prstGeom prst="rect">
            <a:avLst/>
          </a:prstGeom>
          <a:noFill/>
          <a:ln/>
        </p:spPr>
        <p:txBody>
          <a:bodyPr wrap="square" lIns="0" tIns="0" rIns="0" bIns="0" rtlCol="0" anchor="ctr"/>
          <a:lstStyle/>
          <a:p>
            <a:pPr algn="ctr" indent="0" marL="0">
              <a:buNone/>
            </a:pPr>
            <a:r>
              <a:rPr lang="en-US" sz="1300" b="1" dirty="0">
                <a:solidFill>
                  <a:schemeClr val="tx1"/>
                </a:solidFill>
              </a:rPr>
              <a:t>Tư vấn size</a:t>
            </a:r>
            <a:endParaRPr lang="en-US" sz="1300" dirty="0"/>
          </a:p>
        </p:txBody>
      </p:sp>
      <p:sp>
        <p:nvSpPr>
          <p:cNvPr id="17" name="Text 15"/>
          <p:cNvSpPr txBox="1"/>
          <p:nvPr/>
        </p:nvSpPr>
        <p:spPr>
          <a:xfrm>
            <a:off x="3319272" y="1883664"/>
            <a:ext cx="1207008" cy="384048"/>
          </a:xfrm>
          <a:prstGeom prst="rect">
            <a:avLst/>
          </a:prstGeom>
          <a:noFill/>
          <a:ln/>
        </p:spPr>
        <p:txBody>
          <a:bodyPr wrap="square" lIns="0" tIns="0" rIns="0" bIns="0" rtlCol="0" anchor="ctr"/>
          <a:lstStyle/>
          <a:p>
            <a:pPr algn="ctr" indent="0" marL="0">
              <a:buNone/>
            </a:pPr>
            <a:r>
              <a:rPr lang="en-US" sz="1050" dirty="0">
                <a:solidFill>
                  <a:schemeClr val="tx2"/>
                </a:solidFill>
              </a:rPr>
              <a:t>tra bảng size</a:t>
            </a:r>
            <a:endParaRPr lang="en-US" sz="1050" dirty="0"/>
          </a:p>
        </p:txBody>
      </p:sp>
      <p:sp>
        <p:nvSpPr>
          <p:cNvPr id="18" name="card"/>
          <p:cNvSpPr/>
          <p:nvPr/>
        </p:nvSpPr>
        <p:spPr>
          <a:xfrm>
            <a:off x="4681728" y="1005840"/>
            <a:ext cx="1298448" cy="1325880"/>
          </a:xfrm>
          <a:prstGeom prst="roundRect">
            <a:avLst>
              <a:gd name="adj" fmla="val 5634"/>
            </a:avLst>
          </a:prstGeom>
          <a:solidFill>
            <a:schemeClr val="accent5"/>
          </a:solidFill>
          <a:ln w="9525">
            <a:solidFill>
              <a:schemeClr val="accent5"/>
            </a:solidFill>
            <a:prstDash val="solid"/>
          </a:ln>
        </p:spPr>
      </p:sp>
      <p:sp>
        <p:nvSpPr>
          <p:cNvPr id="19" name="badge"/>
          <p:cNvSpPr/>
          <p:nvPr/>
        </p:nvSpPr>
        <p:spPr>
          <a:xfrm>
            <a:off x="5138928" y="1097280"/>
            <a:ext cx="384048" cy="384048"/>
          </a:xfrm>
          <a:prstGeom prst="ellipse">
            <a:avLst/>
          </a:prstGeom>
          <a:solidFill>
            <a:schemeClr val="accent1"/>
          </a:solidFill>
          <a:ln w="12700">
            <a:solidFill>
              <a:schemeClr val="accent1"/>
            </a:solidFill>
            <a:prstDash val="solid"/>
          </a:ln>
        </p:spPr>
      </p:sp>
      <p:sp>
        <p:nvSpPr>
          <p:cNvPr id="20" name="Text 18"/>
          <p:cNvSpPr txBox="1"/>
          <p:nvPr/>
        </p:nvSpPr>
        <p:spPr>
          <a:xfrm>
            <a:off x="5138928" y="1097280"/>
            <a:ext cx="384048" cy="384048"/>
          </a:xfrm>
          <a:prstGeom prst="rect">
            <a:avLst/>
          </a:prstGeom>
          <a:noFill/>
          <a:ln/>
        </p:spPr>
        <p:txBody>
          <a:bodyPr wrap="square" lIns="0" tIns="0" rIns="0" bIns="0" rtlCol="0" anchor="ctr"/>
          <a:lstStyle/>
          <a:p>
            <a:pPr algn="ctr" indent="0" marL="0">
              <a:buNone/>
            </a:pPr>
            <a:r>
              <a:rPr lang="en-US" sz="1300" b="1" dirty="0">
                <a:solidFill>
                  <a:schemeClr val="bg1"/>
                </a:solidFill>
              </a:rPr>
              <a:t>4</a:t>
            </a:r>
            <a:endParaRPr lang="en-US" sz="1300" dirty="0"/>
          </a:p>
        </p:txBody>
      </p:sp>
      <p:sp>
        <p:nvSpPr>
          <p:cNvPr id="21" name="Text 19"/>
          <p:cNvSpPr txBox="1"/>
          <p:nvPr/>
        </p:nvSpPr>
        <p:spPr>
          <a:xfrm>
            <a:off x="4727448" y="1554480"/>
            <a:ext cx="1207008" cy="329184"/>
          </a:xfrm>
          <a:prstGeom prst="rect">
            <a:avLst/>
          </a:prstGeom>
          <a:noFill/>
          <a:ln/>
        </p:spPr>
        <p:txBody>
          <a:bodyPr wrap="square" lIns="0" tIns="0" rIns="0" bIns="0" rtlCol="0" anchor="ctr"/>
          <a:lstStyle/>
          <a:p>
            <a:pPr algn="ctr" indent="0" marL="0">
              <a:buNone/>
            </a:pPr>
            <a:r>
              <a:rPr lang="en-US" sz="1300" b="1" dirty="0">
                <a:solidFill>
                  <a:schemeClr val="tx1"/>
                </a:solidFill>
              </a:rPr>
              <a:t>Tìm trong kho</a:t>
            </a:r>
            <a:endParaRPr lang="en-US" sz="1300" dirty="0"/>
          </a:p>
        </p:txBody>
      </p:sp>
      <p:sp>
        <p:nvSpPr>
          <p:cNvPr id="22" name="Text 20"/>
          <p:cNvSpPr txBox="1"/>
          <p:nvPr/>
        </p:nvSpPr>
        <p:spPr>
          <a:xfrm>
            <a:off x="4727448" y="1883664"/>
            <a:ext cx="1207008" cy="384048"/>
          </a:xfrm>
          <a:prstGeom prst="rect">
            <a:avLst/>
          </a:prstGeom>
          <a:noFill/>
          <a:ln/>
        </p:spPr>
        <p:txBody>
          <a:bodyPr wrap="square" lIns="0" tIns="0" rIns="0" bIns="0" rtlCol="0" anchor="ctr"/>
          <a:lstStyle/>
          <a:p>
            <a:pPr algn="ctr" indent="0" marL="0">
              <a:buNone/>
            </a:pPr>
            <a:r>
              <a:rPr lang="en-US" sz="1050" dirty="0">
                <a:solidFill>
                  <a:schemeClr val="tx2"/>
                </a:solidFill>
              </a:rPr>
              <a:t>lọc, xếp hạng, phối đồ</a:t>
            </a:r>
            <a:endParaRPr lang="en-US" sz="1050" dirty="0"/>
          </a:p>
        </p:txBody>
      </p:sp>
      <p:sp>
        <p:nvSpPr>
          <p:cNvPr id="23" name="card"/>
          <p:cNvSpPr/>
          <p:nvPr/>
        </p:nvSpPr>
        <p:spPr>
          <a:xfrm>
            <a:off x="6089904" y="1005840"/>
            <a:ext cx="1298448" cy="1325880"/>
          </a:xfrm>
          <a:prstGeom prst="roundRect">
            <a:avLst>
              <a:gd name="adj" fmla="val 5634"/>
            </a:avLst>
          </a:prstGeom>
          <a:solidFill>
            <a:schemeClr val="bg2"/>
          </a:solidFill>
          <a:ln w="9525">
            <a:solidFill>
              <a:schemeClr val="bg2"/>
            </a:solidFill>
            <a:prstDash val="solid"/>
          </a:ln>
        </p:spPr>
      </p:sp>
      <p:sp>
        <p:nvSpPr>
          <p:cNvPr id="24" name="badge"/>
          <p:cNvSpPr/>
          <p:nvPr/>
        </p:nvSpPr>
        <p:spPr>
          <a:xfrm>
            <a:off x="6547104" y="1097280"/>
            <a:ext cx="384048" cy="384048"/>
          </a:xfrm>
          <a:prstGeom prst="ellipse">
            <a:avLst/>
          </a:prstGeom>
          <a:solidFill>
            <a:schemeClr val="accent1"/>
          </a:solidFill>
          <a:ln w="12700">
            <a:solidFill>
              <a:schemeClr val="accent1"/>
            </a:solidFill>
            <a:prstDash val="solid"/>
          </a:ln>
        </p:spPr>
      </p:sp>
      <p:sp>
        <p:nvSpPr>
          <p:cNvPr id="25" name="Text 23"/>
          <p:cNvSpPr txBox="1"/>
          <p:nvPr/>
        </p:nvSpPr>
        <p:spPr>
          <a:xfrm>
            <a:off x="6547104" y="1097280"/>
            <a:ext cx="384048" cy="384048"/>
          </a:xfrm>
          <a:prstGeom prst="rect">
            <a:avLst/>
          </a:prstGeom>
          <a:noFill/>
          <a:ln/>
        </p:spPr>
        <p:txBody>
          <a:bodyPr wrap="square" lIns="0" tIns="0" rIns="0" bIns="0" rtlCol="0" anchor="ctr"/>
          <a:lstStyle/>
          <a:p>
            <a:pPr algn="ctr" indent="0" marL="0">
              <a:buNone/>
            </a:pPr>
            <a:r>
              <a:rPr lang="en-US" sz="1300" b="1" dirty="0">
                <a:solidFill>
                  <a:schemeClr val="bg1"/>
                </a:solidFill>
              </a:rPr>
              <a:t>5</a:t>
            </a:r>
            <a:endParaRPr lang="en-US" sz="1300" dirty="0"/>
          </a:p>
        </p:txBody>
      </p:sp>
      <p:sp>
        <p:nvSpPr>
          <p:cNvPr id="26" name="Text 24"/>
          <p:cNvSpPr txBox="1"/>
          <p:nvPr/>
        </p:nvSpPr>
        <p:spPr>
          <a:xfrm>
            <a:off x="6135624" y="1554480"/>
            <a:ext cx="1207008" cy="329184"/>
          </a:xfrm>
          <a:prstGeom prst="rect">
            <a:avLst/>
          </a:prstGeom>
          <a:noFill/>
          <a:ln/>
        </p:spPr>
        <p:txBody>
          <a:bodyPr wrap="square" lIns="0" tIns="0" rIns="0" bIns="0" rtlCol="0" anchor="ctr"/>
          <a:lstStyle/>
          <a:p>
            <a:pPr algn="ctr" indent="0" marL="0">
              <a:buNone/>
            </a:pPr>
            <a:r>
              <a:rPr lang="en-US" sz="1300" b="1" dirty="0">
                <a:solidFill>
                  <a:schemeClr val="tx1"/>
                </a:solidFill>
              </a:rPr>
              <a:t>Soạn trả lời</a:t>
            </a:r>
            <a:endParaRPr lang="en-US" sz="1300" dirty="0"/>
          </a:p>
        </p:txBody>
      </p:sp>
      <p:sp>
        <p:nvSpPr>
          <p:cNvPr id="27" name="Text 25"/>
          <p:cNvSpPr txBox="1"/>
          <p:nvPr/>
        </p:nvSpPr>
        <p:spPr>
          <a:xfrm>
            <a:off x="6135624" y="1883664"/>
            <a:ext cx="1207008" cy="384048"/>
          </a:xfrm>
          <a:prstGeom prst="rect">
            <a:avLst/>
          </a:prstGeom>
          <a:noFill/>
          <a:ln/>
        </p:spPr>
        <p:txBody>
          <a:bodyPr wrap="square" lIns="0" tIns="0" rIns="0" bIns="0" rtlCol="0" anchor="ctr"/>
          <a:lstStyle/>
          <a:p>
            <a:pPr algn="ctr" indent="0" marL="0">
              <a:buNone/>
            </a:pPr>
            <a:r>
              <a:rPr lang="en-US" sz="1050" dirty="0">
                <a:solidFill>
                  <a:schemeClr val="tx2"/>
                </a:solidFill>
              </a:rPr>
              <a:t>chỉ từ dữ liệu thật</a:t>
            </a:r>
            <a:endParaRPr lang="en-US" sz="1050" dirty="0"/>
          </a:p>
        </p:txBody>
      </p:sp>
      <p:sp>
        <p:nvSpPr>
          <p:cNvPr id="28" name="card"/>
          <p:cNvSpPr/>
          <p:nvPr/>
        </p:nvSpPr>
        <p:spPr>
          <a:xfrm>
            <a:off x="7498080" y="1005840"/>
            <a:ext cx="1298448" cy="1325880"/>
          </a:xfrm>
          <a:prstGeom prst="roundRect">
            <a:avLst>
              <a:gd name="adj" fmla="val 5634"/>
            </a:avLst>
          </a:prstGeom>
          <a:solidFill>
            <a:schemeClr val="bg2"/>
          </a:solidFill>
          <a:ln w="9525">
            <a:solidFill>
              <a:schemeClr val="bg2"/>
            </a:solidFill>
            <a:prstDash val="solid"/>
          </a:ln>
        </p:spPr>
      </p:sp>
      <p:sp>
        <p:nvSpPr>
          <p:cNvPr id="29" name="badge"/>
          <p:cNvSpPr/>
          <p:nvPr/>
        </p:nvSpPr>
        <p:spPr>
          <a:xfrm>
            <a:off x="7955280" y="1097280"/>
            <a:ext cx="384048" cy="384048"/>
          </a:xfrm>
          <a:prstGeom prst="ellipse">
            <a:avLst/>
          </a:prstGeom>
          <a:solidFill>
            <a:schemeClr val="accent1"/>
          </a:solidFill>
          <a:ln w="12700">
            <a:solidFill>
              <a:schemeClr val="accent1"/>
            </a:solidFill>
            <a:prstDash val="solid"/>
          </a:ln>
        </p:spPr>
      </p:sp>
      <p:sp>
        <p:nvSpPr>
          <p:cNvPr id="30" name="Text 28"/>
          <p:cNvSpPr txBox="1"/>
          <p:nvPr/>
        </p:nvSpPr>
        <p:spPr>
          <a:xfrm>
            <a:off x="7955280" y="1097280"/>
            <a:ext cx="384048" cy="384048"/>
          </a:xfrm>
          <a:prstGeom prst="rect">
            <a:avLst/>
          </a:prstGeom>
          <a:noFill/>
          <a:ln/>
        </p:spPr>
        <p:txBody>
          <a:bodyPr wrap="square" lIns="0" tIns="0" rIns="0" bIns="0" rtlCol="0" anchor="ctr"/>
          <a:lstStyle/>
          <a:p>
            <a:pPr algn="ctr" indent="0" marL="0">
              <a:buNone/>
            </a:pPr>
            <a:r>
              <a:rPr lang="en-US" sz="1300" b="1" dirty="0">
                <a:solidFill>
                  <a:schemeClr val="bg1"/>
                </a:solidFill>
              </a:rPr>
              <a:t>6</a:t>
            </a:r>
            <a:endParaRPr lang="en-US" sz="1300" dirty="0"/>
          </a:p>
        </p:txBody>
      </p:sp>
      <p:sp>
        <p:nvSpPr>
          <p:cNvPr id="31" name="Text 29"/>
          <p:cNvSpPr txBox="1"/>
          <p:nvPr/>
        </p:nvSpPr>
        <p:spPr>
          <a:xfrm>
            <a:off x="7543800" y="1554480"/>
            <a:ext cx="1207008" cy="329184"/>
          </a:xfrm>
          <a:prstGeom prst="rect">
            <a:avLst/>
          </a:prstGeom>
          <a:noFill/>
          <a:ln/>
        </p:spPr>
        <p:txBody>
          <a:bodyPr wrap="square" lIns="0" tIns="0" rIns="0" bIns="0" rtlCol="0" anchor="ctr"/>
          <a:lstStyle/>
          <a:p>
            <a:pPr algn="ctr" indent="0" marL="0">
              <a:buNone/>
            </a:pPr>
            <a:r>
              <a:rPr lang="en-US" sz="1300" b="1" dirty="0">
                <a:solidFill>
                  <a:schemeClr val="tx1"/>
                </a:solidFill>
              </a:rPr>
              <a:t>Hiển thị</a:t>
            </a:r>
            <a:endParaRPr lang="en-US" sz="1300" dirty="0"/>
          </a:p>
        </p:txBody>
      </p:sp>
      <p:sp>
        <p:nvSpPr>
          <p:cNvPr id="32" name="Text 30"/>
          <p:cNvSpPr txBox="1"/>
          <p:nvPr/>
        </p:nvSpPr>
        <p:spPr>
          <a:xfrm>
            <a:off x="7543800" y="1883664"/>
            <a:ext cx="1207008" cy="384048"/>
          </a:xfrm>
          <a:prstGeom prst="rect">
            <a:avLst/>
          </a:prstGeom>
          <a:noFill/>
          <a:ln/>
        </p:spPr>
        <p:txBody>
          <a:bodyPr wrap="square" lIns="0" tIns="0" rIns="0" bIns="0" rtlCol="0" anchor="ctr"/>
          <a:lstStyle/>
          <a:p>
            <a:pPr algn="ctr" indent="0" marL="0">
              <a:buNone/>
            </a:pPr>
            <a:r>
              <a:rPr lang="en-US" sz="1050" dirty="0">
                <a:solidFill>
                  <a:schemeClr val="tx2"/>
                </a:solidFill>
              </a:rPr>
              <a:t>thẻ sản phẩm → mua</a:t>
            </a:r>
            <a:endParaRPr lang="en-US" sz="1050" dirty="0"/>
          </a:p>
        </p:txBody>
      </p:sp>
      <p:sp>
        <p:nvSpPr>
          <p:cNvPr id="33" name="Text 31"/>
          <p:cNvSpPr txBox="1"/>
          <p:nvPr/>
        </p:nvSpPr>
        <p:spPr>
          <a:xfrm>
            <a:off x="457200" y="2606040"/>
            <a:ext cx="8229600" cy="320040"/>
          </a:xfrm>
          <a:prstGeom prst="rect">
            <a:avLst/>
          </a:prstGeom>
          <a:noFill/>
          <a:ln/>
        </p:spPr>
        <p:txBody>
          <a:bodyPr wrap="square" lIns="0" tIns="0" rIns="0" bIns="0" rtlCol="0" anchor="ctr"/>
          <a:lstStyle/>
          <a:p>
            <a:pPr indent="0" marL="0">
              <a:buNone/>
            </a:pPr>
            <a:r>
              <a:rPr lang="en-US" sz="1300" b="1" dirty="0">
                <a:solidFill>
                  <a:schemeClr val="tx1"/>
                </a:solidFill>
              </a:rPr>
              <a:t>Ví dụ – Demo 5: "Tôi là nam, cao 1m72 nặng 65kg, muốn mua đồ chạy bộ màu đen dưới 500k."</a:t>
            </a:r>
            <a:endParaRPr lang="en-US" sz="1300" dirty="0"/>
          </a:p>
        </p:txBody>
      </p:sp>
      <p:sp>
        <p:nvSpPr>
          <p:cNvPr id="34" name="Text 32"/>
          <p:cNvSpPr txBox="1"/>
          <p:nvPr/>
        </p:nvSpPr>
        <p:spPr>
          <a:xfrm>
            <a:off x="457200" y="2971800"/>
            <a:ext cx="8229600" cy="274320"/>
          </a:xfrm>
          <a:prstGeom prst="rect">
            <a:avLst/>
          </a:prstGeom>
          <a:noFill/>
          <a:ln/>
        </p:spPr>
        <p:txBody>
          <a:bodyPr wrap="square" lIns="0" tIns="0" rIns="0" bIns="0" rtlCol="0" anchor="ctr"/>
          <a:lstStyle/>
          <a:p>
            <a:pPr indent="0" marL="0">
              <a:buNone/>
            </a:pPr>
            <a:r>
              <a:rPr lang="en-US" sz="1200" dirty="0">
                <a:solidFill>
                  <a:schemeClr val="tx2"/>
                </a:solidFill>
              </a:rPr>
              <a:t>"Phiếu yêu cầu" AI phân tích được:</a:t>
            </a:r>
            <a:endParaRPr lang="en-US" sz="1200" dirty="0"/>
          </a:p>
        </p:txBody>
      </p:sp>
      <p:sp>
        <p:nvSpPr>
          <p:cNvPr id="35" name="chip"/>
          <p:cNvSpPr/>
          <p:nvPr/>
        </p:nvSpPr>
        <p:spPr>
          <a:xfrm>
            <a:off x="457200" y="3310128"/>
            <a:ext cx="1417320" cy="384048"/>
          </a:xfrm>
          <a:prstGeom prst="roundRect">
            <a:avLst>
              <a:gd name="adj" fmla="val 50000"/>
            </a:avLst>
          </a:prstGeom>
          <a:solidFill>
            <a:schemeClr val="bg1"/>
          </a:solidFill>
          <a:ln w="12700">
            <a:solidFill>
              <a:schemeClr val="accent1"/>
            </a:solidFill>
            <a:prstDash val="solid"/>
          </a:ln>
        </p:spPr>
      </p:sp>
      <p:sp>
        <p:nvSpPr>
          <p:cNvPr id="36" name="Text 34"/>
          <p:cNvSpPr txBox="1"/>
          <p:nvPr/>
        </p:nvSpPr>
        <p:spPr>
          <a:xfrm>
            <a:off x="457200" y="3310128"/>
            <a:ext cx="1417320" cy="384048"/>
          </a:xfrm>
          <a:prstGeom prst="rect">
            <a:avLst/>
          </a:prstGeom>
          <a:noFill/>
          <a:ln/>
        </p:spPr>
        <p:txBody>
          <a:bodyPr wrap="square" lIns="0" tIns="0" rIns="0" bIns="0" rtlCol="0" anchor="ctr"/>
          <a:lstStyle/>
          <a:p>
            <a:pPr algn="ctr" indent="0" marL="0">
              <a:buNone/>
            </a:pPr>
            <a:r>
              <a:rPr lang="en-US" sz="1200" b="1" dirty="0">
                <a:solidFill>
                  <a:schemeClr val="accent1"/>
                </a:solidFill>
              </a:rPr>
              <a:t>Giới tính: Nam</a:t>
            </a:r>
            <a:endParaRPr lang="en-US" sz="1200" dirty="0"/>
          </a:p>
        </p:txBody>
      </p:sp>
      <p:sp>
        <p:nvSpPr>
          <p:cNvPr id="37" name="chip"/>
          <p:cNvSpPr/>
          <p:nvPr/>
        </p:nvSpPr>
        <p:spPr>
          <a:xfrm>
            <a:off x="2011680" y="3310128"/>
            <a:ext cx="1243584" cy="384048"/>
          </a:xfrm>
          <a:prstGeom prst="roundRect">
            <a:avLst>
              <a:gd name="adj" fmla="val 50000"/>
            </a:avLst>
          </a:prstGeom>
          <a:solidFill>
            <a:schemeClr val="bg1"/>
          </a:solidFill>
          <a:ln w="12700">
            <a:solidFill>
              <a:schemeClr val="accent1"/>
            </a:solidFill>
            <a:prstDash val="solid"/>
          </a:ln>
        </p:spPr>
      </p:sp>
      <p:sp>
        <p:nvSpPr>
          <p:cNvPr id="38" name="Text 36"/>
          <p:cNvSpPr txBox="1"/>
          <p:nvPr/>
        </p:nvSpPr>
        <p:spPr>
          <a:xfrm>
            <a:off x="2011680" y="3310128"/>
            <a:ext cx="1243584" cy="384048"/>
          </a:xfrm>
          <a:prstGeom prst="rect">
            <a:avLst/>
          </a:prstGeom>
          <a:noFill/>
          <a:ln/>
        </p:spPr>
        <p:txBody>
          <a:bodyPr wrap="square" lIns="0" tIns="0" rIns="0" bIns="0" rtlCol="0" anchor="ctr"/>
          <a:lstStyle/>
          <a:p>
            <a:pPr algn="ctr" indent="0" marL="0">
              <a:buNone/>
            </a:pPr>
            <a:r>
              <a:rPr lang="en-US" sz="1200" b="1" dirty="0">
                <a:solidFill>
                  <a:schemeClr val="accent1"/>
                </a:solidFill>
              </a:rPr>
              <a:t>Môn: Chạy bộ</a:t>
            </a:r>
            <a:endParaRPr lang="en-US" sz="1200" dirty="0"/>
          </a:p>
        </p:txBody>
      </p:sp>
      <p:sp>
        <p:nvSpPr>
          <p:cNvPr id="39" name="chip"/>
          <p:cNvSpPr/>
          <p:nvPr/>
        </p:nvSpPr>
        <p:spPr>
          <a:xfrm>
            <a:off x="3392424" y="3310128"/>
            <a:ext cx="896112" cy="384048"/>
          </a:xfrm>
          <a:prstGeom prst="roundRect">
            <a:avLst>
              <a:gd name="adj" fmla="val 50000"/>
            </a:avLst>
          </a:prstGeom>
          <a:solidFill>
            <a:schemeClr val="bg1"/>
          </a:solidFill>
          <a:ln w="12700">
            <a:solidFill>
              <a:schemeClr val="accent1"/>
            </a:solidFill>
            <a:prstDash val="solid"/>
          </a:ln>
        </p:spPr>
      </p:sp>
      <p:sp>
        <p:nvSpPr>
          <p:cNvPr id="40" name="Text 38"/>
          <p:cNvSpPr txBox="1"/>
          <p:nvPr/>
        </p:nvSpPr>
        <p:spPr>
          <a:xfrm>
            <a:off x="3392424" y="3310128"/>
            <a:ext cx="896112" cy="384048"/>
          </a:xfrm>
          <a:prstGeom prst="rect">
            <a:avLst/>
          </a:prstGeom>
          <a:noFill/>
          <a:ln/>
        </p:spPr>
        <p:txBody>
          <a:bodyPr wrap="square" lIns="0" tIns="0" rIns="0" bIns="0" rtlCol="0" anchor="ctr"/>
          <a:lstStyle/>
          <a:p>
            <a:pPr algn="ctr" indent="0" marL="0">
              <a:buNone/>
            </a:pPr>
            <a:r>
              <a:rPr lang="en-US" sz="1200" b="1" dirty="0">
                <a:solidFill>
                  <a:schemeClr val="accent1"/>
                </a:solidFill>
              </a:rPr>
              <a:t>Màu: đen</a:t>
            </a:r>
            <a:endParaRPr lang="en-US" sz="1200" dirty="0"/>
          </a:p>
        </p:txBody>
      </p:sp>
      <p:sp>
        <p:nvSpPr>
          <p:cNvPr id="41" name="chip"/>
          <p:cNvSpPr/>
          <p:nvPr/>
        </p:nvSpPr>
        <p:spPr>
          <a:xfrm>
            <a:off x="4425696" y="3310128"/>
            <a:ext cx="1504188" cy="384048"/>
          </a:xfrm>
          <a:prstGeom prst="roundRect">
            <a:avLst>
              <a:gd name="adj" fmla="val 50000"/>
            </a:avLst>
          </a:prstGeom>
          <a:solidFill>
            <a:schemeClr val="bg1"/>
          </a:solidFill>
          <a:ln w="12700">
            <a:solidFill>
              <a:schemeClr val="accent1"/>
            </a:solidFill>
            <a:prstDash val="solid"/>
          </a:ln>
        </p:spPr>
      </p:sp>
      <p:sp>
        <p:nvSpPr>
          <p:cNvPr id="42" name="Text 40"/>
          <p:cNvSpPr txBox="1"/>
          <p:nvPr/>
        </p:nvSpPr>
        <p:spPr>
          <a:xfrm>
            <a:off x="4425696" y="3310128"/>
            <a:ext cx="1504188" cy="384048"/>
          </a:xfrm>
          <a:prstGeom prst="rect">
            <a:avLst/>
          </a:prstGeom>
          <a:noFill/>
          <a:ln/>
        </p:spPr>
        <p:txBody>
          <a:bodyPr wrap="square" lIns="0" tIns="0" rIns="0" bIns="0" rtlCol="0" anchor="ctr"/>
          <a:lstStyle/>
          <a:p>
            <a:pPr algn="ctr" indent="0" marL="0">
              <a:buNone/>
            </a:pPr>
            <a:r>
              <a:rPr lang="en-US" sz="1200" b="1" dirty="0">
                <a:solidFill>
                  <a:schemeClr val="accent1"/>
                </a:solidFill>
              </a:rPr>
              <a:t>Size đề xuất: L</a:t>
            </a:r>
            <a:endParaRPr lang="en-US" sz="1200" dirty="0"/>
          </a:p>
        </p:txBody>
      </p:sp>
      <p:sp>
        <p:nvSpPr>
          <p:cNvPr id="43" name="chip"/>
          <p:cNvSpPr/>
          <p:nvPr/>
        </p:nvSpPr>
        <p:spPr>
          <a:xfrm>
            <a:off x="6067044" y="3310128"/>
            <a:ext cx="1504188" cy="384048"/>
          </a:xfrm>
          <a:prstGeom prst="roundRect">
            <a:avLst>
              <a:gd name="adj" fmla="val 50000"/>
            </a:avLst>
          </a:prstGeom>
          <a:solidFill>
            <a:schemeClr val="bg1"/>
          </a:solidFill>
          <a:ln w="12700">
            <a:solidFill>
              <a:schemeClr val="accent1"/>
            </a:solidFill>
            <a:prstDash val="solid"/>
          </a:ln>
        </p:spPr>
      </p:sp>
      <p:sp>
        <p:nvSpPr>
          <p:cNvPr id="44" name="Text 42"/>
          <p:cNvSpPr txBox="1"/>
          <p:nvPr/>
        </p:nvSpPr>
        <p:spPr>
          <a:xfrm>
            <a:off x="6067044" y="3310128"/>
            <a:ext cx="1504188" cy="384048"/>
          </a:xfrm>
          <a:prstGeom prst="rect">
            <a:avLst/>
          </a:prstGeom>
          <a:noFill/>
          <a:ln/>
        </p:spPr>
        <p:txBody>
          <a:bodyPr wrap="square" lIns="0" tIns="0" rIns="0" bIns="0" rtlCol="0" anchor="ctr"/>
          <a:lstStyle/>
          <a:p>
            <a:pPr algn="ctr" indent="0" marL="0">
              <a:buNone/>
            </a:pPr>
            <a:r>
              <a:rPr lang="en-US" sz="1200" b="1" dirty="0">
                <a:solidFill>
                  <a:schemeClr val="accent1"/>
                </a:solidFill>
              </a:rPr>
              <a:t>Giá: ≤ 500.000đ</a:t>
            </a:r>
            <a:endParaRPr lang="en-US" sz="1200" dirty="0"/>
          </a:p>
        </p:txBody>
      </p:sp>
      <p:sp>
        <p:nvSpPr>
          <p:cNvPr id="45" name="Text 43"/>
          <p:cNvSpPr txBox="1"/>
          <p:nvPr/>
        </p:nvSpPr>
        <p:spPr>
          <a:xfrm>
            <a:off x="457200" y="3931920"/>
            <a:ext cx="8229600" cy="411480"/>
          </a:xfrm>
          <a:prstGeom prst="rect">
            <a:avLst/>
          </a:prstGeom>
          <a:noFill/>
          <a:ln/>
        </p:spPr>
        <p:txBody>
          <a:bodyPr wrap="square" lIns="0" tIns="0" rIns="0" bIns="0" rtlCol="0" anchor="ctr"/>
          <a:lstStyle/>
          <a:p>
            <a:pPr indent="0" marL="0">
              <a:buNone/>
            </a:pPr>
            <a:r>
              <a:rPr lang="en-US" sz="1300" dirty="0">
                <a:solidFill>
                  <a:schemeClr val="tx1"/>
                </a:solidFill>
              </a:rPr>
              <a:t>→ Kết quả: đề xuất size L + 6 sản phẩm chạy bộ nam còn màu đen size L, giá ≤ 500.000đ (thời gian 2–5 giây).</a:t>
            </a:r>
            <a:endParaRPr lang="en-US" sz="1300" dirty="0"/>
          </a:p>
        </p:txBody>
      </p:sp>
      <p:sp>
        <p:nvSpPr>
          <p:cNvPr id="25" name="Slide Number Placeholder 0"/>
          <p:cNvSpPr>
            <a:spLocks noGrp="1"/>
          </p:cNvSpPr>
          <p:nvPr>
            <p:ph type="sldNum" sz="quarter" idx="4294967295"/>
          </p:nvPr>
        </p:nvSpPr>
        <p:spPr>
          <a:xfrm>
            <a:off x="8229600" y="4754880"/>
            <a:ext cx="457200" cy="274320"/>
          </a:xfrm>
          <a:prstGeom prst="rect">
            <a:avLst/>
          </a:prstGeom>
          <a:extLst>
            <a:ext uri="{C572A759-6A51-4108-AA02-DFA0A04FC94B}">
              <ma14:wrappingTextBoxFlag xmlns:ma14="http://schemas.microsoft.com/office/mac/drawingml/2011/main" val="0"/>
            </a:ext>
          </a:extLst>
        </p:spPr>
        <p:txBody>
          <a:bodyPr/>
          <a:lstStyle>
            <a:lvl1pPr>
              <a:defRPr sz="900">
                <a:solidFill>
                  <a:schemeClr val="accent4"/>
                </a:solidFill>
              </a:defRPr>
            </a:lvl1pPr>
          </a:lstStyle>
          <a:p>
            <a:pPr algn="r"/>
            <a:fld id="{F7021451-1387-4CA6-816F-3879F97B5CBC}" type="slidenum">
              <a:rPr b="0" lang="en-US"/>
              <a:t>11</a:t>
            </a:fld>
            <a:endParaRPr lang="en-US"/>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name="Slide 12">
    <p:spTree>
      <p:nvGrpSpPr>
        <p:cNvPr id="1" name=""/>
        <p:cNvGrpSpPr/>
        <p:nvPr/>
      </p:nvGrpSpPr>
      <p:grpSpPr>
        <a:xfrm>
          <a:off x="0" y="0"/>
          <a:ext cx="0" cy="0"/>
          <a:chOff x="0" y="0"/>
          <a:chExt cx="0" cy="0"/>
        </a:xfrm>
      </p:grpSpPr>
      <p:sp>
        <p:nvSpPr>
          <p:cNvPr id="2" name="Text 0"/>
          <p:cNvSpPr/>
          <p:nvPr>
            <p:ph idx="100" type="title" hasCustomPrompt="1"/>
          </p:nvPr>
        </p:nvSpPr>
        <p:spPr>
          <a:xfrm>
            <a:off x="457200" y="256032"/>
            <a:ext cx="8229600" cy="566928"/>
          </a:xfrm>
          <a:prstGeom prst="rect">
            <a:avLst/>
          </a:prstGeom>
          <a:noFill/>
          <a:ln/>
        </p:spPr>
        <p:txBody>
          <a:bodyPr wrap="square" lIns="0" tIns="0" rIns="0" bIns="0" rtlCol="0" anchor="ctr"/>
          <a:lstStyle/>
          <a:p>
            <a:pPr algn="l" indent="0" marL="0">
              <a:buNone/>
            </a:pPr>
            <a:r>
              <a:rPr lang="en-US" sz="2600" b="1" dirty="0">
                <a:solidFill>
                  <a:schemeClr val="tx1"/>
                </a:solidFill>
              </a:rPr>
              <a:t>Hai "bộ não" cùng hiểu câu hỏi</a:t>
            </a:r>
            <a:endParaRPr lang="en-US" sz="2600" dirty="0"/>
          </a:p>
        </p:txBody>
      </p:sp>
      <p:sp>
        <p:nvSpPr>
          <p:cNvPr id="3" name="card"/>
          <p:cNvSpPr/>
          <p:nvPr/>
        </p:nvSpPr>
        <p:spPr>
          <a:xfrm>
            <a:off x="457200" y="1005840"/>
            <a:ext cx="3977640" cy="2514600"/>
          </a:xfrm>
          <a:prstGeom prst="roundRect">
            <a:avLst>
              <a:gd name="adj" fmla="val 2909"/>
            </a:avLst>
          </a:prstGeom>
          <a:solidFill>
            <a:schemeClr val="bg2"/>
          </a:solidFill>
          <a:ln w="9525">
            <a:solidFill>
              <a:schemeClr val="bg2"/>
            </a:solidFill>
            <a:prstDash val="solid"/>
          </a:ln>
        </p:spPr>
      </p:sp>
      <p:sp>
        <p:nvSpPr>
          <p:cNvPr id="4" name="Text 2"/>
          <p:cNvSpPr txBox="1"/>
          <p:nvPr/>
        </p:nvSpPr>
        <p:spPr>
          <a:xfrm>
            <a:off x="685800" y="1115568"/>
            <a:ext cx="3566160" cy="384048"/>
          </a:xfrm>
          <a:prstGeom prst="rect">
            <a:avLst/>
          </a:prstGeom>
          <a:noFill/>
          <a:ln/>
        </p:spPr>
        <p:txBody>
          <a:bodyPr wrap="square" lIns="0" tIns="0" rIns="0" bIns="0" rtlCol="0" anchor="ctr"/>
          <a:lstStyle/>
          <a:p>
            <a:pPr indent="0" marL="0">
              <a:buNone/>
            </a:pPr>
            <a:r>
              <a:rPr lang="en-US" sz="1700" b="1" dirty="0">
                <a:solidFill>
                  <a:schemeClr val="accent1"/>
                </a:solidFill>
              </a:rPr>
              <a:t>Google Gemini AI</a:t>
            </a:r>
            <a:endParaRPr lang="en-US" sz="1700" dirty="0"/>
          </a:p>
        </p:txBody>
      </p:sp>
      <p:sp>
        <p:nvSpPr>
          <p:cNvPr id="5" name="Text 3"/>
          <p:cNvSpPr txBox="1"/>
          <p:nvPr/>
        </p:nvSpPr>
        <p:spPr>
          <a:xfrm>
            <a:off x="685800" y="1572768"/>
            <a:ext cx="3611880" cy="1828800"/>
          </a:xfrm>
          <a:prstGeom prst="rect">
            <a:avLst/>
          </a:prstGeom>
          <a:noFill/>
          <a:ln/>
        </p:spPr>
        <p:txBody>
          <a:bodyPr wrap="square" lIns="0" tIns="0" rIns="0" bIns="0" rtlCol="0" anchor="t"/>
          <a:lstStyle/>
          <a:p>
            <a:pPr marL="342900" indent="-342900">
              <a:spcAft>
                <a:spcPts val="600"/>
              </a:spcAft>
              <a:buSzPct val="100000"/>
              <a:buChar char="•"/>
            </a:pPr>
            <a:r>
              <a:rPr lang="en-US" sz="1300" dirty="0">
                <a:solidFill>
                  <a:schemeClr val="tx1"/>
                </a:solidFill>
              </a:rPr>
              <a:t>Hiểu ngôn ngữ tự nhiên, cách nói đa dạng</a:t>
            </a:r>
            <a:endParaRPr lang="en-US" sz="1300" dirty="0"/>
          </a:p>
          <a:p>
            <a:pPr marL="342900" indent="-342900">
              <a:spcAft>
                <a:spcPts val="600"/>
              </a:spcAft>
              <a:buSzPct val="100000"/>
              <a:buChar char="•"/>
            </a:pPr>
            <a:r>
              <a:rPr lang="en-US" sz="1300" dirty="0">
                <a:solidFill>
                  <a:schemeClr val="tx1"/>
                </a:solidFill>
              </a:rPr>
              <a:t>Trả về JSON theo lược đồ cố định (enum)</a:t>
            </a:r>
            <a:endParaRPr lang="en-US" sz="1300" dirty="0"/>
          </a:p>
          <a:p>
            <a:pPr marL="342900" indent="-342900">
              <a:spcAft>
                <a:spcPts val="600"/>
              </a:spcAft>
              <a:buSzPct val="100000"/>
              <a:buChar char="•"/>
            </a:pPr>
            <a:r>
              <a:rPr lang="en-US" sz="1300" dirty="0">
                <a:solidFill>
                  <a:schemeClr val="tx1"/>
                </a:solidFill>
              </a:rPr>
              <a:t>Diễn đạt câu trả lời thân thiện</a:t>
            </a:r>
            <a:endParaRPr lang="en-US" sz="1300" dirty="0"/>
          </a:p>
          <a:p>
            <a:pPr marL="342900" indent="-342900">
              <a:spcAft>
                <a:spcPts val="600"/>
              </a:spcAft>
              <a:buSzPct val="100000"/>
              <a:buChar char="•"/>
            </a:pPr>
            <a:r>
              <a:rPr lang="en-US" sz="1300" dirty="0">
                <a:solidFill>
                  <a:schemeClr val="tx1"/>
                </a:solidFill>
              </a:rPr>
              <a:t>Cache 1 ngày, tiết kiệm hạn mức</a:t>
            </a:r>
            <a:endParaRPr lang="en-US" sz="1300" dirty="0"/>
          </a:p>
        </p:txBody>
      </p:sp>
      <p:sp>
        <p:nvSpPr>
          <p:cNvPr id="6" name="card"/>
          <p:cNvSpPr/>
          <p:nvPr/>
        </p:nvSpPr>
        <p:spPr>
          <a:xfrm>
            <a:off x="4709160" y="1005840"/>
            <a:ext cx="3977640" cy="2514600"/>
          </a:xfrm>
          <a:prstGeom prst="roundRect">
            <a:avLst>
              <a:gd name="adj" fmla="val 2909"/>
            </a:avLst>
          </a:prstGeom>
          <a:solidFill>
            <a:schemeClr val="bg2"/>
          </a:solidFill>
          <a:ln w="9525">
            <a:solidFill>
              <a:schemeClr val="bg2"/>
            </a:solidFill>
            <a:prstDash val="solid"/>
          </a:ln>
        </p:spPr>
      </p:sp>
      <p:sp>
        <p:nvSpPr>
          <p:cNvPr id="7" name="Text 5"/>
          <p:cNvSpPr txBox="1"/>
          <p:nvPr/>
        </p:nvSpPr>
        <p:spPr>
          <a:xfrm>
            <a:off x="4937760" y="1115568"/>
            <a:ext cx="3566160" cy="384048"/>
          </a:xfrm>
          <a:prstGeom prst="rect">
            <a:avLst/>
          </a:prstGeom>
          <a:noFill/>
          <a:ln/>
        </p:spPr>
        <p:txBody>
          <a:bodyPr wrap="square" lIns="0" tIns="0" rIns="0" bIns="0" rtlCol="0" anchor="ctr"/>
          <a:lstStyle/>
          <a:p>
            <a:pPr indent="0" marL="0">
              <a:buNone/>
            </a:pPr>
            <a:r>
              <a:rPr lang="en-US" sz="1700" b="1" dirty="0">
                <a:solidFill>
                  <a:schemeClr val="tx1"/>
                </a:solidFill>
              </a:rPr>
              <a:t>Bộ phân tích tiếng Việt</a:t>
            </a:r>
            <a:endParaRPr lang="en-US" sz="1700" dirty="0"/>
          </a:p>
        </p:txBody>
      </p:sp>
      <p:sp>
        <p:nvSpPr>
          <p:cNvPr id="8" name="Text 6"/>
          <p:cNvSpPr txBox="1"/>
          <p:nvPr/>
        </p:nvSpPr>
        <p:spPr>
          <a:xfrm>
            <a:off x="4937760" y="1572768"/>
            <a:ext cx="3611880" cy="1828800"/>
          </a:xfrm>
          <a:prstGeom prst="rect">
            <a:avLst/>
          </a:prstGeom>
          <a:noFill/>
          <a:ln/>
        </p:spPr>
        <p:txBody>
          <a:bodyPr wrap="square" lIns="0" tIns="0" rIns="0" bIns="0" rtlCol="0" anchor="t"/>
          <a:lstStyle/>
          <a:p>
            <a:pPr marL="342900" indent="-342900">
              <a:spcAft>
                <a:spcPts val="600"/>
              </a:spcAft>
              <a:buSzPct val="100000"/>
              <a:buChar char="•"/>
            </a:pPr>
            <a:r>
              <a:rPr lang="en-US" sz="1300" dirty="0">
                <a:solidFill>
                  <a:schemeClr val="tx1"/>
                </a:solidFill>
              </a:rPr>
              <a:t>Nhóm tự xây dựng, chạy offline</a:t>
            </a:r>
            <a:endParaRPr lang="en-US" sz="1300" dirty="0"/>
          </a:p>
          <a:p>
            <a:pPr marL="342900" indent="-342900">
              <a:spcAft>
                <a:spcPts val="600"/>
              </a:spcAft>
              <a:buSzPct val="100000"/>
              <a:buChar char="•"/>
            </a:pPr>
            <a:r>
              <a:rPr lang="en-US" sz="1300" dirty="0">
                <a:solidFill>
                  <a:schemeClr val="tx1"/>
                </a:solidFill>
              </a:rPr>
              <a:t>Bắt chính xác số: 300k, 1tr2, 1m75, 70kg</a:t>
            </a:r>
            <a:endParaRPr lang="en-US" sz="1300" dirty="0"/>
          </a:p>
          <a:p>
            <a:pPr marL="342900" indent="-342900">
              <a:spcAft>
                <a:spcPts val="600"/>
              </a:spcAft>
              <a:buSzPct val="100000"/>
              <a:buChar char="•"/>
            </a:pPr>
            <a:r>
              <a:rPr lang="en-US" sz="1300" dirty="0">
                <a:solidFill>
                  <a:schemeClr val="tx1"/>
                </a:solidFill>
              </a:rPr>
              <a:t>Hiểu câu gõ không dấu</a:t>
            </a:r>
            <a:endParaRPr lang="en-US" sz="1300" dirty="0"/>
          </a:p>
          <a:p>
            <a:pPr marL="342900" indent="-342900">
              <a:spcAft>
                <a:spcPts val="600"/>
              </a:spcAft>
              <a:buSzPct val="100000"/>
              <a:buChar char="•"/>
            </a:pPr>
            <a:r>
              <a:rPr lang="en-US" sz="1300" dirty="0">
                <a:solidFill>
                  <a:schemeClr val="tx1"/>
                </a:solidFill>
              </a:rPr>
              <a:t>Dự phòng khi mất mạng / hết hạn mức</a:t>
            </a:r>
            <a:endParaRPr lang="en-US" sz="1300" dirty="0"/>
          </a:p>
        </p:txBody>
      </p:sp>
      <p:sp>
        <p:nvSpPr>
          <p:cNvPr id="9" name="card"/>
          <p:cNvSpPr/>
          <p:nvPr/>
        </p:nvSpPr>
        <p:spPr>
          <a:xfrm>
            <a:off x="457200" y="3703320"/>
            <a:ext cx="8229600" cy="777240"/>
          </a:xfrm>
          <a:prstGeom prst="roundRect">
            <a:avLst>
              <a:gd name="adj" fmla="val 9412"/>
            </a:avLst>
          </a:prstGeom>
          <a:solidFill>
            <a:schemeClr val="tx1"/>
          </a:solidFill>
          <a:ln w="9525">
            <a:solidFill>
              <a:schemeClr val="tx1"/>
            </a:solidFill>
            <a:prstDash val="solid"/>
          </a:ln>
        </p:spPr>
      </p:sp>
      <p:sp>
        <p:nvSpPr>
          <p:cNvPr id="10" name="Text 8"/>
          <p:cNvSpPr txBox="1"/>
          <p:nvPr/>
        </p:nvSpPr>
        <p:spPr>
          <a:xfrm>
            <a:off x="685800" y="3703320"/>
            <a:ext cx="7772400" cy="777240"/>
          </a:xfrm>
          <a:prstGeom prst="rect">
            <a:avLst/>
          </a:prstGeom>
          <a:noFill/>
          <a:ln/>
        </p:spPr>
        <p:txBody>
          <a:bodyPr wrap="square" lIns="0" tIns="0" rIns="0" bIns="0" rtlCol="0" anchor="ctr"/>
          <a:lstStyle/>
          <a:p>
            <a:pPr indent="0" marL="0">
              <a:buNone/>
            </a:pPr>
            <a:r>
              <a:rPr lang="en-US" sz="1350" b="1" dirty="0">
                <a:solidFill>
                  <a:schemeClr val="accent1"/>
                </a:solidFill>
              </a:rPr>
              <a:t>Gộp kết quả: </a:t>
            </a:r>
            <a:pPr indent="0" marL="0">
              <a:buNone/>
            </a:pPr>
            <a:r>
              <a:rPr lang="en-US" sz="1350" dirty="0">
                <a:solidFill>
                  <a:schemeClr val="bg1"/>
                </a:solidFill>
              </a:rPr>
              <a:t>phân loại (môn, màu, giới tính...) tin Gemini · con số (giá, chiều cao, cân nặng) tin bộ phân tích luật</a:t>
            </a:r>
            <a:endParaRPr lang="en-US" sz="1350" dirty="0"/>
          </a:p>
        </p:txBody>
      </p:sp>
      <p:sp>
        <p:nvSpPr>
          <p:cNvPr id="25" name="Slide Number Placeholder 0"/>
          <p:cNvSpPr>
            <a:spLocks noGrp="1"/>
          </p:cNvSpPr>
          <p:nvPr>
            <p:ph type="sldNum" sz="quarter" idx="4294967295"/>
          </p:nvPr>
        </p:nvSpPr>
        <p:spPr>
          <a:xfrm>
            <a:off x="8229600" y="4754880"/>
            <a:ext cx="457200" cy="274320"/>
          </a:xfrm>
          <a:prstGeom prst="rect">
            <a:avLst/>
          </a:prstGeom>
          <a:extLst>
            <a:ext uri="{C572A759-6A51-4108-AA02-DFA0A04FC94B}">
              <ma14:wrappingTextBoxFlag xmlns:ma14="http://schemas.microsoft.com/office/mac/drawingml/2011/main" val="0"/>
            </a:ext>
          </a:extLst>
        </p:spPr>
        <p:txBody>
          <a:bodyPr/>
          <a:lstStyle>
            <a:lvl1pPr>
              <a:defRPr sz="900">
                <a:solidFill>
                  <a:schemeClr val="accent4"/>
                </a:solidFill>
              </a:defRPr>
            </a:lvl1pPr>
          </a:lstStyle>
          <a:p>
            <a:pPr algn="r"/>
            <a:fld id="{F7021451-1387-4CA6-816F-3879F97B5CBC}" type="slidenum">
              <a:rPr b="0" lang="en-US"/>
              <a:t>12</a:t>
            </a:fld>
            <a:endParaRPr lang="en-US"/>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name="Slide 13">
    <p:spTree>
      <p:nvGrpSpPr>
        <p:cNvPr id="1" name=""/>
        <p:cNvGrpSpPr/>
        <p:nvPr/>
      </p:nvGrpSpPr>
      <p:grpSpPr>
        <a:xfrm>
          <a:off x="0" y="0"/>
          <a:ext cx="0" cy="0"/>
          <a:chOff x="0" y="0"/>
          <a:chExt cx="0" cy="0"/>
        </a:xfrm>
      </p:grpSpPr>
      <p:sp>
        <p:nvSpPr>
          <p:cNvPr id="2" name="Text 0"/>
          <p:cNvSpPr/>
          <p:nvPr>
            <p:ph idx="100" type="title" hasCustomPrompt="1"/>
          </p:nvPr>
        </p:nvSpPr>
        <p:spPr>
          <a:xfrm>
            <a:off x="457200" y="256032"/>
            <a:ext cx="8229600" cy="566928"/>
          </a:xfrm>
          <a:prstGeom prst="rect">
            <a:avLst/>
          </a:prstGeom>
          <a:noFill/>
          <a:ln/>
        </p:spPr>
        <p:txBody>
          <a:bodyPr wrap="square" lIns="0" tIns="0" rIns="0" bIns="0" rtlCol="0" anchor="ctr"/>
          <a:lstStyle/>
          <a:p>
            <a:pPr algn="l" indent="0" marL="0">
              <a:buNone/>
            </a:pPr>
            <a:r>
              <a:rPr lang="en-US" sz="2600" b="1" dirty="0">
                <a:solidFill>
                  <a:schemeClr val="tx1"/>
                </a:solidFill>
              </a:rPr>
              <a:t>Thuật toán gợi ý &amp; tư vấn size</a:t>
            </a:r>
            <a:endParaRPr lang="en-US" sz="2600" dirty="0"/>
          </a:p>
        </p:txBody>
      </p:sp>
      <p:sp>
        <p:nvSpPr>
          <p:cNvPr id="3" name="card"/>
          <p:cNvSpPr/>
          <p:nvPr/>
        </p:nvSpPr>
        <p:spPr>
          <a:xfrm>
            <a:off x="457200" y="960120"/>
            <a:ext cx="5029200" cy="777240"/>
          </a:xfrm>
          <a:prstGeom prst="roundRect">
            <a:avLst>
              <a:gd name="adj" fmla="val 9412"/>
            </a:avLst>
          </a:prstGeom>
          <a:solidFill>
            <a:schemeClr val="bg2"/>
          </a:solidFill>
          <a:ln w="9525">
            <a:solidFill>
              <a:schemeClr val="bg2"/>
            </a:solidFill>
            <a:prstDash val="solid"/>
          </a:ln>
        </p:spPr>
      </p:sp>
      <p:sp>
        <p:nvSpPr>
          <p:cNvPr id="4" name="badge"/>
          <p:cNvSpPr/>
          <p:nvPr/>
        </p:nvSpPr>
        <p:spPr>
          <a:xfrm>
            <a:off x="594360" y="1152144"/>
            <a:ext cx="384048" cy="384048"/>
          </a:xfrm>
          <a:prstGeom prst="ellipse">
            <a:avLst/>
          </a:prstGeom>
          <a:solidFill>
            <a:schemeClr val="accent1"/>
          </a:solidFill>
          <a:ln w="12700">
            <a:solidFill>
              <a:schemeClr val="accent1"/>
            </a:solidFill>
            <a:prstDash val="solid"/>
          </a:ln>
        </p:spPr>
      </p:sp>
      <p:sp>
        <p:nvSpPr>
          <p:cNvPr id="5" name="Text 3"/>
          <p:cNvSpPr txBox="1"/>
          <p:nvPr/>
        </p:nvSpPr>
        <p:spPr>
          <a:xfrm>
            <a:off x="594360" y="1152144"/>
            <a:ext cx="384048" cy="384048"/>
          </a:xfrm>
          <a:prstGeom prst="rect">
            <a:avLst/>
          </a:prstGeom>
          <a:noFill/>
          <a:ln/>
        </p:spPr>
        <p:txBody>
          <a:bodyPr wrap="square" lIns="0" tIns="0" rIns="0" bIns="0" rtlCol="0" anchor="ctr"/>
          <a:lstStyle/>
          <a:p>
            <a:pPr algn="ctr" indent="0" marL="0">
              <a:buNone/>
            </a:pPr>
            <a:r>
              <a:rPr lang="en-US" sz="1300" b="1" dirty="0">
                <a:solidFill>
                  <a:schemeClr val="bg1"/>
                </a:solidFill>
              </a:rPr>
              <a:t>1</a:t>
            </a:r>
            <a:endParaRPr lang="en-US" sz="1300" dirty="0"/>
          </a:p>
        </p:txBody>
      </p:sp>
      <p:sp>
        <p:nvSpPr>
          <p:cNvPr id="6" name="Text 4"/>
          <p:cNvSpPr txBox="1"/>
          <p:nvPr/>
        </p:nvSpPr>
        <p:spPr>
          <a:xfrm>
            <a:off x="1097280" y="960120"/>
            <a:ext cx="4297680" cy="777240"/>
          </a:xfrm>
          <a:prstGeom prst="rect">
            <a:avLst/>
          </a:prstGeom>
          <a:noFill/>
          <a:ln/>
        </p:spPr>
        <p:txBody>
          <a:bodyPr wrap="square" lIns="0" tIns="0" rIns="0" bIns="0" rtlCol="0" anchor="ctr"/>
          <a:lstStyle/>
          <a:p>
            <a:pPr indent="0" marL="0">
              <a:buNone/>
            </a:pPr>
            <a:r>
              <a:rPr lang="en-US" sz="1350" b="1" dirty="0">
                <a:solidFill>
                  <a:schemeClr val="tx1"/>
                </a:solidFill>
              </a:rPr>
              <a:t>Lọc bắt buộc</a:t>
            </a:r>
            <a:endParaRPr lang="en-US" sz="1350" dirty="0"/>
          </a:p>
          <a:p>
            <a:pPr indent="0" marL="0">
              <a:buNone/>
            </a:pPr>
            <a:r>
              <a:rPr lang="en-US" sz="1050" dirty="0">
                <a:solidFill>
                  <a:schemeClr val="tx2"/>
                </a:solidFill>
              </a:rPr>
              <a:t>Đang bán · đúng giới tính · đúng môn · đúng loại · trong khoảng giá · cùng phiên bản đúng màu + size + còn hàng</a:t>
            </a:r>
            <a:endParaRPr lang="en-US" sz="1350" dirty="0"/>
          </a:p>
        </p:txBody>
      </p:sp>
      <p:sp>
        <p:nvSpPr>
          <p:cNvPr id="7" name="card"/>
          <p:cNvSpPr/>
          <p:nvPr/>
        </p:nvSpPr>
        <p:spPr>
          <a:xfrm>
            <a:off x="457200" y="1856232"/>
            <a:ext cx="5029200" cy="777240"/>
          </a:xfrm>
          <a:prstGeom prst="roundRect">
            <a:avLst>
              <a:gd name="adj" fmla="val 9412"/>
            </a:avLst>
          </a:prstGeom>
          <a:solidFill>
            <a:schemeClr val="bg2"/>
          </a:solidFill>
          <a:ln w="9525">
            <a:solidFill>
              <a:schemeClr val="bg2"/>
            </a:solidFill>
            <a:prstDash val="solid"/>
          </a:ln>
        </p:spPr>
      </p:sp>
      <p:sp>
        <p:nvSpPr>
          <p:cNvPr id="8" name="badge"/>
          <p:cNvSpPr/>
          <p:nvPr/>
        </p:nvSpPr>
        <p:spPr>
          <a:xfrm>
            <a:off x="594360" y="2048256"/>
            <a:ext cx="384048" cy="384048"/>
          </a:xfrm>
          <a:prstGeom prst="ellipse">
            <a:avLst/>
          </a:prstGeom>
          <a:solidFill>
            <a:schemeClr val="accent1"/>
          </a:solidFill>
          <a:ln w="12700">
            <a:solidFill>
              <a:schemeClr val="accent1"/>
            </a:solidFill>
            <a:prstDash val="solid"/>
          </a:ln>
        </p:spPr>
      </p:sp>
      <p:sp>
        <p:nvSpPr>
          <p:cNvPr id="9" name="Text 7"/>
          <p:cNvSpPr txBox="1"/>
          <p:nvPr/>
        </p:nvSpPr>
        <p:spPr>
          <a:xfrm>
            <a:off x="594360" y="2048256"/>
            <a:ext cx="384048" cy="384048"/>
          </a:xfrm>
          <a:prstGeom prst="rect">
            <a:avLst/>
          </a:prstGeom>
          <a:noFill/>
          <a:ln/>
        </p:spPr>
        <p:txBody>
          <a:bodyPr wrap="square" lIns="0" tIns="0" rIns="0" bIns="0" rtlCol="0" anchor="ctr"/>
          <a:lstStyle/>
          <a:p>
            <a:pPr algn="ctr" indent="0" marL="0">
              <a:buNone/>
            </a:pPr>
            <a:r>
              <a:rPr lang="en-US" sz="1300" b="1" dirty="0">
                <a:solidFill>
                  <a:schemeClr val="bg1"/>
                </a:solidFill>
              </a:rPr>
              <a:t>2</a:t>
            </a:r>
            <a:endParaRPr lang="en-US" sz="1300" dirty="0"/>
          </a:p>
        </p:txBody>
      </p:sp>
      <p:sp>
        <p:nvSpPr>
          <p:cNvPr id="10" name="Text 8"/>
          <p:cNvSpPr txBox="1"/>
          <p:nvPr/>
        </p:nvSpPr>
        <p:spPr>
          <a:xfrm>
            <a:off x="1097280" y="1856232"/>
            <a:ext cx="4297680" cy="777240"/>
          </a:xfrm>
          <a:prstGeom prst="rect">
            <a:avLst/>
          </a:prstGeom>
          <a:noFill/>
          <a:ln/>
        </p:spPr>
        <p:txBody>
          <a:bodyPr wrap="square" lIns="0" tIns="0" rIns="0" bIns="0" rtlCol="0" anchor="ctr"/>
          <a:lstStyle/>
          <a:p>
            <a:pPr indent="0" marL="0">
              <a:buNone/>
            </a:pPr>
            <a:r>
              <a:rPr lang="en-US" sz="1350" b="1" dirty="0">
                <a:solidFill>
                  <a:schemeClr val="tx1"/>
                </a:solidFill>
              </a:rPr>
              <a:t>Nới tiêu chí</a:t>
            </a:r>
            <a:endParaRPr lang="en-US" sz="1350" dirty="0"/>
          </a:p>
          <a:p>
            <a:pPr indent="0" marL="0">
              <a:buNone/>
            </a:pPr>
            <a:r>
              <a:rPr lang="en-US" sz="1050" dirty="0">
                <a:solidFill>
                  <a:schemeClr val="tx2"/>
                </a:solidFill>
              </a:rPr>
              <a:t>Thiếu hàng: bỏ dần size → màu → giá và báo rõ cho khách. Không bao giờ nới giới tính, môn</a:t>
            </a:r>
            <a:endParaRPr lang="en-US" sz="1350" dirty="0"/>
          </a:p>
        </p:txBody>
      </p:sp>
      <p:sp>
        <p:nvSpPr>
          <p:cNvPr id="11" name="card"/>
          <p:cNvSpPr/>
          <p:nvPr/>
        </p:nvSpPr>
        <p:spPr>
          <a:xfrm>
            <a:off x="457200" y="2752344"/>
            <a:ext cx="5029200" cy="777240"/>
          </a:xfrm>
          <a:prstGeom prst="roundRect">
            <a:avLst>
              <a:gd name="adj" fmla="val 9412"/>
            </a:avLst>
          </a:prstGeom>
          <a:solidFill>
            <a:schemeClr val="bg2"/>
          </a:solidFill>
          <a:ln w="9525">
            <a:solidFill>
              <a:schemeClr val="bg2"/>
            </a:solidFill>
            <a:prstDash val="solid"/>
          </a:ln>
        </p:spPr>
      </p:sp>
      <p:sp>
        <p:nvSpPr>
          <p:cNvPr id="12" name="badge"/>
          <p:cNvSpPr/>
          <p:nvPr/>
        </p:nvSpPr>
        <p:spPr>
          <a:xfrm>
            <a:off x="594360" y="2944368"/>
            <a:ext cx="384048" cy="384048"/>
          </a:xfrm>
          <a:prstGeom prst="ellipse">
            <a:avLst/>
          </a:prstGeom>
          <a:solidFill>
            <a:schemeClr val="accent1"/>
          </a:solidFill>
          <a:ln w="12700">
            <a:solidFill>
              <a:schemeClr val="accent1"/>
            </a:solidFill>
            <a:prstDash val="solid"/>
          </a:ln>
        </p:spPr>
      </p:sp>
      <p:sp>
        <p:nvSpPr>
          <p:cNvPr id="13" name="Text 11"/>
          <p:cNvSpPr txBox="1"/>
          <p:nvPr/>
        </p:nvSpPr>
        <p:spPr>
          <a:xfrm>
            <a:off x="594360" y="2944368"/>
            <a:ext cx="384048" cy="384048"/>
          </a:xfrm>
          <a:prstGeom prst="rect">
            <a:avLst/>
          </a:prstGeom>
          <a:noFill/>
          <a:ln/>
        </p:spPr>
        <p:txBody>
          <a:bodyPr wrap="square" lIns="0" tIns="0" rIns="0" bIns="0" rtlCol="0" anchor="ctr"/>
          <a:lstStyle/>
          <a:p>
            <a:pPr algn="ctr" indent="0" marL="0">
              <a:buNone/>
            </a:pPr>
            <a:r>
              <a:rPr lang="en-US" sz="1300" b="1" dirty="0">
                <a:solidFill>
                  <a:schemeClr val="bg1"/>
                </a:solidFill>
              </a:rPr>
              <a:t>3</a:t>
            </a:r>
            <a:endParaRPr lang="en-US" sz="1300" dirty="0"/>
          </a:p>
        </p:txBody>
      </p:sp>
      <p:sp>
        <p:nvSpPr>
          <p:cNvPr id="14" name="Text 12"/>
          <p:cNvSpPr txBox="1"/>
          <p:nvPr/>
        </p:nvSpPr>
        <p:spPr>
          <a:xfrm>
            <a:off x="1097280" y="2752344"/>
            <a:ext cx="4297680" cy="777240"/>
          </a:xfrm>
          <a:prstGeom prst="rect">
            <a:avLst/>
          </a:prstGeom>
          <a:noFill/>
          <a:ln/>
        </p:spPr>
        <p:txBody>
          <a:bodyPr wrap="square" lIns="0" tIns="0" rIns="0" bIns="0" rtlCol="0" anchor="ctr"/>
          <a:lstStyle/>
          <a:p>
            <a:pPr indent="0" marL="0">
              <a:buNone/>
            </a:pPr>
            <a:r>
              <a:rPr lang="en-US" sz="1350" b="1" dirty="0">
                <a:solidFill>
                  <a:schemeClr val="tx1"/>
                </a:solidFill>
              </a:rPr>
              <a:t>Xếp hạng</a:t>
            </a:r>
            <a:endParaRPr lang="en-US" sz="1350" dirty="0"/>
          </a:p>
          <a:p>
            <a:pPr indent="0" marL="0">
              <a:buNone/>
            </a:pPr>
            <a:r>
              <a:rPr lang="en-US" sz="1050" dirty="0">
                <a:solidFill>
                  <a:schemeClr val="tx2"/>
                </a:solidFill>
              </a:rPr>
              <a:t>Đúng mục đích +3 · đúng kiểu dáng +2 · nổi bật +1 · đang giảm giá +0,5 · lượt xem</a:t>
            </a:r>
            <a:endParaRPr lang="en-US" sz="1350" dirty="0"/>
          </a:p>
        </p:txBody>
      </p:sp>
      <p:sp>
        <p:nvSpPr>
          <p:cNvPr id="15" name="card"/>
          <p:cNvSpPr/>
          <p:nvPr/>
        </p:nvSpPr>
        <p:spPr>
          <a:xfrm>
            <a:off x="457200" y="3648456"/>
            <a:ext cx="5029200" cy="777240"/>
          </a:xfrm>
          <a:prstGeom prst="roundRect">
            <a:avLst>
              <a:gd name="adj" fmla="val 9412"/>
            </a:avLst>
          </a:prstGeom>
          <a:solidFill>
            <a:schemeClr val="bg2"/>
          </a:solidFill>
          <a:ln w="9525">
            <a:solidFill>
              <a:schemeClr val="bg2"/>
            </a:solidFill>
            <a:prstDash val="solid"/>
          </a:ln>
        </p:spPr>
      </p:sp>
      <p:sp>
        <p:nvSpPr>
          <p:cNvPr id="16" name="badge"/>
          <p:cNvSpPr/>
          <p:nvPr/>
        </p:nvSpPr>
        <p:spPr>
          <a:xfrm>
            <a:off x="594360" y="3840480"/>
            <a:ext cx="384048" cy="384048"/>
          </a:xfrm>
          <a:prstGeom prst="ellipse">
            <a:avLst/>
          </a:prstGeom>
          <a:solidFill>
            <a:schemeClr val="accent1"/>
          </a:solidFill>
          <a:ln w="12700">
            <a:solidFill>
              <a:schemeClr val="accent1"/>
            </a:solidFill>
            <a:prstDash val="solid"/>
          </a:ln>
        </p:spPr>
      </p:sp>
      <p:sp>
        <p:nvSpPr>
          <p:cNvPr id="17" name="Text 15"/>
          <p:cNvSpPr txBox="1"/>
          <p:nvPr/>
        </p:nvSpPr>
        <p:spPr>
          <a:xfrm>
            <a:off x="594360" y="3840480"/>
            <a:ext cx="384048" cy="384048"/>
          </a:xfrm>
          <a:prstGeom prst="rect">
            <a:avLst/>
          </a:prstGeom>
          <a:noFill/>
          <a:ln/>
        </p:spPr>
        <p:txBody>
          <a:bodyPr wrap="square" lIns="0" tIns="0" rIns="0" bIns="0" rtlCol="0" anchor="ctr"/>
          <a:lstStyle/>
          <a:p>
            <a:pPr algn="ctr" indent="0" marL="0">
              <a:buNone/>
            </a:pPr>
            <a:r>
              <a:rPr lang="en-US" sz="1300" b="1" dirty="0">
                <a:solidFill>
                  <a:schemeClr val="bg1"/>
                </a:solidFill>
              </a:rPr>
              <a:t>4</a:t>
            </a:r>
            <a:endParaRPr lang="en-US" sz="1300" dirty="0"/>
          </a:p>
        </p:txBody>
      </p:sp>
      <p:sp>
        <p:nvSpPr>
          <p:cNvPr id="18" name="Text 16"/>
          <p:cNvSpPr txBox="1"/>
          <p:nvPr/>
        </p:nvSpPr>
        <p:spPr>
          <a:xfrm>
            <a:off x="1097280" y="3648456"/>
            <a:ext cx="4297680" cy="777240"/>
          </a:xfrm>
          <a:prstGeom prst="rect">
            <a:avLst/>
          </a:prstGeom>
          <a:noFill/>
          <a:ln/>
        </p:spPr>
        <p:txBody>
          <a:bodyPr wrap="square" lIns="0" tIns="0" rIns="0" bIns="0" rtlCol="0" anchor="ctr"/>
          <a:lstStyle/>
          <a:p>
            <a:pPr indent="0" marL="0">
              <a:buNone/>
            </a:pPr>
            <a:r>
              <a:rPr lang="en-US" sz="1350" b="1" dirty="0">
                <a:solidFill>
                  <a:schemeClr val="tx1"/>
                </a:solidFill>
              </a:rPr>
              <a:t>Phối bộ đồ</a:t>
            </a:r>
            <a:endParaRPr lang="en-US" sz="1350" dirty="0"/>
          </a:p>
          <a:p>
            <a:pPr indent="0" marL="0">
              <a:buNone/>
            </a:pPr>
            <a:r>
              <a:rPr lang="en-US" sz="1050" dirty="0">
                <a:solidFill>
                  <a:schemeClr val="tx2"/>
                </a:solidFill>
              </a:rPr>
              <a:t>Ghép áo + quần cùng giới tính, tổng giá vừa ngân sách, chọn 3 bộ tốt nhất</a:t>
            </a:r>
            <a:endParaRPr lang="en-US" sz="1350" dirty="0"/>
          </a:p>
        </p:txBody>
      </p:sp>
      <p:sp>
        <p:nvSpPr>
          <p:cNvPr id="19" name="card"/>
          <p:cNvSpPr/>
          <p:nvPr/>
        </p:nvSpPr>
        <p:spPr>
          <a:xfrm>
            <a:off x="5715000" y="960120"/>
            <a:ext cx="2971800" cy="3474720"/>
          </a:xfrm>
          <a:prstGeom prst="roundRect">
            <a:avLst>
              <a:gd name="adj" fmla="val 2462"/>
            </a:avLst>
          </a:prstGeom>
          <a:solidFill>
            <a:schemeClr val="accent5"/>
          </a:solidFill>
          <a:ln w="9525">
            <a:solidFill>
              <a:schemeClr val="accent5"/>
            </a:solidFill>
            <a:prstDash val="solid"/>
          </a:ln>
        </p:spPr>
      </p:sp>
      <p:sp>
        <p:nvSpPr>
          <p:cNvPr id="20" name="Text 18"/>
          <p:cNvSpPr txBox="1"/>
          <p:nvPr/>
        </p:nvSpPr>
        <p:spPr>
          <a:xfrm>
            <a:off x="5897880" y="1051560"/>
            <a:ext cx="2651760" cy="365760"/>
          </a:xfrm>
          <a:prstGeom prst="rect">
            <a:avLst/>
          </a:prstGeom>
          <a:noFill/>
          <a:ln/>
        </p:spPr>
        <p:txBody>
          <a:bodyPr wrap="square" lIns="0" tIns="0" rIns="0" bIns="0" rtlCol="0" anchor="ctr"/>
          <a:lstStyle/>
          <a:p>
            <a:pPr indent="0" marL="0">
              <a:buNone/>
            </a:pPr>
            <a:r>
              <a:rPr lang="en-US" sz="1600" b="1" dirty="0">
                <a:solidFill>
                  <a:schemeClr val="accent1"/>
                </a:solidFill>
              </a:rPr>
              <a:t>Tư vấn size</a:t>
            </a:r>
            <a:endParaRPr lang="en-US" sz="1600" dirty="0"/>
          </a:p>
        </p:txBody>
      </p:sp>
      <p:sp>
        <p:nvSpPr>
          <p:cNvPr id="21" name="Text 19"/>
          <p:cNvSpPr txBox="1"/>
          <p:nvPr/>
        </p:nvSpPr>
        <p:spPr>
          <a:xfrm>
            <a:off x="5897880" y="1417320"/>
            <a:ext cx="2651760" cy="548640"/>
          </a:xfrm>
          <a:prstGeom prst="rect">
            <a:avLst/>
          </a:prstGeom>
          <a:noFill/>
          <a:ln/>
        </p:spPr>
        <p:txBody>
          <a:bodyPr wrap="square" lIns="0" tIns="0" rIns="0" bIns="0" rtlCol="0" anchor="ctr"/>
          <a:lstStyle/>
          <a:p>
            <a:pPr indent="0" marL="0">
              <a:buNone/>
            </a:pPr>
            <a:r>
              <a:rPr lang="en-US" sz="1150" dirty="0">
                <a:solidFill>
                  <a:schemeClr val="tx1"/>
                </a:solidFill>
              </a:rPr>
              <a:t>Ưu tiên cân nặng; chiều cao lệch ≥ 2 size thì tăng 1 size.</a:t>
            </a:r>
            <a:endParaRPr lang="en-US" sz="1150" dirty="0"/>
          </a:p>
        </p:txBody>
      </p:sp>
      <p:graphicFrame>
        <p:nvGraphicFramePr>
          <p:cNvPr id="14" name="Table 0"/>
          <p:cNvGraphicFramePr>
            <a:graphicFrameLocks noGrp="1"/>
          </p:cNvGraphicFramePr>
          <p:nvPr>
            <p:extLst>
              <p:ext uri="{D42A27DB-BD31-4B8C-83A1-F6EECF244321}">
                <p14:modId xmlns:p14="http://schemas.microsoft.com/office/powerpoint/2010/main" val="1579011935"/>
              </p:ext>
            </p:extLst>
          </p:nvPr>
        </p:nvGraphicFramePr>
        <p:xfrm>
          <a:off x="5897880" y="2011680"/>
          <a:ext cx="2606040" cy="914400"/>
        </p:xfrm>
        <a:graphic>
          <a:graphicData uri="http://schemas.openxmlformats.org/drawingml/2006/table">
            <a:tbl>
              <a:tblPr/>
              <a:tblGrid>
                <a:gridCol w="685800"/>
                <a:gridCol w="960120"/>
                <a:gridCol w="960120"/>
              </a:tblGrid>
              <a:tr h="274320">
                <a:tc>
                  <a:txBody>
                    <a:bodyPr/>
                    <a:lstStyle/>
                    <a:p>
                      <a:pPr algn="ctr" indent="0" marL="0">
                        <a:buNone/>
                      </a:pPr>
                      <a:r>
                        <a:rPr lang="en-US" sz="1100" b="1" dirty="0">
                          <a:solidFill>
                            <a:schemeClr val="tx1"/>
                          </a:solidFill>
                        </a:rPr>
                        <a:t>Size</a:t>
                      </a:r>
                      <a:endParaRPr lang="en-US" sz="1100" dirty="0"/>
                    </a:p>
                  </a:txBody>
                  <a:tcPr marL="91440" marR="91440" marT="45720" marB="45720">
                    <a:lnL w="9525" cap="flat" cmpd="sng" algn="ctr">
                      <a:solidFill>
                        <a:srgbClr val="F3B9AB"/>
                      </a:solidFill>
                      <a:prstDash val="solid"/>
                      <a:round/>
                      <a:headEnd type="none" w="med" len="med"/>
                      <a:tailEnd type="none" w="med" len="med"/>
                    </a:lnL>
                    <a:lnR w="9525" cap="flat" cmpd="sng" algn="ctr">
                      <a:solidFill>
                        <a:srgbClr val="F3B9AB"/>
                      </a:solidFill>
                      <a:prstDash val="solid"/>
                      <a:round/>
                      <a:headEnd type="none" w="med" len="med"/>
                      <a:tailEnd type="none" w="med" len="med"/>
                    </a:lnR>
                    <a:lnT w="9525" cap="flat" cmpd="sng" algn="ctr">
                      <a:solidFill>
                        <a:srgbClr val="F3B9AB"/>
                      </a:solidFill>
                      <a:prstDash val="solid"/>
                      <a:round/>
                      <a:headEnd type="none" w="med" len="med"/>
                      <a:tailEnd type="none" w="med" len="med"/>
                    </a:lnT>
                    <a:lnB w="9525" cap="flat" cmpd="sng" algn="ctr">
                      <a:solidFill>
                        <a:srgbClr val="F3B9AB"/>
                      </a:solidFill>
                      <a:prstDash val="solid"/>
                      <a:round/>
                      <a:headEnd type="none" w="med" len="med"/>
                      <a:tailEnd type="none" w="med" len="med"/>
                    </a:lnB>
                    <a:solidFill>
                      <a:schemeClr val="bg1"/>
                    </a:solidFill>
                  </a:tcPr>
                </a:tc>
                <a:tc>
                  <a:txBody>
                    <a:bodyPr/>
                    <a:lstStyle/>
                    <a:p>
                      <a:pPr algn="ctr" indent="0" marL="0">
                        <a:buNone/>
                      </a:pPr>
                      <a:r>
                        <a:rPr lang="en-US" sz="1100" b="1" dirty="0">
                          <a:solidFill>
                            <a:schemeClr val="tx1"/>
                          </a:solidFill>
                        </a:rPr>
                        <a:t>Cao (cm)</a:t>
                      </a:r>
                      <a:endParaRPr lang="en-US" sz="1100" dirty="0"/>
                    </a:p>
                  </a:txBody>
                  <a:tcPr marL="91440" marR="91440" marT="45720" marB="45720">
                    <a:lnL w="9525" cap="flat" cmpd="sng" algn="ctr">
                      <a:solidFill>
                        <a:srgbClr val="F3B9AB"/>
                      </a:solidFill>
                      <a:prstDash val="solid"/>
                      <a:round/>
                      <a:headEnd type="none" w="med" len="med"/>
                      <a:tailEnd type="none" w="med" len="med"/>
                    </a:lnL>
                    <a:lnR w="9525" cap="flat" cmpd="sng" algn="ctr">
                      <a:solidFill>
                        <a:srgbClr val="F3B9AB"/>
                      </a:solidFill>
                      <a:prstDash val="solid"/>
                      <a:round/>
                      <a:headEnd type="none" w="med" len="med"/>
                      <a:tailEnd type="none" w="med" len="med"/>
                    </a:lnR>
                    <a:lnT w="9525" cap="flat" cmpd="sng" algn="ctr">
                      <a:solidFill>
                        <a:srgbClr val="F3B9AB"/>
                      </a:solidFill>
                      <a:prstDash val="solid"/>
                      <a:round/>
                      <a:headEnd type="none" w="med" len="med"/>
                      <a:tailEnd type="none" w="med" len="med"/>
                    </a:lnT>
                    <a:lnB w="9525" cap="flat" cmpd="sng" algn="ctr">
                      <a:solidFill>
                        <a:srgbClr val="F3B9AB"/>
                      </a:solidFill>
                      <a:prstDash val="solid"/>
                      <a:round/>
                      <a:headEnd type="none" w="med" len="med"/>
                      <a:tailEnd type="none" w="med" len="med"/>
                    </a:lnB>
                    <a:solidFill>
                      <a:schemeClr val="bg1"/>
                    </a:solidFill>
                  </a:tcPr>
                </a:tc>
                <a:tc>
                  <a:txBody>
                    <a:bodyPr/>
                    <a:lstStyle/>
                    <a:p>
                      <a:pPr algn="ctr" indent="0" marL="0">
                        <a:buNone/>
                      </a:pPr>
                      <a:r>
                        <a:rPr lang="en-US" sz="1100" b="1" dirty="0">
                          <a:solidFill>
                            <a:schemeClr val="tx1"/>
                          </a:solidFill>
                        </a:rPr>
                        <a:t>Nặng (kg)</a:t>
                      </a:r>
                      <a:endParaRPr lang="en-US" sz="1100" dirty="0"/>
                    </a:p>
                  </a:txBody>
                  <a:tcPr marL="91440" marR="91440" marT="45720" marB="45720">
                    <a:lnL w="9525" cap="flat" cmpd="sng" algn="ctr">
                      <a:solidFill>
                        <a:srgbClr val="F3B9AB"/>
                      </a:solidFill>
                      <a:prstDash val="solid"/>
                      <a:round/>
                      <a:headEnd type="none" w="med" len="med"/>
                      <a:tailEnd type="none" w="med" len="med"/>
                    </a:lnL>
                    <a:lnR w="9525" cap="flat" cmpd="sng" algn="ctr">
                      <a:solidFill>
                        <a:srgbClr val="F3B9AB"/>
                      </a:solidFill>
                      <a:prstDash val="solid"/>
                      <a:round/>
                      <a:headEnd type="none" w="med" len="med"/>
                      <a:tailEnd type="none" w="med" len="med"/>
                    </a:lnR>
                    <a:lnT w="9525" cap="flat" cmpd="sng" algn="ctr">
                      <a:solidFill>
                        <a:srgbClr val="F3B9AB"/>
                      </a:solidFill>
                      <a:prstDash val="solid"/>
                      <a:round/>
                      <a:headEnd type="none" w="med" len="med"/>
                      <a:tailEnd type="none" w="med" len="med"/>
                    </a:lnT>
                    <a:lnB w="9525" cap="flat" cmpd="sng" algn="ctr">
                      <a:solidFill>
                        <a:srgbClr val="F3B9AB"/>
                      </a:solidFill>
                      <a:prstDash val="solid"/>
                      <a:round/>
                      <a:headEnd type="none" w="med" len="med"/>
                      <a:tailEnd type="none" w="med" len="med"/>
                    </a:lnB>
                    <a:solidFill>
                      <a:schemeClr val="bg1"/>
                    </a:solidFill>
                  </a:tcPr>
                </a:tc>
              </a:tr>
              <a:tr h="274320">
                <a:tc>
                  <a:txBody>
                    <a:bodyPr/>
                    <a:lstStyle/>
                    <a:p>
                      <a:pPr algn="ctr" indent="0" marL="0">
                        <a:buNone/>
                      </a:pPr>
                      <a:r>
                        <a:rPr lang="en-US" sz="1100" dirty="0">
                          <a:solidFill>
                            <a:schemeClr val="tx1"/>
                          </a:solidFill>
                        </a:rPr>
                        <a:t>M</a:t>
                      </a:r>
                      <a:endParaRPr lang="en-US" sz="1100" dirty="0"/>
                    </a:p>
                  </a:txBody>
                  <a:tcPr marL="91440" marR="91440" marT="45720" marB="45720">
                    <a:lnL w="9525" cap="flat" cmpd="sng" algn="ctr">
                      <a:solidFill>
                        <a:srgbClr val="F3B9AB"/>
                      </a:solidFill>
                      <a:prstDash val="solid"/>
                      <a:round/>
                      <a:headEnd type="none" w="med" len="med"/>
                      <a:tailEnd type="none" w="med" len="med"/>
                    </a:lnL>
                    <a:lnR w="9525" cap="flat" cmpd="sng" algn="ctr">
                      <a:solidFill>
                        <a:srgbClr val="F3B9AB"/>
                      </a:solidFill>
                      <a:prstDash val="solid"/>
                      <a:round/>
                      <a:headEnd type="none" w="med" len="med"/>
                      <a:tailEnd type="none" w="med" len="med"/>
                    </a:lnR>
                    <a:lnT w="9525" cap="flat" cmpd="sng" algn="ctr">
                      <a:solidFill>
                        <a:srgbClr val="F3B9AB"/>
                      </a:solidFill>
                      <a:prstDash val="solid"/>
                      <a:round/>
                      <a:headEnd type="none" w="med" len="med"/>
                      <a:tailEnd type="none" w="med" len="med"/>
                    </a:lnT>
                    <a:lnB w="9525" cap="flat" cmpd="sng" algn="ctr">
                      <a:solidFill>
                        <a:srgbClr val="F3B9AB"/>
                      </a:solidFill>
                      <a:prstDash val="solid"/>
                      <a:round/>
                      <a:headEnd type="none" w="med" len="med"/>
                      <a:tailEnd type="none" w="med" len="med"/>
                    </a:lnB>
                  </a:tcPr>
                </a:tc>
                <a:tc>
                  <a:txBody>
                    <a:bodyPr/>
                    <a:lstStyle/>
                    <a:p>
                      <a:pPr algn="ctr" indent="0" marL="0">
                        <a:buNone/>
                      </a:pPr>
                      <a:r>
                        <a:rPr lang="en-US" sz="1100" dirty="0">
                          <a:solidFill>
                            <a:schemeClr val="tx1"/>
                          </a:solidFill>
                        </a:rPr>
                        <a:t>165–169</a:t>
                      </a:r>
                      <a:endParaRPr lang="en-US" sz="1100" dirty="0"/>
                    </a:p>
                  </a:txBody>
                  <a:tcPr marL="91440" marR="91440" marT="45720" marB="45720">
                    <a:lnL w="9525" cap="flat" cmpd="sng" algn="ctr">
                      <a:solidFill>
                        <a:srgbClr val="F3B9AB"/>
                      </a:solidFill>
                      <a:prstDash val="solid"/>
                      <a:round/>
                      <a:headEnd type="none" w="med" len="med"/>
                      <a:tailEnd type="none" w="med" len="med"/>
                    </a:lnL>
                    <a:lnR w="9525" cap="flat" cmpd="sng" algn="ctr">
                      <a:solidFill>
                        <a:srgbClr val="F3B9AB"/>
                      </a:solidFill>
                      <a:prstDash val="solid"/>
                      <a:round/>
                      <a:headEnd type="none" w="med" len="med"/>
                      <a:tailEnd type="none" w="med" len="med"/>
                    </a:lnR>
                    <a:lnT w="9525" cap="flat" cmpd="sng" algn="ctr">
                      <a:solidFill>
                        <a:srgbClr val="F3B9AB"/>
                      </a:solidFill>
                      <a:prstDash val="solid"/>
                      <a:round/>
                      <a:headEnd type="none" w="med" len="med"/>
                      <a:tailEnd type="none" w="med" len="med"/>
                    </a:lnT>
                    <a:lnB w="9525" cap="flat" cmpd="sng" algn="ctr">
                      <a:solidFill>
                        <a:srgbClr val="F3B9AB"/>
                      </a:solidFill>
                      <a:prstDash val="solid"/>
                      <a:round/>
                      <a:headEnd type="none" w="med" len="med"/>
                      <a:tailEnd type="none" w="med" len="med"/>
                    </a:lnB>
                  </a:tcPr>
                </a:tc>
                <a:tc>
                  <a:txBody>
                    <a:bodyPr/>
                    <a:lstStyle/>
                    <a:p>
                      <a:pPr algn="ctr" indent="0" marL="0">
                        <a:buNone/>
                      </a:pPr>
                      <a:r>
                        <a:rPr lang="en-US" sz="1100" dirty="0">
                          <a:solidFill>
                            <a:schemeClr val="tx1"/>
                          </a:solidFill>
                        </a:rPr>
                        <a:t>57–63</a:t>
                      </a:r>
                      <a:endParaRPr lang="en-US" sz="1100" dirty="0"/>
                    </a:p>
                  </a:txBody>
                  <a:tcPr marL="91440" marR="91440" marT="45720" marB="45720">
                    <a:lnL w="9525" cap="flat" cmpd="sng" algn="ctr">
                      <a:solidFill>
                        <a:srgbClr val="F3B9AB"/>
                      </a:solidFill>
                      <a:prstDash val="solid"/>
                      <a:round/>
                      <a:headEnd type="none" w="med" len="med"/>
                      <a:tailEnd type="none" w="med" len="med"/>
                    </a:lnL>
                    <a:lnR w="9525" cap="flat" cmpd="sng" algn="ctr">
                      <a:solidFill>
                        <a:srgbClr val="F3B9AB"/>
                      </a:solidFill>
                      <a:prstDash val="solid"/>
                      <a:round/>
                      <a:headEnd type="none" w="med" len="med"/>
                      <a:tailEnd type="none" w="med" len="med"/>
                    </a:lnR>
                    <a:lnT w="9525" cap="flat" cmpd="sng" algn="ctr">
                      <a:solidFill>
                        <a:srgbClr val="F3B9AB"/>
                      </a:solidFill>
                      <a:prstDash val="solid"/>
                      <a:round/>
                      <a:headEnd type="none" w="med" len="med"/>
                      <a:tailEnd type="none" w="med" len="med"/>
                    </a:lnT>
                    <a:lnB w="9525" cap="flat" cmpd="sng" algn="ctr">
                      <a:solidFill>
                        <a:srgbClr val="F3B9AB"/>
                      </a:solidFill>
                      <a:prstDash val="solid"/>
                      <a:round/>
                      <a:headEnd type="none" w="med" len="med"/>
                      <a:tailEnd type="none" w="med" len="med"/>
                    </a:lnB>
                  </a:tcPr>
                </a:tc>
              </a:tr>
              <a:tr h="274320">
                <a:tc>
                  <a:txBody>
                    <a:bodyPr/>
                    <a:lstStyle/>
                    <a:p>
                      <a:pPr algn="ctr" indent="0" marL="0">
                        <a:buNone/>
                      </a:pPr>
                      <a:r>
                        <a:rPr lang="en-US" sz="1100" dirty="0">
                          <a:solidFill>
                            <a:schemeClr val="tx1"/>
                          </a:solidFill>
                        </a:rPr>
                        <a:t>L</a:t>
                      </a:r>
                      <a:endParaRPr lang="en-US" sz="1100" dirty="0"/>
                    </a:p>
                  </a:txBody>
                  <a:tcPr marL="91440" marR="91440" marT="45720" marB="45720">
                    <a:lnL w="9525" cap="flat" cmpd="sng" algn="ctr">
                      <a:solidFill>
                        <a:srgbClr val="F3B9AB"/>
                      </a:solidFill>
                      <a:prstDash val="solid"/>
                      <a:round/>
                      <a:headEnd type="none" w="med" len="med"/>
                      <a:tailEnd type="none" w="med" len="med"/>
                    </a:lnL>
                    <a:lnR w="9525" cap="flat" cmpd="sng" algn="ctr">
                      <a:solidFill>
                        <a:srgbClr val="F3B9AB"/>
                      </a:solidFill>
                      <a:prstDash val="solid"/>
                      <a:round/>
                      <a:headEnd type="none" w="med" len="med"/>
                      <a:tailEnd type="none" w="med" len="med"/>
                    </a:lnR>
                    <a:lnT w="9525" cap="flat" cmpd="sng" algn="ctr">
                      <a:solidFill>
                        <a:srgbClr val="F3B9AB"/>
                      </a:solidFill>
                      <a:prstDash val="solid"/>
                      <a:round/>
                      <a:headEnd type="none" w="med" len="med"/>
                      <a:tailEnd type="none" w="med" len="med"/>
                    </a:lnT>
                    <a:lnB w="9525" cap="flat" cmpd="sng" algn="ctr">
                      <a:solidFill>
                        <a:srgbClr val="F3B9AB"/>
                      </a:solidFill>
                      <a:prstDash val="solid"/>
                      <a:round/>
                      <a:headEnd type="none" w="med" len="med"/>
                      <a:tailEnd type="none" w="med" len="med"/>
                    </a:lnB>
                  </a:tcPr>
                </a:tc>
                <a:tc>
                  <a:txBody>
                    <a:bodyPr/>
                    <a:lstStyle/>
                    <a:p>
                      <a:pPr algn="ctr" indent="0" marL="0">
                        <a:buNone/>
                      </a:pPr>
                      <a:r>
                        <a:rPr lang="en-US" sz="1100" dirty="0">
                          <a:solidFill>
                            <a:schemeClr val="tx1"/>
                          </a:solidFill>
                        </a:rPr>
                        <a:t>170–174</a:t>
                      </a:r>
                      <a:endParaRPr lang="en-US" sz="1100" dirty="0"/>
                    </a:p>
                  </a:txBody>
                  <a:tcPr marL="91440" marR="91440" marT="45720" marB="45720">
                    <a:lnL w="9525" cap="flat" cmpd="sng" algn="ctr">
                      <a:solidFill>
                        <a:srgbClr val="F3B9AB"/>
                      </a:solidFill>
                      <a:prstDash val="solid"/>
                      <a:round/>
                      <a:headEnd type="none" w="med" len="med"/>
                      <a:tailEnd type="none" w="med" len="med"/>
                    </a:lnL>
                    <a:lnR w="9525" cap="flat" cmpd="sng" algn="ctr">
                      <a:solidFill>
                        <a:srgbClr val="F3B9AB"/>
                      </a:solidFill>
                      <a:prstDash val="solid"/>
                      <a:round/>
                      <a:headEnd type="none" w="med" len="med"/>
                      <a:tailEnd type="none" w="med" len="med"/>
                    </a:lnR>
                    <a:lnT w="9525" cap="flat" cmpd="sng" algn="ctr">
                      <a:solidFill>
                        <a:srgbClr val="F3B9AB"/>
                      </a:solidFill>
                      <a:prstDash val="solid"/>
                      <a:round/>
                      <a:headEnd type="none" w="med" len="med"/>
                      <a:tailEnd type="none" w="med" len="med"/>
                    </a:lnT>
                    <a:lnB w="9525" cap="flat" cmpd="sng" algn="ctr">
                      <a:solidFill>
                        <a:srgbClr val="F3B9AB"/>
                      </a:solidFill>
                      <a:prstDash val="solid"/>
                      <a:round/>
                      <a:headEnd type="none" w="med" len="med"/>
                      <a:tailEnd type="none" w="med" len="med"/>
                    </a:lnB>
                  </a:tcPr>
                </a:tc>
                <a:tc>
                  <a:txBody>
                    <a:bodyPr/>
                    <a:lstStyle/>
                    <a:p>
                      <a:pPr algn="ctr" indent="0" marL="0">
                        <a:buNone/>
                      </a:pPr>
                      <a:r>
                        <a:rPr lang="en-US" sz="1100" dirty="0">
                          <a:solidFill>
                            <a:schemeClr val="tx1"/>
                          </a:solidFill>
                        </a:rPr>
                        <a:t>64–70</a:t>
                      </a:r>
                      <a:endParaRPr lang="en-US" sz="1100" dirty="0"/>
                    </a:p>
                  </a:txBody>
                  <a:tcPr marL="91440" marR="91440" marT="45720" marB="45720">
                    <a:lnL w="9525" cap="flat" cmpd="sng" algn="ctr">
                      <a:solidFill>
                        <a:srgbClr val="F3B9AB"/>
                      </a:solidFill>
                      <a:prstDash val="solid"/>
                      <a:round/>
                      <a:headEnd type="none" w="med" len="med"/>
                      <a:tailEnd type="none" w="med" len="med"/>
                    </a:lnL>
                    <a:lnR w="9525" cap="flat" cmpd="sng" algn="ctr">
                      <a:solidFill>
                        <a:srgbClr val="F3B9AB"/>
                      </a:solidFill>
                      <a:prstDash val="solid"/>
                      <a:round/>
                      <a:headEnd type="none" w="med" len="med"/>
                      <a:tailEnd type="none" w="med" len="med"/>
                    </a:lnR>
                    <a:lnT w="9525" cap="flat" cmpd="sng" algn="ctr">
                      <a:solidFill>
                        <a:srgbClr val="F3B9AB"/>
                      </a:solidFill>
                      <a:prstDash val="solid"/>
                      <a:round/>
                      <a:headEnd type="none" w="med" len="med"/>
                      <a:tailEnd type="none" w="med" len="med"/>
                    </a:lnT>
                    <a:lnB w="9525" cap="flat" cmpd="sng" algn="ctr">
                      <a:solidFill>
                        <a:srgbClr val="F3B9AB"/>
                      </a:solidFill>
                      <a:prstDash val="solid"/>
                      <a:round/>
                      <a:headEnd type="none" w="med" len="med"/>
                      <a:tailEnd type="none" w="med" len="med"/>
                    </a:lnB>
                  </a:tcPr>
                </a:tc>
              </a:tr>
              <a:tr h="274320">
                <a:tc>
                  <a:txBody>
                    <a:bodyPr/>
                    <a:lstStyle/>
                    <a:p>
                      <a:pPr algn="ctr" indent="0" marL="0">
                        <a:buNone/>
                      </a:pPr>
                      <a:r>
                        <a:rPr lang="en-US" sz="1100" dirty="0">
                          <a:solidFill>
                            <a:schemeClr val="tx1"/>
                          </a:solidFill>
                        </a:rPr>
                        <a:t>XL</a:t>
                      </a:r>
                      <a:endParaRPr lang="en-US" sz="1100" dirty="0"/>
                    </a:p>
                  </a:txBody>
                  <a:tcPr marL="91440" marR="91440" marT="45720" marB="45720">
                    <a:lnL w="9525" cap="flat" cmpd="sng" algn="ctr">
                      <a:solidFill>
                        <a:srgbClr val="F3B9AB"/>
                      </a:solidFill>
                      <a:prstDash val="solid"/>
                      <a:round/>
                      <a:headEnd type="none" w="med" len="med"/>
                      <a:tailEnd type="none" w="med" len="med"/>
                    </a:lnL>
                    <a:lnR w="9525" cap="flat" cmpd="sng" algn="ctr">
                      <a:solidFill>
                        <a:srgbClr val="F3B9AB"/>
                      </a:solidFill>
                      <a:prstDash val="solid"/>
                      <a:round/>
                      <a:headEnd type="none" w="med" len="med"/>
                      <a:tailEnd type="none" w="med" len="med"/>
                    </a:lnR>
                    <a:lnT w="9525" cap="flat" cmpd="sng" algn="ctr">
                      <a:solidFill>
                        <a:srgbClr val="F3B9AB"/>
                      </a:solidFill>
                      <a:prstDash val="solid"/>
                      <a:round/>
                      <a:headEnd type="none" w="med" len="med"/>
                      <a:tailEnd type="none" w="med" len="med"/>
                    </a:lnT>
                    <a:lnB w="9525" cap="flat" cmpd="sng" algn="ctr">
                      <a:solidFill>
                        <a:srgbClr val="F3B9AB"/>
                      </a:solidFill>
                      <a:prstDash val="solid"/>
                      <a:round/>
                      <a:headEnd type="none" w="med" len="med"/>
                      <a:tailEnd type="none" w="med" len="med"/>
                    </a:lnB>
                  </a:tcPr>
                </a:tc>
                <a:tc>
                  <a:txBody>
                    <a:bodyPr/>
                    <a:lstStyle/>
                    <a:p>
                      <a:pPr algn="ctr" indent="0" marL="0">
                        <a:buNone/>
                      </a:pPr>
                      <a:r>
                        <a:rPr lang="en-US" sz="1100" dirty="0">
                          <a:solidFill>
                            <a:schemeClr val="tx1"/>
                          </a:solidFill>
                        </a:rPr>
                        <a:t>175–179</a:t>
                      </a:r>
                      <a:endParaRPr lang="en-US" sz="1100" dirty="0"/>
                    </a:p>
                  </a:txBody>
                  <a:tcPr marL="91440" marR="91440" marT="45720" marB="45720">
                    <a:lnL w="9525" cap="flat" cmpd="sng" algn="ctr">
                      <a:solidFill>
                        <a:srgbClr val="F3B9AB"/>
                      </a:solidFill>
                      <a:prstDash val="solid"/>
                      <a:round/>
                      <a:headEnd type="none" w="med" len="med"/>
                      <a:tailEnd type="none" w="med" len="med"/>
                    </a:lnL>
                    <a:lnR w="9525" cap="flat" cmpd="sng" algn="ctr">
                      <a:solidFill>
                        <a:srgbClr val="F3B9AB"/>
                      </a:solidFill>
                      <a:prstDash val="solid"/>
                      <a:round/>
                      <a:headEnd type="none" w="med" len="med"/>
                      <a:tailEnd type="none" w="med" len="med"/>
                    </a:lnR>
                    <a:lnT w="9525" cap="flat" cmpd="sng" algn="ctr">
                      <a:solidFill>
                        <a:srgbClr val="F3B9AB"/>
                      </a:solidFill>
                      <a:prstDash val="solid"/>
                      <a:round/>
                      <a:headEnd type="none" w="med" len="med"/>
                      <a:tailEnd type="none" w="med" len="med"/>
                    </a:lnT>
                    <a:lnB w="9525" cap="flat" cmpd="sng" algn="ctr">
                      <a:solidFill>
                        <a:srgbClr val="F3B9AB"/>
                      </a:solidFill>
                      <a:prstDash val="solid"/>
                      <a:round/>
                      <a:headEnd type="none" w="med" len="med"/>
                      <a:tailEnd type="none" w="med" len="med"/>
                    </a:lnB>
                  </a:tcPr>
                </a:tc>
                <a:tc>
                  <a:txBody>
                    <a:bodyPr/>
                    <a:lstStyle/>
                    <a:p>
                      <a:pPr algn="ctr" indent="0" marL="0">
                        <a:buNone/>
                      </a:pPr>
                      <a:r>
                        <a:rPr lang="en-US" sz="1100" dirty="0">
                          <a:solidFill>
                            <a:schemeClr val="tx1"/>
                          </a:solidFill>
                        </a:rPr>
                        <a:t>71–77</a:t>
                      </a:r>
                      <a:endParaRPr lang="en-US" sz="1100" dirty="0"/>
                    </a:p>
                  </a:txBody>
                  <a:tcPr marL="91440" marR="91440" marT="45720" marB="45720">
                    <a:lnL w="9525" cap="flat" cmpd="sng" algn="ctr">
                      <a:solidFill>
                        <a:srgbClr val="F3B9AB"/>
                      </a:solidFill>
                      <a:prstDash val="solid"/>
                      <a:round/>
                      <a:headEnd type="none" w="med" len="med"/>
                      <a:tailEnd type="none" w="med" len="med"/>
                    </a:lnL>
                    <a:lnR w="9525" cap="flat" cmpd="sng" algn="ctr">
                      <a:solidFill>
                        <a:srgbClr val="F3B9AB"/>
                      </a:solidFill>
                      <a:prstDash val="solid"/>
                      <a:round/>
                      <a:headEnd type="none" w="med" len="med"/>
                      <a:tailEnd type="none" w="med" len="med"/>
                    </a:lnR>
                    <a:lnT w="9525" cap="flat" cmpd="sng" algn="ctr">
                      <a:solidFill>
                        <a:srgbClr val="F3B9AB"/>
                      </a:solidFill>
                      <a:prstDash val="solid"/>
                      <a:round/>
                      <a:headEnd type="none" w="med" len="med"/>
                      <a:tailEnd type="none" w="med" len="med"/>
                    </a:lnT>
                    <a:lnB w="9525" cap="flat" cmpd="sng" algn="ctr">
                      <a:solidFill>
                        <a:srgbClr val="F3B9AB"/>
                      </a:solidFill>
                      <a:prstDash val="solid"/>
                      <a:round/>
                      <a:headEnd type="none" w="med" len="med"/>
                      <a:tailEnd type="none" w="med" len="med"/>
                    </a:lnB>
                  </a:tcPr>
                </a:tc>
              </a:tr>
            </a:tbl>
          </a:graphicData>
        </a:graphic>
      </p:graphicFrame>
      <p:sp>
        <p:nvSpPr>
          <p:cNvPr id="23" name="Text 20"/>
          <p:cNvSpPr txBox="1"/>
          <p:nvPr/>
        </p:nvSpPr>
        <p:spPr>
          <a:xfrm>
            <a:off x="5897880" y="3291840"/>
            <a:ext cx="2651760" cy="822960"/>
          </a:xfrm>
          <a:prstGeom prst="rect">
            <a:avLst/>
          </a:prstGeom>
          <a:noFill/>
          <a:ln/>
        </p:spPr>
        <p:txBody>
          <a:bodyPr wrap="square" lIns="0" tIns="0" rIns="0" bIns="0" rtlCol="0" anchor="ctr"/>
          <a:lstStyle/>
          <a:p>
            <a:pPr indent="0" marL="0">
              <a:buNone/>
            </a:pPr>
            <a:r>
              <a:rPr lang="en-US" sz="1200" b="1" dirty="0">
                <a:solidFill>
                  <a:schemeClr val="tx1"/>
                </a:solidFill>
              </a:rPr>
              <a:t>Demo 3: </a:t>
            </a:r>
            <a:pPr indent="0" marL="0">
              <a:buNone/>
            </a:pPr>
            <a:r>
              <a:rPr lang="en-US" sz="1200" dirty="0">
                <a:solidFill>
                  <a:schemeClr val="tx1"/>
                </a:solidFill>
              </a:rPr>
              <a:t>1m75 → XL, 70kg → L ⇒ đề xuất </a:t>
            </a:r>
            <a:pPr indent="0" marL="0">
              <a:buNone/>
            </a:pPr>
            <a:r>
              <a:rPr lang="en-US" sz="1200" b="1" dirty="0">
                <a:solidFill>
                  <a:schemeClr val="accent1"/>
                </a:solidFill>
              </a:rPr>
              <a:t>size L</a:t>
            </a:r>
            <a:endParaRPr lang="en-US" sz="1200" dirty="0"/>
          </a:p>
        </p:txBody>
      </p:sp>
      <p:sp>
        <p:nvSpPr>
          <p:cNvPr id="25" name="Slide Number Placeholder 0"/>
          <p:cNvSpPr>
            <a:spLocks noGrp="1"/>
          </p:cNvSpPr>
          <p:nvPr>
            <p:ph type="sldNum" sz="quarter" idx="4294967295"/>
          </p:nvPr>
        </p:nvSpPr>
        <p:spPr>
          <a:xfrm>
            <a:off x="8229600" y="4754880"/>
            <a:ext cx="457200" cy="274320"/>
          </a:xfrm>
          <a:prstGeom prst="rect">
            <a:avLst/>
          </a:prstGeom>
          <a:extLst>
            <a:ext uri="{C572A759-6A51-4108-AA02-DFA0A04FC94B}">
              <ma14:wrappingTextBoxFlag xmlns:ma14="http://schemas.microsoft.com/office/mac/drawingml/2011/main" val="0"/>
            </a:ext>
          </a:extLst>
        </p:spPr>
        <p:txBody>
          <a:bodyPr/>
          <a:lstStyle>
            <a:lvl1pPr>
              <a:defRPr sz="900">
                <a:solidFill>
                  <a:schemeClr val="accent4"/>
                </a:solidFill>
              </a:defRPr>
            </a:lvl1pPr>
          </a:lstStyle>
          <a:p>
            <a:pPr algn="r"/>
            <a:fld id="{F7021451-1387-4CA6-816F-3879F97B5CBC}" type="slidenum">
              <a:rPr b="0" lang="en-US"/>
              <a:t>13</a:t>
            </a:fld>
            <a:endParaRPr lang="en-US"/>
          </a:p>
        </p:txBody>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name="Slide 14">
    <p:spTree>
      <p:nvGrpSpPr>
        <p:cNvPr id="1" name=""/>
        <p:cNvGrpSpPr/>
        <p:nvPr/>
      </p:nvGrpSpPr>
      <p:grpSpPr>
        <a:xfrm>
          <a:off x="0" y="0"/>
          <a:ext cx="0" cy="0"/>
          <a:chOff x="0" y="0"/>
          <a:chExt cx="0" cy="0"/>
        </a:xfrm>
      </p:grpSpPr>
      <p:sp>
        <p:nvSpPr>
          <p:cNvPr id="2" name="Text 0"/>
          <p:cNvSpPr/>
          <p:nvPr>
            <p:ph idx="100" type="title" hasCustomPrompt="1"/>
          </p:nvPr>
        </p:nvSpPr>
        <p:spPr>
          <a:xfrm>
            <a:off x="457200" y="256032"/>
            <a:ext cx="8229600" cy="566928"/>
          </a:xfrm>
          <a:prstGeom prst="rect">
            <a:avLst/>
          </a:prstGeom>
          <a:noFill/>
          <a:ln/>
        </p:spPr>
        <p:txBody>
          <a:bodyPr wrap="square" lIns="0" tIns="0" rIns="0" bIns="0" rtlCol="0" anchor="ctr"/>
          <a:lstStyle/>
          <a:p>
            <a:pPr algn="l" indent="0" marL="0">
              <a:buNone/>
            </a:pPr>
            <a:r>
              <a:rPr lang="en-US" sz="2600" b="1" dirty="0">
                <a:solidFill>
                  <a:schemeClr val="tx1"/>
                </a:solidFill>
              </a:rPr>
              <a:t>Đảm bảo không trả lời tùy tiện</a:t>
            </a:r>
            <a:endParaRPr lang="en-US" sz="2600" dirty="0"/>
          </a:p>
        </p:txBody>
      </p:sp>
      <p:sp>
        <p:nvSpPr>
          <p:cNvPr id="3" name="card"/>
          <p:cNvSpPr/>
          <p:nvPr/>
        </p:nvSpPr>
        <p:spPr>
          <a:xfrm>
            <a:off x="457200" y="1005840"/>
            <a:ext cx="2423160" cy="1554480"/>
          </a:xfrm>
          <a:prstGeom prst="roundRect">
            <a:avLst>
              <a:gd name="adj" fmla="val 4706"/>
            </a:avLst>
          </a:prstGeom>
          <a:solidFill>
            <a:schemeClr val="bg2"/>
          </a:solidFill>
          <a:ln w="9525">
            <a:solidFill>
              <a:schemeClr val="bg2"/>
            </a:solidFill>
            <a:prstDash val="solid"/>
          </a:ln>
        </p:spPr>
      </p:sp>
      <p:sp>
        <p:nvSpPr>
          <p:cNvPr id="4" name="badge"/>
          <p:cNvSpPr/>
          <p:nvPr/>
        </p:nvSpPr>
        <p:spPr>
          <a:xfrm>
            <a:off x="621792" y="1170432"/>
            <a:ext cx="384048" cy="384048"/>
          </a:xfrm>
          <a:prstGeom prst="ellipse">
            <a:avLst/>
          </a:prstGeom>
          <a:solidFill>
            <a:schemeClr val="accent1"/>
          </a:solidFill>
          <a:ln w="12700">
            <a:solidFill>
              <a:schemeClr val="accent1"/>
            </a:solidFill>
            <a:prstDash val="solid"/>
          </a:ln>
        </p:spPr>
      </p:sp>
      <p:sp>
        <p:nvSpPr>
          <p:cNvPr id="5" name="Text 3"/>
          <p:cNvSpPr txBox="1"/>
          <p:nvPr/>
        </p:nvSpPr>
        <p:spPr>
          <a:xfrm>
            <a:off x="621792" y="1170432"/>
            <a:ext cx="384048" cy="384048"/>
          </a:xfrm>
          <a:prstGeom prst="rect">
            <a:avLst/>
          </a:prstGeom>
          <a:noFill/>
          <a:ln/>
        </p:spPr>
        <p:txBody>
          <a:bodyPr wrap="square" lIns="0" tIns="0" rIns="0" bIns="0" rtlCol="0" anchor="ctr"/>
          <a:lstStyle/>
          <a:p>
            <a:pPr algn="ctr" indent="0" marL="0">
              <a:buNone/>
            </a:pPr>
            <a:r>
              <a:rPr lang="en-US" sz="1300" b="1" dirty="0">
                <a:solidFill>
                  <a:schemeClr val="bg1"/>
                </a:solidFill>
              </a:rPr>
              <a:t>1</a:t>
            </a:r>
            <a:endParaRPr lang="en-US" sz="1300" dirty="0"/>
          </a:p>
        </p:txBody>
      </p:sp>
      <p:sp>
        <p:nvSpPr>
          <p:cNvPr id="6" name="Text 4"/>
          <p:cNvSpPr txBox="1"/>
          <p:nvPr/>
        </p:nvSpPr>
        <p:spPr>
          <a:xfrm>
            <a:off x="1115568" y="1170432"/>
            <a:ext cx="1691640" cy="384048"/>
          </a:xfrm>
          <a:prstGeom prst="rect">
            <a:avLst/>
          </a:prstGeom>
          <a:noFill/>
          <a:ln/>
        </p:spPr>
        <p:txBody>
          <a:bodyPr wrap="square" lIns="0" tIns="0" rIns="0" bIns="0" rtlCol="0" anchor="ctr"/>
          <a:lstStyle/>
          <a:p>
            <a:pPr indent="0" marL="0">
              <a:buNone/>
            </a:pPr>
            <a:r>
              <a:rPr lang="en-US" sz="1350" b="1" dirty="0">
                <a:solidFill>
                  <a:schemeClr val="tx1"/>
                </a:solidFill>
              </a:rPr>
              <a:t>Dữ liệu thật</a:t>
            </a:r>
            <a:endParaRPr lang="en-US" sz="1350" dirty="0"/>
          </a:p>
        </p:txBody>
      </p:sp>
      <p:sp>
        <p:nvSpPr>
          <p:cNvPr id="7" name="Text 5"/>
          <p:cNvSpPr txBox="1"/>
          <p:nvPr/>
        </p:nvSpPr>
        <p:spPr>
          <a:xfrm>
            <a:off x="621792" y="1664208"/>
            <a:ext cx="2148840" cy="822960"/>
          </a:xfrm>
          <a:prstGeom prst="rect">
            <a:avLst/>
          </a:prstGeom>
          <a:noFill/>
          <a:ln/>
        </p:spPr>
        <p:txBody>
          <a:bodyPr wrap="square" lIns="0" tIns="0" rIns="0" bIns="0" rtlCol="0" anchor="ctr"/>
          <a:lstStyle/>
          <a:p>
            <a:pPr indent="0" marL="0">
              <a:buNone/>
            </a:pPr>
            <a:r>
              <a:rPr lang="en-US" sz="1100" dirty="0">
                <a:solidFill>
                  <a:schemeClr val="tx2"/>
                </a:solidFill>
              </a:rPr>
              <a:t>Tên, giá, màu, size, tồn kho luôn lấy từ cơ sở dữ liệu; thẻ sản phẩm dựng trực tiếp từ dữ liệu.</a:t>
            </a:r>
            <a:endParaRPr lang="en-US" sz="1100" dirty="0"/>
          </a:p>
        </p:txBody>
      </p:sp>
      <p:sp>
        <p:nvSpPr>
          <p:cNvPr id="8" name="card"/>
          <p:cNvSpPr/>
          <p:nvPr/>
        </p:nvSpPr>
        <p:spPr>
          <a:xfrm>
            <a:off x="3063240" y="1005840"/>
            <a:ext cx="2423160" cy="1554480"/>
          </a:xfrm>
          <a:prstGeom prst="roundRect">
            <a:avLst>
              <a:gd name="adj" fmla="val 4706"/>
            </a:avLst>
          </a:prstGeom>
          <a:solidFill>
            <a:schemeClr val="bg2"/>
          </a:solidFill>
          <a:ln w="9525">
            <a:solidFill>
              <a:schemeClr val="bg2"/>
            </a:solidFill>
            <a:prstDash val="solid"/>
          </a:ln>
        </p:spPr>
      </p:sp>
      <p:sp>
        <p:nvSpPr>
          <p:cNvPr id="9" name="badge"/>
          <p:cNvSpPr/>
          <p:nvPr/>
        </p:nvSpPr>
        <p:spPr>
          <a:xfrm>
            <a:off x="3227832" y="1170432"/>
            <a:ext cx="384048" cy="384048"/>
          </a:xfrm>
          <a:prstGeom prst="ellipse">
            <a:avLst/>
          </a:prstGeom>
          <a:solidFill>
            <a:schemeClr val="accent1"/>
          </a:solidFill>
          <a:ln w="12700">
            <a:solidFill>
              <a:schemeClr val="accent1"/>
            </a:solidFill>
            <a:prstDash val="solid"/>
          </a:ln>
        </p:spPr>
      </p:sp>
      <p:sp>
        <p:nvSpPr>
          <p:cNvPr id="10" name="Text 8"/>
          <p:cNvSpPr txBox="1"/>
          <p:nvPr/>
        </p:nvSpPr>
        <p:spPr>
          <a:xfrm>
            <a:off x="3227832" y="1170432"/>
            <a:ext cx="384048" cy="384048"/>
          </a:xfrm>
          <a:prstGeom prst="rect">
            <a:avLst/>
          </a:prstGeom>
          <a:noFill/>
          <a:ln/>
        </p:spPr>
        <p:txBody>
          <a:bodyPr wrap="square" lIns="0" tIns="0" rIns="0" bIns="0" rtlCol="0" anchor="ctr"/>
          <a:lstStyle/>
          <a:p>
            <a:pPr algn="ctr" indent="0" marL="0">
              <a:buNone/>
            </a:pPr>
            <a:r>
              <a:rPr lang="en-US" sz="1300" b="1" dirty="0">
                <a:solidFill>
                  <a:schemeClr val="bg1"/>
                </a:solidFill>
              </a:rPr>
              <a:t>2</a:t>
            </a:r>
            <a:endParaRPr lang="en-US" sz="1300" dirty="0"/>
          </a:p>
        </p:txBody>
      </p:sp>
      <p:sp>
        <p:nvSpPr>
          <p:cNvPr id="11" name="Text 9"/>
          <p:cNvSpPr txBox="1"/>
          <p:nvPr/>
        </p:nvSpPr>
        <p:spPr>
          <a:xfrm>
            <a:off x="3721608" y="1170432"/>
            <a:ext cx="1691640" cy="384048"/>
          </a:xfrm>
          <a:prstGeom prst="rect">
            <a:avLst/>
          </a:prstGeom>
          <a:noFill/>
          <a:ln/>
        </p:spPr>
        <p:txBody>
          <a:bodyPr wrap="square" lIns="0" tIns="0" rIns="0" bIns="0" rtlCol="0" anchor="ctr"/>
          <a:lstStyle/>
          <a:p>
            <a:pPr indent="0" marL="0">
              <a:buNone/>
            </a:pPr>
            <a:r>
              <a:rPr lang="en-US" sz="1350" b="1" dirty="0">
                <a:solidFill>
                  <a:schemeClr val="tx1"/>
                </a:solidFill>
              </a:rPr>
              <a:t>AI bị giới hạn</a:t>
            </a:r>
            <a:endParaRPr lang="en-US" sz="1350" dirty="0"/>
          </a:p>
        </p:txBody>
      </p:sp>
      <p:sp>
        <p:nvSpPr>
          <p:cNvPr id="12" name="Text 10"/>
          <p:cNvSpPr txBox="1"/>
          <p:nvPr/>
        </p:nvSpPr>
        <p:spPr>
          <a:xfrm>
            <a:off x="3227832" y="1664208"/>
            <a:ext cx="2148840" cy="822960"/>
          </a:xfrm>
          <a:prstGeom prst="rect">
            <a:avLst/>
          </a:prstGeom>
          <a:noFill/>
          <a:ln/>
        </p:spPr>
        <p:txBody>
          <a:bodyPr wrap="square" lIns="0" tIns="0" rIns="0" bIns="0" rtlCol="0" anchor="ctr"/>
          <a:lstStyle/>
          <a:p>
            <a:pPr indent="0" marL="0">
              <a:buNone/>
            </a:pPr>
            <a:r>
              <a:rPr lang="en-US" sz="1100" dirty="0">
                <a:solidFill>
                  <a:schemeClr val="tx2"/>
                </a:solidFill>
              </a:rPr>
              <a:t>Gemini chỉ hiểu câu hỏi và diễn đạt lại; bị cấm thêm sản phẩm, giá, chính sách.</a:t>
            </a:r>
            <a:endParaRPr lang="en-US" sz="1100" dirty="0"/>
          </a:p>
        </p:txBody>
      </p:sp>
      <p:sp>
        <p:nvSpPr>
          <p:cNvPr id="13" name="card"/>
          <p:cNvSpPr/>
          <p:nvPr/>
        </p:nvSpPr>
        <p:spPr>
          <a:xfrm>
            <a:off x="457200" y="2743200"/>
            <a:ext cx="2423160" cy="1554480"/>
          </a:xfrm>
          <a:prstGeom prst="roundRect">
            <a:avLst>
              <a:gd name="adj" fmla="val 4706"/>
            </a:avLst>
          </a:prstGeom>
          <a:solidFill>
            <a:schemeClr val="bg2"/>
          </a:solidFill>
          <a:ln w="9525">
            <a:solidFill>
              <a:schemeClr val="bg2"/>
            </a:solidFill>
            <a:prstDash val="solid"/>
          </a:ln>
        </p:spPr>
      </p:sp>
      <p:sp>
        <p:nvSpPr>
          <p:cNvPr id="14" name="badge"/>
          <p:cNvSpPr/>
          <p:nvPr/>
        </p:nvSpPr>
        <p:spPr>
          <a:xfrm>
            <a:off x="621792" y="2907792"/>
            <a:ext cx="384048" cy="384048"/>
          </a:xfrm>
          <a:prstGeom prst="ellipse">
            <a:avLst/>
          </a:prstGeom>
          <a:solidFill>
            <a:schemeClr val="accent1"/>
          </a:solidFill>
          <a:ln w="12700">
            <a:solidFill>
              <a:schemeClr val="accent1"/>
            </a:solidFill>
            <a:prstDash val="solid"/>
          </a:ln>
        </p:spPr>
      </p:sp>
      <p:sp>
        <p:nvSpPr>
          <p:cNvPr id="15" name="Text 13"/>
          <p:cNvSpPr txBox="1"/>
          <p:nvPr/>
        </p:nvSpPr>
        <p:spPr>
          <a:xfrm>
            <a:off x="621792" y="2907792"/>
            <a:ext cx="384048" cy="384048"/>
          </a:xfrm>
          <a:prstGeom prst="rect">
            <a:avLst/>
          </a:prstGeom>
          <a:noFill/>
          <a:ln/>
        </p:spPr>
        <p:txBody>
          <a:bodyPr wrap="square" lIns="0" tIns="0" rIns="0" bIns="0" rtlCol="0" anchor="ctr"/>
          <a:lstStyle/>
          <a:p>
            <a:pPr algn="ctr" indent="0" marL="0">
              <a:buNone/>
            </a:pPr>
            <a:r>
              <a:rPr lang="en-US" sz="1300" b="1" dirty="0">
                <a:solidFill>
                  <a:schemeClr val="bg1"/>
                </a:solidFill>
              </a:rPr>
              <a:t>3</a:t>
            </a:r>
            <a:endParaRPr lang="en-US" sz="1300" dirty="0"/>
          </a:p>
        </p:txBody>
      </p:sp>
      <p:sp>
        <p:nvSpPr>
          <p:cNvPr id="16" name="Text 14"/>
          <p:cNvSpPr txBox="1"/>
          <p:nvPr/>
        </p:nvSpPr>
        <p:spPr>
          <a:xfrm>
            <a:off x="1115568" y="2907792"/>
            <a:ext cx="1691640" cy="384048"/>
          </a:xfrm>
          <a:prstGeom prst="rect">
            <a:avLst/>
          </a:prstGeom>
          <a:noFill/>
          <a:ln/>
        </p:spPr>
        <p:txBody>
          <a:bodyPr wrap="square" lIns="0" tIns="0" rIns="0" bIns="0" rtlCol="0" anchor="ctr"/>
          <a:lstStyle/>
          <a:p>
            <a:pPr indent="0" marL="0">
              <a:buNone/>
            </a:pPr>
            <a:r>
              <a:rPr lang="en-US" sz="1350" b="1" dirty="0">
                <a:solidFill>
                  <a:schemeClr val="tx1"/>
                </a:solidFill>
              </a:rPr>
              <a:t>Nói thật khi thiếu hàng</a:t>
            </a:r>
            <a:endParaRPr lang="en-US" sz="1350" dirty="0"/>
          </a:p>
        </p:txBody>
      </p:sp>
      <p:sp>
        <p:nvSpPr>
          <p:cNvPr id="17" name="Text 15"/>
          <p:cNvSpPr txBox="1"/>
          <p:nvPr/>
        </p:nvSpPr>
        <p:spPr>
          <a:xfrm>
            <a:off x="621792" y="3401568"/>
            <a:ext cx="2148840" cy="822960"/>
          </a:xfrm>
          <a:prstGeom prst="rect">
            <a:avLst/>
          </a:prstGeom>
          <a:noFill/>
          <a:ln/>
        </p:spPr>
        <p:txBody>
          <a:bodyPr wrap="square" lIns="0" tIns="0" rIns="0" bIns="0" rtlCol="0" anchor="ctr"/>
          <a:lstStyle/>
          <a:p>
            <a:pPr indent="0" marL="0">
              <a:buNone/>
            </a:pPr>
            <a:r>
              <a:rPr lang="en-US" sz="1100" dirty="0">
                <a:solidFill>
                  <a:schemeClr val="tx2"/>
                </a:solidFill>
              </a:rPr>
              <a:t>"Hiện shop chưa có sản phẩm đúng màu hồng..." kèm các mẫu gần nhất.</a:t>
            </a:r>
            <a:endParaRPr lang="en-US" sz="1100" dirty="0"/>
          </a:p>
        </p:txBody>
      </p:sp>
      <p:sp>
        <p:nvSpPr>
          <p:cNvPr id="18" name="card"/>
          <p:cNvSpPr/>
          <p:nvPr/>
        </p:nvSpPr>
        <p:spPr>
          <a:xfrm>
            <a:off x="3063240" y="2743200"/>
            <a:ext cx="2423160" cy="1554480"/>
          </a:xfrm>
          <a:prstGeom prst="roundRect">
            <a:avLst>
              <a:gd name="adj" fmla="val 4706"/>
            </a:avLst>
          </a:prstGeom>
          <a:solidFill>
            <a:schemeClr val="bg2"/>
          </a:solidFill>
          <a:ln w="9525">
            <a:solidFill>
              <a:schemeClr val="bg2"/>
            </a:solidFill>
            <a:prstDash val="solid"/>
          </a:ln>
        </p:spPr>
      </p:sp>
      <p:sp>
        <p:nvSpPr>
          <p:cNvPr id="19" name="badge"/>
          <p:cNvSpPr/>
          <p:nvPr/>
        </p:nvSpPr>
        <p:spPr>
          <a:xfrm>
            <a:off x="3227832" y="2907792"/>
            <a:ext cx="384048" cy="384048"/>
          </a:xfrm>
          <a:prstGeom prst="ellipse">
            <a:avLst/>
          </a:prstGeom>
          <a:solidFill>
            <a:schemeClr val="accent1"/>
          </a:solidFill>
          <a:ln w="12700">
            <a:solidFill>
              <a:schemeClr val="accent1"/>
            </a:solidFill>
            <a:prstDash val="solid"/>
          </a:ln>
        </p:spPr>
      </p:sp>
      <p:sp>
        <p:nvSpPr>
          <p:cNvPr id="20" name="Text 18"/>
          <p:cNvSpPr txBox="1"/>
          <p:nvPr/>
        </p:nvSpPr>
        <p:spPr>
          <a:xfrm>
            <a:off x="3227832" y="2907792"/>
            <a:ext cx="384048" cy="384048"/>
          </a:xfrm>
          <a:prstGeom prst="rect">
            <a:avLst/>
          </a:prstGeom>
          <a:noFill/>
          <a:ln/>
        </p:spPr>
        <p:txBody>
          <a:bodyPr wrap="square" lIns="0" tIns="0" rIns="0" bIns="0" rtlCol="0" anchor="ctr"/>
          <a:lstStyle/>
          <a:p>
            <a:pPr algn="ctr" indent="0" marL="0">
              <a:buNone/>
            </a:pPr>
            <a:r>
              <a:rPr lang="en-US" sz="1300" b="1" dirty="0">
                <a:solidFill>
                  <a:schemeClr val="bg1"/>
                </a:solidFill>
              </a:rPr>
              <a:t>4</a:t>
            </a:r>
            <a:endParaRPr lang="en-US" sz="1300" dirty="0"/>
          </a:p>
        </p:txBody>
      </p:sp>
      <p:sp>
        <p:nvSpPr>
          <p:cNvPr id="21" name="Text 19"/>
          <p:cNvSpPr txBox="1"/>
          <p:nvPr/>
        </p:nvSpPr>
        <p:spPr>
          <a:xfrm>
            <a:off x="3721608" y="2907792"/>
            <a:ext cx="1691640" cy="384048"/>
          </a:xfrm>
          <a:prstGeom prst="rect">
            <a:avLst/>
          </a:prstGeom>
          <a:noFill/>
          <a:ln/>
        </p:spPr>
        <p:txBody>
          <a:bodyPr wrap="square" lIns="0" tIns="0" rIns="0" bIns="0" rtlCol="0" anchor="ctr"/>
          <a:lstStyle/>
          <a:p>
            <a:pPr indent="0" marL="0">
              <a:buNone/>
            </a:pPr>
            <a:r>
              <a:rPr lang="en-US" sz="1350" b="1" dirty="0">
                <a:solidFill>
                  <a:schemeClr val="tx1"/>
                </a:solidFill>
              </a:rPr>
              <a:t>Từ chối ngoài phạm vi</a:t>
            </a:r>
            <a:endParaRPr lang="en-US" sz="1350" dirty="0"/>
          </a:p>
        </p:txBody>
      </p:sp>
      <p:sp>
        <p:nvSpPr>
          <p:cNvPr id="22" name="Text 20"/>
          <p:cNvSpPr txBox="1"/>
          <p:nvPr/>
        </p:nvSpPr>
        <p:spPr>
          <a:xfrm>
            <a:off x="3227832" y="3401568"/>
            <a:ext cx="2148840" cy="822960"/>
          </a:xfrm>
          <a:prstGeom prst="rect">
            <a:avLst/>
          </a:prstGeom>
          <a:noFill/>
          <a:ln/>
        </p:spPr>
        <p:txBody>
          <a:bodyPr wrap="square" lIns="0" tIns="0" rIns="0" bIns="0" rtlCol="0" anchor="ctr"/>
          <a:lstStyle/>
          <a:p>
            <a:pPr indent="0" marL="0">
              <a:buNone/>
            </a:pPr>
            <a:r>
              <a:rPr lang="en-US" sz="1100" dirty="0">
                <a:solidFill>
                  <a:schemeClr val="tx2"/>
                </a:solidFill>
              </a:rPr>
              <a:t>Câu hỏi thời tiết, kiến thức chung, đồ bơi... được từ chối lịch sự.</a:t>
            </a:r>
            <a:endParaRPr lang="en-US" sz="1100" dirty="0"/>
          </a:p>
        </p:txBody>
      </p:sp>
      <p:sp>
        <p:nvSpPr>
          <p:cNvPr id="23" name="frame-12-tu-choi.png"/>
          <p:cNvSpPr/>
          <p:nvPr/>
        </p:nvSpPr>
        <p:spPr>
          <a:xfrm>
            <a:off x="5998464" y="923544"/>
            <a:ext cx="1697248" cy="3593592"/>
          </a:xfrm>
          <a:prstGeom prst="roundRect">
            <a:avLst>
              <a:gd name="adj" fmla="val 3233"/>
            </a:avLst>
          </a:prstGeom>
          <a:solidFill>
            <a:schemeClr val="bg1"/>
          </a:solidFill>
          <a:ln w="9525">
            <a:solidFill>
              <a:srgbClr val="E5E7EB"/>
            </a:solidFill>
            <a:prstDash val="solid"/>
          </a:ln>
          <a:effectLst>
            <a:outerShdw sx="100000" sy="100000" kx="0" ky="0" algn="bl" rotWithShape="0" blurRad="101600" dist="25400" dir="5400000">
              <a:srgbClr val="000000">
                <a:alpha val="12000"/>
              </a:srgbClr>
            </a:outerShdw>
          </a:effectLst>
        </p:spPr>
      </p:sp>
      <p:pic>
        <p:nvPicPr>
          <p:cNvPr id="24" name="img-12-tu-choi.png" descr="12-tu-choi.png">    </p:cNvPr>
          <p:cNvPicPr>
            <a:picLocks noChangeAspect="1"/>
          </p:cNvPicPr>
          <p:nvPr/>
        </p:nvPicPr>
        <p:blipFill>
          <a:blip r:embed="rId1"/>
          <a:stretch>
            <a:fillRect/>
          </a:stretch>
        </p:blipFill>
        <p:spPr>
          <a:xfrm>
            <a:off x="6035040" y="960120"/>
            <a:ext cx="1624096" cy="3520440"/>
          </a:xfrm>
          <a:prstGeom prst="rect">
            <a:avLst/>
          </a:prstGeom>
        </p:spPr>
      </p:pic>
      <p:sp>
        <p:nvSpPr>
          <p:cNvPr id="25" name="Slide Number Placeholder 0"/>
          <p:cNvSpPr>
            <a:spLocks noGrp="1"/>
          </p:cNvSpPr>
          <p:nvPr>
            <p:ph type="sldNum" sz="quarter" idx="4294967295"/>
          </p:nvPr>
        </p:nvSpPr>
        <p:spPr>
          <a:xfrm>
            <a:off x="8229600" y="4754880"/>
            <a:ext cx="457200" cy="274320"/>
          </a:xfrm>
          <a:prstGeom prst="rect">
            <a:avLst/>
          </a:prstGeom>
          <a:extLst>
            <a:ext uri="{C572A759-6A51-4108-AA02-DFA0A04FC94B}">
              <ma14:wrappingTextBoxFlag xmlns:ma14="http://schemas.microsoft.com/office/mac/drawingml/2011/main" val="0"/>
            </a:ext>
          </a:extLst>
        </p:spPr>
        <p:txBody>
          <a:bodyPr/>
          <a:lstStyle>
            <a:lvl1pPr>
              <a:defRPr sz="900">
                <a:solidFill>
                  <a:schemeClr val="accent4"/>
                </a:solidFill>
              </a:defRPr>
            </a:lvl1pPr>
          </a:lstStyle>
          <a:p>
            <a:pPr algn="r"/>
            <a:fld id="{F7021451-1387-4CA6-816F-3879F97B5CBC}" type="slidenum">
              <a:rPr b="0" lang="en-US"/>
              <a:t>14</a:t>
            </a:fld>
            <a:endParaRPr lang="en-US"/>
          </a:p>
        </p:txBody>
      </p:sp>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name="Slide 15">
    <p:spTree>
      <p:nvGrpSpPr>
        <p:cNvPr id="1" name=""/>
        <p:cNvGrpSpPr/>
        <p:nvPr/>
      </p:nvGrpSpPr>
      <p:grpSpPr>
        <a:xfrm>
          <a:off x="0" y="0"/>
          <a:ext cx="0" cy="0"/>
          <a:chOff x="0" y="0"/>
          <a:chExt cx="0" cy="0"/>
        </a:xfrm>
      </p:grpSpPr>
      <p:sp>
        <p:nvSpPr>
          <p:cNvPr id="2" name="Text 0"/>
          <p:cNvSpPr/>
          <p:nvPr>
            <p:ph idx="100" type="body" hasCustomPrompt="1"/>
          </p:nvPr>
        </p:nvSpPr>
        <p:spPr>
          <a:xfrm>
            <a:off x="640080" y="1097280"/>
            <a:ext cx="2743200" cy="1280160"/>
          </a:xfrm>
          <a:prstGeom prst="rect">
            <a:avLst/>
          </a:prstGeom>
          <a:noFill/>
          <a:ln/>
        </p:spPr>
        <p:txBody>
          <a:bodyPr wrap="square" lIns="0" tIns="0" rIns="0" bIns="0" rtlCol="0" anchor="b"/>
          <a:lstStyle/>
          <a:p>
            <a:pPr algn="l" indent="0" marL="0">
              <a:buNone/>
            </a:pPr>
            <a:r>
              <a:rPr lang="en-US" sz="9600" b="1" dirty="0">
                <a:solidFill>
                  <a:schemeClr val="accent1"/>
                </a:solidFill>
              </a:rPr>
              <a:t>04</a:t>
            </a:r>
            <a:endParaRPr lang="en-US" sz="9600" dirty="0"/>
          </a:p>
        </p:txBody>
      </p:sp>
      <p:sp>
        <p:nvSpPr>
          <p:cNvPr id="3" name="Text 0"/>
          <p:cNvSpPr/>
          <p:nvPr>
            <p:ph idx="101" type="title" hasCustomPrompt="1"/>
          </p:nvPr>
        </p:nvSpPr>
        <p:spPr>
          <a:xfrm>
            <a:off x="640080" y="2423160"/>
            <a:ext cx="7863840" cy="822960"/>
          </a:xfrm>
          <a:prstGeom prst="rect">
            <a:avLst/>
          </a:prstGeom>
          <a:noFill/>
          <a:ln/>
        </p:spPr>
        <p:txBody>
          <a:bodyPr wrap="square" lIns="0" tIns="0" rIns="0" bIns="0" rtlCol="0" anchor="t"/>
          <a:lstStyle/>
          <a:p>
            <a:pPr algn="l" indent="0" marL="0">
              <a:buNone/>
            </a:pPr>
            <a:r>
              <a:rPr lang="en-US" sz="3600" b="1" dirty="0">
                <a:solidFill>
                  <a:schemeClr val="bg1"/>
                </a:solidFill>
              </a:rPr>
              <a:t>Xây dựng chương trình</a:t>
            </a:r>
            <a:endParaRPr lang="en-US" sz="3600" dirty="0"/>
          </a:p>
        </p:txBody>
      </p:sp>
      <p:sp>
        <p:nvSpPr>
          <p:cNvPr id="4" name="Text 0"/>
          <p:cNvSpPr/>
          <p:nvPr>
            <p:ph idx="102" type="body" hasCustomPrompt="1"/>
          </p:nvPr>
        </p:nvSpPr>
        <p:spPr>
          <a:xfrm>
            <a:off x="640080" y="3246120"/>
            <a:ext cx="7863840" cy="548640"/>
          </a:xfrm>
          <a:prstGeom prst="rect">
            <a:avLst/>
          </a:prstGeom>
          <a:noFill/>
          <a:ln/>
        </p:spPr>
        <p:txBody>
          <a:bodyPr wrap="square" lIns="0" tIns="0" rIns="0" bIns="0" rtlCol="0" anchor="t"/>
          <a:lstStyle/>
          <a:p>
            <a:pPr algn="l" indent="0" marL="0">
              <a:buNone/>
            </a:pPr>
            <a:r>
              <a:rPr lang="en-US" sz="1600" dirty="0">
                <a:solidFill>
                  <a:schemeClr val="accent4"/>
                </a:solidFill>
              </a:rPr>
              <a:t>Công nghệ, giao diện và kết quả kiểm thử</a:t>
            </a:r>
            <a:endParaRPr lang="en-US" sz="1600" dirty="0"/>
          </a:p>
        </p:txBody>
      </p:sp>
      <p:sp>
        <p:nvSpPr>
          <p:cNvPr id="5" name="motif"/>
          <p:cNvSpPr/>
          <p:nvPr/>
        </p:nvSpPr>
        <p:spPr>
          <a:xfrm>
            <a:off x="6492240" y="-1097280"/>
            <a:ext cx="3840480" cy="3840480"/>
          </a:xfrm>
          <a:prstGeom prst="ellipse">
            <a:avLst/>
          </a:prstGeom>
          <a:solidFill>
            <a:schemeClr val="accent1">
              <a:alpha val="15000"/>
            </a:schemeClr>
          </a:solidFill>
          <a:ln w="12700">
            <a:solidFill>
              <a:schemeClr val="accent1">
                <a:alpha val="15000"/>
              </a:schemeClr>
            </a:solidFill>
            <a:prstDash val="solid"/>
          </a:ln>
        </p:spPr>
      </p:sp>
      <p:sp>
        <p:nvSpPr>
          <p:cNvPr id="6" name="motif-2"/>
          <p:cNvSpPr/>
          <p:nvPr/>
        </p:nvSpPr>
        <p:spPr>
          <a:xfrm>
            <a:off x="7498080" y="3566160"/>
            <a:ext cx="2194560" cy="2194560"/>
          </a:xfrm>
          <a:prstGeom prst="ellipse">
            <a:avLst/>
          </a:prstGeom>
          <a:solidFill>
            <a:schemeClr val="accent1">
              <a:alpha val="8000"/>
            </a:schemeClr>
          </a:solidFill>
          <a:ln w="12700">
            <a:solidFill>
              <a:schemeClr val="accent1">
                <a:alpha val="8000"/>
              </a:schemeClr>
            </a:solidFill>
            <a:prstDash val="solid"/>
          </a:ln>
        </p:spPr>
      </p:sp>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name="Slide 16">
    <p:spTree>
      <p:nvGrpSpPr>
        <p:cNvPr id="1" name=""/>
        <p:cNvGrpSpPr/>
        <p:nvPr/>
      </p:nvGrpSpPr>
      <p:grpSpPr>
        <a:xfrm>
          <a:off x="0" y="0"/>
          <a:ext cx="0" cy="0"/>
          <a:chOff x="0" y="0"/>
          <a:chExt cx="0" cy="0"/>
        </a:xfrm>
      </p:grpSpPr>
      <p:sp>
        <p:nvSpPr>
          <p:cNvPr id="2" name="Text 0"/>
          <p:cNvSpPr/>
          <p:nvPr>
            <p:ph idx="100" type="title" hasCustomPrompt="1"/>
          </p:nvPr>
        </p:nvSpPr>
        <p:spPr>
          <a:xfrm>
            <a:off x="457200" y="256032"/>
            <a:ext cx="8229600" cy="566928"/>
          </a:xfrm>
          <a:prstGeom prst="rect">
            <a:avLst/>
          </a:prstGeom>
          <a:noFill/>
          <a:ln/>
        </p:spPr>
        <p:txBody>
          <a:bodyPr wrap="square" lIns="0" tIns="0" rIns="0" bIns="0" rtlCol="0" anchor="ctr"/>
          <a:lstStyle/>
          <a:p>
            <a:pPr algn="l" indent="0" marL="0">
              <a:buNone/>
            </a:pPr>
            <a:r>
              <a:rPr lang="en-US" sz="2600" b="1" dirty="0">
                <a:solidFill>
                  <a:schemeClr val="tx1"/>
                </a:solidFill>
              </a:rPr>
              <a:t>Công nghệ &amp; kết quả kiểm thử</a:t>
            </a:r>
            <a:endParaRPr lang="en-US" sz="2600" dirty="0"/>
          </a:p>
        </p:txBody>
      </p:sp>
      <p:sp>
        <p:nvSpPr>
          <p:cNvPr id="3" name="card"/>
          <p:cNvSpPr/>
          <p:nvPr/>
        </p:nvSpPr>
        <p:spPr>
          <a:xfrm>
            <a:off x="457200" y="1005840"/>
            <a:ext cx="2240280" cy="932688"/>
          </a:xfrm>
          <a:prstGeom prst="roundRect">
            <a:avLst>
              <a:gd name="adj" fmla="val 7843"/>
            </a:avLst>
          </a:prstGeom>
          <a:solidFill>
            <a:schemeClr val="bg2"/>
          </a:solidFill>
          <a:ln w="9525">
            <a:solidFill>
              <a:schemeClr val="bg2"/>
            </a:solidFill>
            <a:prstDash val="solid"/>
          </a:ln>
        </p:spPr>
      </p:sp>
      <p:sp>
        <p:nvSpPr>
          <p:cNvPr id="4" name="Text 2"/>
          <p:cNvSpPr txBox="1"/>
          <p:nvPr/>
        </p:nvSpPr>
        <p:spPr>
          <a:xfrm>
            <a:off x="621792" y="1005840"/>
            <a:ext cx="1965960" cy="932688"/>
          </a:xfrm>
          <a:prstGeom prst="rect">
            <a:avLst/>
          </a:prstGeom>
          <a:noFill/>
          <a:ln/>
        </p:spPr>
        <p:txBody>
          <a:bodyPr wrap="square" lIns="0" tIns="0" rIns="0" bIns="0" rtlCol="0" anchor="ctr"/>
          <a:lstStyle/>
          <a:p>
            <a:pPr indent="0" marL="0">
              <a:buNone/>
            </a:pPr>
            <a:r>
              <a:rPr lang="en-US" sz="1400" b="1" dirty="0">
                <a:solidFill>
                  <a:schemeClr val="tx1"/>
                </a:solidFill>
              </a:rPr>
              <a:t>Laravel 10</a:t>
            </a:r>
            <a:endParaRPr lang="en-US" sz="1400" dirty="0"/>
          </a:p>
          <a:p>
            <a:pPr indent="0" marL="0">
              <a:buNone/>
            </a:pPr>
            <a:r>
              <a:rPr lang="en-US" sz="1100" dirty="0">
                <a:solidFill>
                  <a:schemeClr val="tx2"/>
                </a:solidFill>
              </a:rPr>
              <a:t>PHP 8.2 – xử lý nghiệp vụ, API</a:t>
            </a:r>
            <a:endParaRPr lang="en-US" sz="1400" dirty="0"/>
          </a:p>
        </p:txBody>
      </p:sp>
      <p:sp>
        <p:nvSpPr>
          <p:cNvPr id="5" name="card"/>
          <p:cNvSpPr/>
          <p:nvPr/>
        </p:nvSpPr>
        <p:spPr>
          <a:xfrm>
            <a:off x="2834640" y="1005840"/>
            <a:ext cx="2240280" cy="932688"/>
          </a:xfrm>
          <a:prstGeom prst="roundRect">
            <a:avLst>
              <a:gd name="adj" fmla="val 7843"/>
            </a:avLst>
          </a:prstGeom>
          <a:solidFill>
            <a:schemeClr val="bg2"/>
          </a:solidFill>
          <a:ln w="9525">
            <a:solidFill>
              <a:schemeClr val="bg2"/>
            </a:solidFill>
            <a:prstDash val="solid"/>
          </a:ln>
        </p:spPr>
      </p:sp>
      <p:sp>
        <p:nvSpPr>
          <p:cNvPr id="6" name="Text 4"/>
          <p:cNvSpPr txBox="1"/>
          <p:nvPr/>
        </p:nvSpPr>
        <p:spPr>
          <a:xfrm>
            <a:off x="2999232" y="1005840"/>
            <a:ext cx="1965960" cy="932688"/>
          </a:xfrm>
          <a:prstGeom prst="rect">
            <a:avLst/>
          </a:prstGeom>
          <a:noFill/>
          <a:ln/>
        </p:spPr>
        <p:txBody>
          <a:bodyPr wrap="square" lIns="0" tIns="0" rIns="0" bIns="0" rtlCol="0" anchor="ctr"/>
          <a:lstStyle/>
          <a:p>
            <a:pPr indent="0" marL="0">
              <a:buNone/>
            </a:pPr>
            <a:r>
              <a:rPr lang="en-US" sz="1400" b="1" dirty="0">
                <a:solidFill>
                  <a:schemeClr val="tx1"/>
                </a:solidFill>
              </a:rPr>
              <a:t>MySQL / MariaDB</a:t>
            </a:r>
            <a:endParaRPr lang="en-US" sz="1400" dirty="0"/>
          </a:p>
          <a:p>
            <a:pPr indent="0" marL="0">
              <a:buNone/>
            </a:pPr>
            <a:r>
              <a:rPr lang="en-US" sz="1100" dirty="0">
                <a:solidFill>
                  <a:schemeClr val="tx2"/>
                </a:solidFill>
              </a:rPr>
              <a:t>Dữ liệu 100 sản phẩm mẫu</a:t>
            </a:r>
            <a:endParaRPr lang="en-US" sz="1400" dirty="0"/>
          </a:p>
        </p:txBody>
      </p:sp>
      <p:sp>
        <p:nvSpPr>
          <p:cNvPr id="7" name="card"/>
          <p:cNvSpPr/>
          <p:nvPr/>
        </p:nvSpPr>
        <p:spPr>
          <a:xfrm>
            <a:off x="457200" y="2103120"/>
            <a:ext cx="2240280" cy="932688"/>
          </a:xfrm>
          <a:prstGeom prst="roundRect">
            <a:avLst>
              <a:gd name="adj" fmla="val 7843"/>
            </a:avLst>
          </a:prstGeom>
          <a:solidFill>
            <a:schemeClr val="bg2"/>
          </a:solidFill>
          <a:ln w="9525">
            <a:solidFill>
              <a:schemeClr val="bg2"/>
            </a:solidFill>
            <a:prstDash val="solid"/>
          </a:ln>
        </p:spPr>
      </p:sp>
      <p:sp>
        <p:nvSpPr>
          <p:cNvPr id="8" name="Text 6"/>
          <p:cNvSpPr txBox="1"/>
          <p:nvPr/>
        </p:nvSpPr>
        <p:spPr>
          <a:xfrm>
            <a:off x="621792" y="2103120"/>
            <a:ext cx="1965960" cy="932688"/>
          </a:xfrm>
          <a:prstGeom prst="rect">
            <a:avLst/>
          </a:prstGeom>
          <a:noFill/>
          <a:ln/>
        </p:spPr>
        <p:txBody>
          <a:bodyPr wrap="square" lIns="0" tIns="0" rIns="0" bIns="0" rtlCol="0" anchor="ctr"/>
          <a:lstStyle/>
          <a:p>
            <a:pPr indent="0" marL="0">
              <a:buNone/>
            </a:pPr>
            <a:r>
              <a:rPr lang="en-US" sz="1400" b="1" dirty="0">
                <a:solidFill>
                  <a:schemeClr val="tx1"/>
                </a:solidFill>
              </a:rPr>
              <a:t>Google Gemini</a:t>
            </a:r>
            <a:endParaRPr lang="en-US" sz="1400" dirty="0"/>
          </a:p>
          <a:p>
            <a:pPr indent="0" marL="0">
              <a:buNone/>
            </a:pPr>
            <a:r>
              <a:rPr lang="en-US" sz="1100" dirty="0">
                <a:solidFill>
                  <a:schemeClr val="tx2"/>
                </a:solidFill>
              </a:rPr>
              <a:t>flash-lite + 3.5-flash</a:t>
            </a:r>
            <a:endParaRPr lang="en-US" sz="1400" dirty="0"/>
          </a:p>
        </p:txBody>
      </p:sp>
      <p:sp>
        <p:nvSpPr>
          <p:cNvPr id="9" name="card"/>
          <p:cNvSpPr/>
          <p:nvPr/>
        </p:nvSpPr>
        <p:spPr>
          <a:xfrm>
            <a:off x="2834640" y="2103120"/>
            <a:ext cx="2240280" cy="932688"/>
          </a:xfrm>
          <a:prstGeom prst="roundRect">
            <a:avLst>
              <a:gd name="adj" fmla="val 7843"/>
            </a:avLst>
          </a:prstGeom>
          <a:solidFill>
            <a:schemeClr val="bg2"/>
          </a:solidFill>
          <a:ln w="9525">
            <a:solidFill>
              <a:schemeClr val="bg2"/>
            </a:solidFill>
            <a:prstDash val="solid"/>
          </a:ln>
        </p:spPr>
      </p:sp>
      <p:sp>
        <p:nvSpPr>
          <p:cNvPr id="10" name="Text 8"/>
          <p:cNvSpPr txBox="1"/>
          <p:nvPr/>
        </p:nvSpPr>
        <p:spPr>
          <a:xfrm>
            <a:off x="2999232" y="2103120"/>
            <a:ext cx="1965960" cy="932688"/>
          </a:xfrm>
          <a:prstGeom prst="rect">
            <a:avLst/>
          </a:prstGeom>
          <a:noFill/>
          <a:ln/>
        </p:spPr>
        <p:txBody>
          <a:bodyPr wrap="square" lIns="0" tIns="0" rIns="0" bIns="0" rtlCol="0" anchor="ctr"/>
          <a:lstStyle/>
          <a:p>
            <a:pPr indent="0" marL="0">
              <a:buNone/>
            </a:pPr>
            <a:r>
              <a:rPr lang="en-US" sz="1400" b="1" dirty="0">
                <a:solidFill>
                  <a:schemeClr val="tx1"/>
                </a:solidFill>
              </a:rPr>
              <a:t>JavaScript thuần</a:t>
            </a:r>
            <a:endParaRPr lang="en-US" sz="1400" dirty="0"/>
          </a:p>
          <a:p>
            <a:pPr indent="0" marL="0">
              <a:buNone/>
            </a:pPr>
            <a:r>
              <a:rPr lang="en-US" sz="1100" dirty="0">
                <a:solidFill>
                  <a:schemeClr val="tx2"/>
                </a:solidFill>
              </a:rPr>
              <a:t>Giao diện khung chat</a:t>
            </a:r>
            <a:endParaRPr lang="en-US" sz="1400" dirty="0"/>
          </a:p>
        </p:txBody>
      </p:sp>
      <p:sp>
        <p:nvSpPr>
          <p:cNvPr id="11" name="card"/>
          <p:cNvSpPr/>
          <p:nvPr/>
        </p:nvSpPr>
        <p:spPr>
          <a:xfrm>
            <a:off x="457200" y="3200400"/>
            <a:ext cx="2240280" cy="932688"/>
          </a:xfrm>
          <a:prstGeom prst="roundRect">
            <a:avLst>
              <a:gd name="adj" fmla="val 7843"/>
            </a:avLst>
          </a:prstGeom>
          <a:solidFill>
            <a:schemeClr val="bg2"/>
          </a:solidFill>
          <a:ln w="9525">
            <a:solidFill>
              <a:schemeClr val="bg2"/>
            </a:solidFill>
            <a:prstDash val="solid"/>
          </a:ln>
        </p:spPr>
      </p:sp>
      <p:sp>
        <p:nvSpPr>
          <p:cNvPr id="12" name="Text 10"/>
          <p:cNvSpPr txBox="1"/>
          <p:nvPr/>
        </p:nvSpPr>
        <p:spPr>
          <a:xfrm>
            <a:off x="621792" y="3200400"/>
            <a:ext cx="1965960" cy="932688"/>
          </a:xfrm>
          <a:prstGeom prst="rect">
            <a:avLst/>
          </a:prstGeom>
          <a:noFill/>
          <a:ln/>
        </p:spPr>
        <p:txBody>
          <a:bodyPr wrap="square" lIns="0" tIns="0" rIns="0" bIns="0" rtlCol="0" anchor="ctr"/>
          <a:lstStyle/>
          <a:p>
            <a:pPr indent="0" marL="0">
              <a:buNone/>
            </a:pPr>
            <a:r>
              <a:rPr lang="en-US" sz="1400" b="1" dirty="0">
                <a:solidFill>
                  <a:schemeClr val="tx1"/>
                </a:solidFill>
              </a:rPr>
              <a:t>PHPUnit</a:t>
            </a:r>
            <a:endParaRPr lang="en-US" sz="1400" dirty="0"/>
          </a:p>
          <a:p>
            <a:pPr indent="0" marL="0">
              <a:buNone/>
            </a:pPr>
            <a:r>
              <a:rPr lang="en-US" sz="1100" dirty="0">
                <a:solidFill>
                  <a:schemeClr val="tx2"/>
                </a:solidFill>
              </a:rPr>
              <a:t>Kiểm thử tự động</a:t>
            </a:r>
            <a:endParaRPr lang="en-US" sz="1400" dirty="0"/>
          </a:p>
        </p:txBody>
      </p:sp>
      <p:sp>
        <p:nvSpPr>
          <p:cNvPr id="13" name="card"/>
          <p:cNvSpPr/>
          <p:nvPr/>
        </p:nvSpPr>
        <p:spPr>
          <a:xfrm>
            <a:off x="2834640" y="3200400"/>
            <a:ext cx="2240280" cy="932688"/>
          </a:xfrm>
          <a:prstGeom prst="roundRect">
            <a:avLst>
              <a:gd name="adj" fmla="val 7843"/>
            </a:avLst>
          </a:prstGeom>
          <a:solidFill>
            <a:schemeClr val="bg2"/>
          </a:solidFill>
          <a:ln w="9525">
            <a:solidFill>
              <a:schemeClr val="bg2"/>
            </a:solidFill>
            <a:prstDash val="solid"/>
          </a:ln>
        </p:spPr>
      </p:sp>
      <p:sp>
        <p:nvSpPr>
          <p:cNvPr id="14" name="Text 12"/>
          <p:cNvSpPr txBox="1"/>
          <p:nvPr/>
        </p:nvSpPr>
        <p:spPr>
          <a:xfrm>
            <a:off x="2999232" y="3200400"/>
            <a:ext cx="1965960" cy="932688"/>
          </a:xfrm>
          <a:prstGeom prst="rect">
            <a:avLst/>
          </a:prstGeom>
          <a:noFill/>
          <a:ln/>
        </p:spPr>
        <p:txBody>
          <a:bodyPr wrap="square" lIns="0" tIns="0" rIns="0" bIns="0" rtlCol="0" anchor="ctr"/>
          <a:lstStyle/>
          <a:p>
            <a:pPr indent="0" marL="0">
              <a:buNone/>
            </a:pPr>
            <a:r>
              <a:rPr lang="en-US" sz="1400" b="1" dirty="0">
                <a:solidFill>
                  <a:schemeClr val="tx1"/>
                </a:solidFill>
              </a:rPr>
              <a:t>XAMPP</a:t>
            </a:r>
            <a:endParaRPr lang="en-US" sz="1400" dirty="0"/>
          </a:p>
          <a:p>
            <a:pPr indent="0" marL="0">
              <a:buNone/>
            </a:pPr>
            <a:r>
              <a:rPr lang="en-US" sz="1100" dirty="0">
                <a:solidFill>
                  <a:schemeClr val="tx2"/>
                </a:solidFill>
              </a:rPr>
              <a:t>Môi trường chạy demo</a:t>
            </a:r>
            <a:endParaRPr lang="en-US" sz="1400" dirty="0"/>
          </a:p>
        </p:txBody>
      </p:sp>
      <p:sp>
        <p:nvSpPr>
          <p:cNvPr id="15" name="card"/>
          <p:cNvSpPr/>
          <p:nvPr/>
        </p:nvSpPr>
        <p:spPr>
          <a:xfrm>
            <a:off x="5349240" y="1005840"/>
            <a:ext cx="1554480" cy="1508760"/>
          </a:xfrm>
          <a:prstGeom prst="roundRect">
            <a:avLst>
              <a:gd name="adj" fmla="val 4848"/>
            </a:avLst>
          </a:prstGeom>
          <a:solidFill>
            <a:schemeClr val="tx1"/>
          </a:solidFill>
          <a:ln w="9525">
            <a:solidFill>
              <a:schemeClr val="tx1"/>
            </a:solidFill>
            <a:prstDash val="solid"/>
          </a:ln>
        </p:spPr>
      </p:sp>
      <p:sp>
        <p:nvSpPr>
          <p:cNvPr id="16" name="Text 14"/>
          <p:cNvSpPr txBox="1"/>
          <p:nvPr/>
        </p:nvSpPr>
        <p:spPr>
          <a:xfrm>
            <a:off x="5349240" y="1234440"/>
            <a:ext cx="1554480" cy="640080"/>
          </a:xfrm>
          <a:prstGeom prst="rect">
            <a:avLst/>
          </a:prstGeom>
          <a:noFill/>
          <a:ln/>
        </p:spPr>
        <p:txBody>
          <a:bodyPr wrap="square" lIns="0" tIns="0" rIns="0" bIns="0" rtlCol="0" anchor="ctr"/>
          <a:lstStyle/>
          <a:p>
            <a:pPr algn="ctr" indent="0" marL="0">
              <a:buNone/>
            </a:pPr>
            <a:r>
              <a:rPr lang="en-US" sz="3000" b="1" dirty="0">
                <a:solidFill>
                  <a:schemeClr val="accent1"/>
                </a:solidFill>
              </a:rPr>
              <a:t>5/5</a:t>
            </a:r>
            <a:endParaRPr lang="en-US" sz="3000" dirty="0"/>
          </a:p>
        </p:txBody>
      </p:sp>
      <p:sp>
        <p:nvSpPr>
          <p:cNvPr id="17" name="Text 15"/>
          <p:cNvSpPr txBox="1"/>
          <p:nvPr/>
        </p:nvSpPr>
        <p:spPr>
          <a:xfrm>
            <a:off x="5440680" y="1901952"/>
            <a:ext cx="1371600" cy="502920"/>
          </a:xfrm>
          <a:prstGeom prst="rect">
            <a:avLst/>
          </a:prstGeom>
          <a:noFill/>
          <a:ln/>
        </p:spPr>
        <p:txBody>
          <a:bodyPr wrap="square" lIns="0" tIns="0" rIns="0" bIns="0" rtlCol="0" anchor="ctr"/>
          <a:lstStyle/>
          <a:p>
            <a:pPr algn="ctr" indent="0" marL="0">
              <a:buNone/>
            </a:pPr>
            <a:r>
              <a:rPr lang="en-US" sz="1100" dirty="0">
                <a:solidFill>
                  <a:schemeClr val="bg1"/>
                </a:solidFill>
              </a:rPr>
              <a:t>tình huống demo đạt</a:t>
            </a:r>
            <a:endParaRPr lang="en-US" sz="1100" dirty="0"/>
          </a:p>
        </p:txBody>
      </p:sp>
      <p:sp>
        <p:nvSpPr>
          <p:cNvPr id="18" name="card"/>
          <p:cNvSpPr/>
          <p:nvPr/>
        </p:nvSpPr>
        <p:spPr>
          <a:xfrm>
            <a:off x="7040880" y="1005840"/>
            <a:ext cx="1554480" cy="1508760"/>
          </a:xfrm>
          <a:prstGeom prst="roundRect">
            <a:avLst>
              <a:gd name="adj" fmla="val 4848"/>
            </a:avLst>
          </a:prstGeom>
          <a:solidFill>
            <a:schemeClr val="accent5"/>
          </a:solidFill>
          <a:ln w="9525">
            <a:solidFill>
              <a:schemeClr val="accent5"/>
            </a:solidFill>
            <a:prstDash val="solid"/>
          </a:ln>
        </p:spPr>
      </p:sp>
      <p:sp>
        <p:nvSpPr>
          <p:cNvPr id="19" name="Text 17"/>
          <p:cNvSpPr txBox="1"/>
          <p:nvPr/>
        </p:nvSpPr>
        <p:spPr>
          <a:xfrm>
            <a:off x="7040880" y="1234440"/>
            <a:ext cx="1554480" cy="640080"/>
          </a:xfrm>
          <a:prstGeom prst="rect">
            <a:avLst/>
          </a:prstGeom>
          <a:noFill/>
          <a:ln/>
        </p:spPr>
        <p:txBody>
          <a:bodyPr wrap="square" lIns="0" tIns="0" rIns="0" bIns="0" rtlCol="0" anchor="ctr"/>
          <a:lstStyle/>
          <a:p>
            <a:pPr algn="ctr" indent="0" marL="0">
              <a:buNone/>
            </a:pPr>
            <a:r>
              <a:rPr lang="en-US" sz="3000" b="1" dirty="0">
                <a:solidFill>
                  <a:schemeClr val="accent1"/>
                </a:solidFill>
              </a:rPr>
              <a:t>32</a:t>
            </a:r>
            <a:endParaRPr lang="en-US" sz="3000" dirty="0"/>
          </a:p>
        </p:txBody>
      </p:sp>
      <p:sp>
        <p:nvSpPr>
          <p:cNvPr id="20" name="Text 18"/>
          <p:cNvSpPr txBox="1"/>
          <p:nvPr/>
        </p:nvSpPr>
        <p:spPr>
          <a:xfrm>
            <a:off x="7132320" y="1901952"/>
            <a:ext cx="1371600" cy="502920"/>
          </a:xfrm>
          <a:prstGeom prst="rect">
            <a:avLst/>
          </a:prstGeom>
          <a:noFill/>
          <a:ln/>
        </p:spPr>
        <p:txBody>
          <a:bodyPr wrap="square" lIns="0" tIns="0" rIns="0" bIns="0" rtlCol="0" anchor="ctr"/>
          <a:lstStyle/>
          <a:p>
            <a:pPr algn="ctr" indent="0" marL="0">
              <a:buNone/>
            </a:pPr>
            <a:r>
              <a:rPr lang="en-US" sz="1100" dirty="0">
                <a:solidFill>
                  <a:schemeClr val="tx1"/>
                </a:solidFill>
              </a:rPr>
              <a:t>ca kiểm thử tự động</a:t>
            </a:r>
            <a:endParaRPr lang="en-US" sz="1100" dirty="0"/>
          </a:p>
        </p:txBody>
      </p:sp>
      <p:sp>
        <p:nvSpPr>
          <p:cNvPr id="21" name="card"/>
          <p:cNvSpPr/>
          <p:nvPr/>
        </p:nvSpPr>
        <p:spPr>
          <a:xfrm>
            <a:off x="5349240" y="2697480"/>
            <a:ext cx="1554480" cy="1508760"/>
          </a:xfrm>
          <a:prstGeom prst="roundRect">
            <a:avLst>
              <a:gd name="adj" fmla="val 4848"/>
            </a:avLst>
          </a:prstGeom>
          <a:solidFill>
            <a:schemeClr val="accent5"/>
          </a:solidFill>
          <a:ln w="9525">
            <a:solidFill>
              <a:schemeClr val="accent5"/>
            </a:solidFill>
            <a:prstDash val="solid"/>
          </a:ln>
        </p:spPr>
      </p:sp>
      <p:sp>
        <p:nvSpPr>
          <p:cNvPr id="22" name="Text 20"/>
          <p:cNvSpPr txBox="1"/>
          <p:nvPr/>
        </p:nvSpPr>
        <p:spPr>
          <a:xfrm>
            <a:off x="5349240" y="2926080"/>
            <a:ext cx="1554480" cy="640080"/>
          </a:xfrm>
          <a:prstGeom prst="rect">
            <a:avLst/>
          </a:prstGeom>
          <a:noFill/>
          <a:ln/>
        </p:spPr>
        <p:txBody>
          <a:bodyPr wrap="square" lIns="0" tIns="0" rIns="0" bIns="0" rtlCol="0" anchor="ctr"/>
          <a:lstStyle/>
          <a:p>
            <a:pPr algn="ctr" indent="0" marL="0">
              <a:buNone/>
            </a:pPr>
            <a:r>
              <a:rPr lang="en-US" sz="3000" b="1" dirty="0">
                <a:solidFill>
                  <a:schemeClr val="accent1"/>
                </a:solidFill>
              </a:rPr>
              <a:t>951</a:t>
            </a:r>
            <a:endParaRPr lang="en-US" sz="3000" dirty="0"/>
          </a:p>
        </p:txBody>
      </p:sp>
      <p:sp>
        <p:nvSpPr>
          <p:cNvPr id="23" name="Text 21"/>
          <p:cNvSpPr txBox="1"/>
          <p:nvPr/>
        </p:nvSpPr>
        <p:spPr>
          <a:xfrm>
            <a:off x="5440680" y="3593592"/>
            <a:ext cx="1371600" cy="502920"/>
          </a:xfrm>
          <a:prstGeom prst="rect">
            <a:avLst/>
          </a:prstGeom>
          <a:noFill/>
          <a:ln/>
        </p:spPr>
        <p:txBody>
          <a:bodyPr wrap="square" lIns="0" tIns="0" rIns="0" bIns="0" rtlCol="0" anchor="ctr"/>
          <a:lstStyle/>
          <a:p>
            <a:pPr algn="ctr" indent="0" marL="0">
              <a:buNone/>
            </a:pPr>
            <a:r>
              <a:rPr lang="en-US" sz="1100" dirty="0">
                <a:solidFill>
                  <a:schemeClr val="tx1"/>
                </a:solidFill>
              </a:rPr>
              <a:t>phép kiểm tra – đạt 100%</a:t>
            </a:r>
            <a:endParaRPr lang="en-US" sz="1100" dirty="0"/>
          </a:p>
        </p:txBody>
      </p:sp>
      <p:sp>
        <p:nvSpPr>
          <p:cNvPr id="24" name="card"/>
          <p:cNvSpPr/>
          <p:nvPr/>
        </p:nvSpPr>
        <p:spPr>
          <a:xfrm>
            <a:off x="7040880" y="2697480"/>
            <a:ext cx="1554480" cy="1508760"/>
          </a:xfrm>
          <a:prstGeom prst="roundRect">
            <a:avLst>
              <a:gd name="adj" fmla="val 4848"/>
            </a:avLst>
          </a:prstGeom>
          <a:solidFill>
            <a:schemeClr val="accent5"/>
          </a:solidFill>
          <a:ln w="9525">
            <a:solidFill>
              <a:schemeClr val="accent5"/>
            </a:solidFill>
            <a:prstDash val="solid"/>
          </a:ln>
        </p:spPr>
      </p:sp>
      <p:sp>
        <p:nvSpPr>
          <p:cNvPr id="25" name="Text 23"/>
          <p:cNvSpPr txBox="1"/>
          <p:nvPr/>
        </p:nvSpPr>
        <p:spPr>
          <a:xfrm>
            <a:off x="7040880" y="2926080"/>
            <a:ext cx="1554480" cy="640080"/>
          </a:xfrm>
          <a:prstGeom prst="rect">
            <a:avLst/>
          </a:prstGeom>
          <a:noFill/>
          <a:ln/>
        </p:spPr>
        <p:txBody>
          <a:bodyPr wrap="square" lIns="0" tIns="0" rIns="0" bIns="0" rtlCol="0" anchor="ctr"/>
          <a:lstStyle/>
          <a:p>
            <a:pPr algn="ctr" indent="0" marL="0">
              <a:buNone/>
            </a:pPr>
            <a:r>
              <a:rPr lang="en-US" sz="2200" b="1" dirty="0">
                <a:solidFill>
                  <a:schemeClr val="accent1"/>
                </a:solidFill>
              </a:rPr>
              <a:t>2–5 giây</a:t>
            </a:r>
            <a:endParaRPr lang="en-US" sz="2200" dirty="0"/>
          </a:p>
        </p:txBody>
      </p:sp>
      <p:sp>
        <p:nvSpPr>
          <p:cNvPr id="26" name="Text 24"/>
          <p:cNvSpPr txBox="1"/>
          <p:nvPr/>
        </p:nvSpPr>
        <p:spPr>
          <a:xfrm>
            <a:off x="7132320" y="3593592"/>
            <a:ext cx="1371600" cy="502920"/>
          </a:xfrm>
          <a:prstGeom prst="rect">
            <a:avLst/>
          </a:prstGeom>
          <a:noFill/>
          <a:ln/>
        </p:spPr>
        <p:txBody>
          <a:bodyPr wrap="square" lIns="0" tIns="0" rIns="0" bIns="0" rtlCol="0" anchor="ctr"/>
          <a:lstStyle/>
          <a:p>
            <a:pPr algn="ctr" indent="0" marL="0">
              <a:buNone/>
            </a:pPr>
            <a:r>
              <a:rPr lang="en-US" sz="1100" dirty="0">
                <a:solidFill>
                  <a:schemeClr val="tx1"/>
                </a:solidFill>
              </a:rPr>
              <a:t>thời gian phản hồi</a:t>
            </a:r>
            <a:endParaRPr lang="en-US" sz="1100" dirty="0"/>
          </a:p>
        </p:txBody>
      </p:sp>
      <p:sp>
        <p:nvSpPr>
          <p:cNvPr id="25" name="Slide Number Placeholder 0"/>
          <p:cNvSpPr>
            <a:spLocks noGrp="1"/>
          </p:cNvSpPr>
          <p:nvPr>
            <p:ph type="sldNum" sz="quarter" idx="4294967295"/>
          </p:nvPr>
        </p:nvSpPr>
        <p:spPr>
          <a:xfrm>
            <a:off x="8229600" y="4754880"/>
            <a:ext cx="457200" cy="274320"/>
          </a:xfrm>
          <a:prstGeom prst="rect">
            <a:avLst/>
          </a:prstGeom>
          <a:extLst>
            <a:ext uri="{C572A759-6A51-4108-AA02-DFA0A04FC94B}">
              <ma14:wrappingTextBoxFlag xmlns:ma14="http://schemas.microsoft.com/office/mac/drawingml/2011/main" val="0"/>
            </a:ext>
          </a:extLst>
        </p:spPr>
        <p:txBody>
          <a:bodyPr/>
          <a:lstStyle>
            <a:lvl1pPr>
              <a:defRPr sz="900">
                <a:solidFill>
                  <a:schemeClr val="accent4"/>
                </a:solidFill>
              </a:defRPr>
            </a:lvl1pPr>
          </a:lstStyle>
          <a:p>
            <a:pPr algn="r"/>
            <a:fld id="{F7021451-1387-4CA6-816F-3879F97B5CBC}" type="slidenum">
              <a:rPr b="0" lang="en-US"/>
              <a:t>16</a:t>
            </a:fld>
            <a:endParaRPr lang="en-US"/>
          </a:p>
        </p:txBody>
      </p:sp>
    </p:spTree>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name="Slide 17">
    <p:spTree>
      <p:nvGrpSpPr>
        <p:cNvPr id="1" name=""/>
        <p:cNvGrpSpPr/>
        <p:nvPr/>
      </p:nvGrpSpPr>
      <p:grpSpPr>
        <a:xfrm>
          <a:off x="0" y="0"/>
          <a:ext cx="0" cy="0"/>
          <a:chOff x="0" y="0"/>
          <a:chExt cx="0" cy="0"/>
        </a:xfrm>
      </p:grpSpPr>
      <p:sp>
        <p:nvSpPr>
          <p:cNvPr id="2" name="Text 0"/>
          <p:cNvSpPr/>
          <p:nvPr>
            <p:ph idx="100" type="title" hasCustomPrompt="1"/>
          </p:nvPr>
        </p:nvSpPr>
        <p:spPr>
          <a:xfrm>
            <a:off x="457200" y="256032"/>
            <a:ext cx="8229600" cy="566928"/>
          </a:xfrm>
          <a:prstGeom prst="rect">
            <a:avLst/>
          </a:prstGeom>
          <a:noFill/>
          <a:ln/>
        </p:spPr>
        <p:txBody>
          <a:bodyPr wrap="square" lIns="0" tIns="0" rIns="0" bIns="0" rtlCol="0" anchor="ctr"/>
          <a:lstStyle/>
          <a:p>
            <a:pPr algn="l" indent="0" marL="0">
              <a:buNone/>
            </a:pPr>
            <a:r>
              <a:rPr lang="en-US" sz="2600" b="1" dirty="0">
                <a:solidFill>
                  <a:schemeClr val="tx1"/>
                </a:solidFill>
              </a:rPr>
              <a:t>Giao diện chatbot</a:t>
            </a:r>
            <a:endParaRPr lang="en-US" sz="2600" dirty="0"/>
          </a:p>
        </p:txBody>
      </p:sp>
      <p:sp>
        <p:nvSpPr>
          <p:cNvPr id="3" name="frame-02-sidebar-chao.png"/>
          <p:cNvSpPr/>
          <p:nvPr/>
        </p:nvSpPr>
        <p:spPr>
          <a:xfrm>
            <a:off x="466344" y="923544"/>
            <a:ext cx="4747565" cy="3319272"/>
          </a:xfrm>
          <a:prstGeom prst="roundRect">
            <a:avLst>
              <a:gd name="adj" fmla="val 1653"/>
            </a:avLst>
          </a:prstGeom>
          <a:solidFill>
            <a:schemeClr val="bg1"/>
          </a:solidFill>
          <a:ln w="9525">
            <a:solidFill>
              <a:srgbClr val="E5E7EB"/>
            </a:solidFill>
            <a:prstDash val="solid"/>
          </a:ln>
          <a:effectLst>
            <a:outerShdw sx="100000" sy="100000" kx="0" ky="0" algn="bl" rotWithShape="0" blurRad="101600" dist="25400" dir="5400000">
              <a:srgbClr val="000000">
                <a:alpha val="12000"/>
              </a:srgbClr>
            </a:outerShdw>
          </a:effectLst>
        </p:spPr>
      </p:sp>
      <p:pic>
        <p:nvPicPr>
          <p:cNvPr id="4" name="img-02-sidebar-chao.png" descr="Máy tính: thanh bên phải">    </p:cNvPr>
          <p:cNvPicPr>
            <a:picLocks noChangeAspect="1"/>
          </p:cNvPicPr>
          <p:nvPr/>
        </p:nvPicPr>
        <p:blipFill>
          <a:blip r:embed="rId1"/>
          <a:stretch>
            <a:fillRect/>
          </a:stretch>
        </p:blipFill>
        <p:spPr>
          <a:xfrm>
            <a:off x="502920" y="960120"/>
            <a:ext cx="4674413" cy="3246120"/>
          </a:xfrm>
          <a:prstGeom prst="rect">
            <a:avLst/>
          </a:prstGeom>
        </p:spPr>
      </p:pic>
      <p:sp>
        <p:nvSpPr>
          <p:cNvPr id="5" name="Text 2"/>
          <p:cNvSpPr txBox="1"/>
          <p:nvPr/>
        </p:nvSpPr>
        <p:spPr>
          <a:xfrm>
            <a:off x="228600" y="4279392"/>
            <a:ext cx="5223053" cy="274320"/>
          </a:xfrm>
          <a:prstGeom prst="rect">
            <a:avLst/>
          </a:prstGeom>
          <a:noFill/>
          <a:ln/>
        </p:spPr>
        <p:txBody>
          <a:bodyPr wrap="square" lIns="0" tIns="0" rIns="0" bIns="0" rtlCol="0" anchor="ctr"/>
          <a:lstStyle/>
          <a:p>
            <a:pPr algn="ctr" indent="0" marL="0">
              <a:buNone/>
            </a:pPr>
            <a:r>
              <a:rPr lang="en-US" sz="1100" dirty="0">
                <a:solidFill>
                  <a:schemeClr val="tx2"/>
                </a:solidFill>
              </a:rPr>
              <a:t>Máy tính: thanh bên phải</a:t>
            </a:r>
            <a:endParaRPr lang="en-US" sz="1100" dirty="0"/>
          </a:p>
        </p:txBody>
      </p:sp>
      <p:sp>
        <p:nvSpPr>
          <p:cNvPr id="6" name="frame-03-bang-demo.png"/>
          <p:cNvSpPr/>
          <p:nvPr/>
        </p:nvSpPr>
        <p:spPr>
          <a:xfrm>
            <a:off x="5552237" y="923544"/>
            <a:ext cx="1570695" cy="3319272"/>
          </a:xfrm>
          <a:prstGeom prst="roundRect">
            <a:avLst>
              <a:gd name="adj" fmla="val 3493"/>
            </a:avLst>
          </a:prstGeom>
          <a:solidFill>
            <a:schemeClr val="bg1"/>
          </a:solidFill>
          <a:ln w="9525">
            <a:solidFill>
              <a:srgbClr val="E5E7EB"/>
            </a:solidFill>
            <a:prstDash val="solid"/>
          </a:ln>
          <a:effectLst>
            <a:outerShdw sx="100000" sy="100000" kx="0" ky="0" algn="bl" rotWithShape="0" blurRad="101600" dist="25400" dir="5400000">
              <a:srgbClr val="000000">
                <a:alpha val="12000"/>
              </a:srgbClr>
            </a:outerShdw>
          </a:effectLst>
        </p:spPr>
      </p:sp>
      <p:pic>
        <p:nvPicPr>
          <p:cNvPr id="7" name="img-03-bang-demo.png" descr="Chế độ Demo">    </p:cNvPr>
          <p:cNvPicPr>
            <a:picLocks noChangeAspect="1"/>
          </p:cNvPicPr>
          <p:nvPr/>
        </p:nvPicPr>
        <p:blipFill>
          <a:blip r:embed="rId2"/>
          <a:stretch>
            <a:fillRect/>
          </a:stretch>
        </p:blipFill>
        <p:spPr>
          <a:xfrm>
            <a:off x="5588813" y="960120"/>
            <a:ext cx="1497543" cy="3246120"/>
          </a:xfrm>
          <a:prstGeom prst="rect">
            <a:avLst/>
          </a:prstGeom>
        </p:spPr>
      </p:pic>
      <p:sp>
        <p:nvSpPr>
          <p:cNvPr id="8" name="Text 4"/>
          <p:cNvSpPr txBox="1"/>
          <p:nvPr/>
        </p:nvSpPr>
        <p:spPr>
          <a:xfrm>
            <a:off x="5314493" y="4279392"/>
            <a:ext cx="2046183" cy="274320"/>
          </a:xfrm>
          <a:prstGeom prst="rect">
            <a:avLst/>
          </a:prstGeom>
          <a:noFill/>
          <a:ln/>
        </p:spPr>
        <p:txBody>
          <a:bodyPr wrap="square" lIns="0" tIns="0" rIns="0" bIns="0" rtlCol="0" anchor="ctr"/>
          <a:lstStyle/>
          <a:p>
            <a:pPr algn="ctr" indent="0" marL="0">
              <a:buNone/>
            </a:pPr>
            <a:r>
              <a:rPr lang="en-US" sz="1100" dirty="0">
                <a:solidFill>
                  <a:schemeClr val="tx2"/>
                </a:solidFill>
              </a:rPr>
              <a:t>Chế độ Demo</a:t>
            </a:r>
            <a:endParaRPr lang="en-US" sz="1100" dirty="0"/>
          </a:p>
        </p:txBody>
      </p:sp>
      <p:sp>
        <p:nvSpPr>
          <p:cNvPr id="9" name="frame-15-mobile-tra-loi.png"/>
          <p:cNvSpPr/>
          <p:nvPr/>
        </p:nvSpPr>
        <p:spPr>
          <a:xfrm>
            <a:off x="7461260" y="923544"/>
            <a:ext cx="1573136" cy="3319272"/>
          </a:xfrm>
          <a:prstGeom prst="roundRect">
            <a:avLst>
              <a:gd name="adj" fmla="val 3488"/>
            </a:avLst>
          </a:prstGeom>
          <a:solidFill>
            <a:schemeClr val="bg1"/>
          </a:solidFill>
          <a:ln w="9525">
            <a:solidFill>
              <a:srgbClr val="E5E7EB"/>
            </a:solidFill>
            <a:prstDash val="solid"/>
          </a:ln>
          <a:effectLst>
            <a:outerShdw sx="100000" sy="100000" kx="0" ky="0" algn="bl" rotWithShape="0" blurRad="101600" dist="25400" dir="5400000">
              <a:srgbClr val="000000">
                <a:alpha val="12000"/>
              </a:srgbClr>
            </a:outerShdw>
          </a:effectLst>
        </p:spPr>
      </p:sp>
      <p:pic>
        <p:nvPicPr>
          <p:cNvPr id="10" name="img-15-mobile-tra-loi.png" descr="Điện thoại">    </p:cNvPr>
          <p:cNvPicPr>
            <a:picLocks noChangeAspect="1"/>
          </p:cNvPicPr>
          <p:nvPr/>
        </p:nvPicPr>
        <p:blipFill>
          <a:blip r:embed="rId3"/>
          <a:stretch>
            <a:fillRect/>
          </a:stretch>
        </p:blipFill>
        <p:spPr>
          <a:xfrm>
            <a:off x="7497836" y="960120"/>
            <a:ext cx="1499984" cy="3246120"/>
          </a:xfrm>
          <a:prstGeom prst="rect">
            <a:avLst/>
          </a:prstGeom>
        </p:spPr>
      </p:pic>
      <p:sp>
        <p:nvSpPr>
          <p:cNvPr id="11" name="Text 6"/>
          <p:cNvSpPr txBox="1"/>
          <p:nvPr/>
        </p:nvSpPr>
        <p:spPr>
          <a:xfrm>
            <a:off x="7223516" y="4279392"/>
            <a:ext cx="2048624" cy="274320"/>
          </a:xfrm>
          <a:prstGeom prst="rect">
            <a:avLst/>
          </a:prstGeom>
          <a:noFill/>
          <a:ln/>
        </p:spPr>
        <p:txBody>
          <a:bodyPr wrap="square" lIns="0" tIns="0" rIns="0" bIns="0" rtlCol="0" anchor="ctr"/>
          <a:lstStyle/>
          <a:p>
            <a:pPr algn="ctr" indent="0" marL="0">
              <a:buNone/>
            </a:pPr>
            <a:r>
              <a:rPr lang="en-US" sz="1100" dirty="0">
                <a:solidFill>
                  <a:schemeClr val="tx2"/>
                </a:solidFill>
              </a:rPr>
              <a:t>Điện thoại</a:t>
            </a:r>
            <a:endParaRPr lang="en-US" sz="1100" dirty="0"/>
          </a:p>
        </p:txBody>
      </p:sp>
      <p:sp>
        <p:nvSpPr>
          <p:cNvPr id="25" name="Slide Number Placeholder 0"/>
          <p:cNvSpPr>
            <a:spLocks noGrp="1"/>
          </p:cNvSpPr>
          <p:nvPr>
            <p:ph type="sldNum" sz="quarter" idx="4294967295"/>
          </p:nvPr>
        </p:nvSpPr>
        <p:spPr>
          <a:xfrm>
            <a:off x="8229600" y="4754880"/>
            <a:ext cx="457200" cy="274320"/>
          </a:xfrm>
          <a:prstGeom prst="rect">
            <a:avLst/>
          </a:prstGeom>
          <a:extLst>
            <a:ext uri="{C572A759-6A51-4108-AA02-DFA0A04FC94B}">
              <ma14:wrappingTextBoxFlag xmlns:ma14="http://schemas.microsoft.com/office/mac/drawingml/2011/main" val="0"/>
            </a:ext>
          </a:extLst>
        </p:spPr>
        <p:txBody>
          <a:bodyPr/>
          <a:lstStyle>
            <a:lvl1pPr>
              <a:defRPr sz="900">
                <a:solidFill>
                  <a:schemeClr val="accent4"/>
                </a:solidFill>
              </a:defRPr>
            </a:lvl1pPr>
          </a:lstStyle>
          <a:p>
            <a:pPr algn="r"/>
            <a:fld id="{F7021451-1387-4CA6-816F-3879F97B5CBC}" type="slidenum">
              <a:rPr b="0" lang="en-US"/>
              <a:t>17</a:t>
            </a:fld>
            <a:endParaRPr lang="en-US"/>
          </a:p>
        </p:txBody>
      </p:sp>
    </p:spTree>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name="Slide 18">
    <p:spTree>
      <p:nvGrpSpPr>
        <p:cNvPr id="1" name=""/>
        <p:cNvGrpSpPr/>
        <p:nvPr/>
      </p:nvGrpSpPr>
      <p:grpSpPr>
        <a:xfrm>
          <a:off x="0" y="0"/>
          <a:ext cx="0" cy="0"/>
          <a:chOff x="0" y="0"/>
          <a:chExt cx="0" cy="0"/>
        </a:xfrm>
      </p:grpSpPr>
      <p:sp>
        <p:nvSpPr>
          <p:cNvPr id="2" name="Text 0"/>
          <p:cNvSpPr/>
          <p:nvPr>
            <p:ph idx="100" type="title" hasCustomPrompt="1"/>
          </p:nvPr>
        </p:nvSpPr>
        <p:spPr>
          <a:xfrm>
            <a:off x="457200" y="256032"/>
            <a:ext cx="8229600" cy="566928"/>
          </a:xfrm>
          <a:prstGeom prst="rect">
            <a:avLst/>
          </a:prstGeom>
          <a:noFill/>
          <a:ln/>
        </p:spPr>
        <p:txBody>
          <a:bodyPr wrap="square" lIns="0" tIns="0" rIns="0" bIns="0" rtlCol="0" anchor="ctr"/>
          <a:lstStyle/>
          <a:p>
            <a:pPr algn="l" indent="0" marL="0">
              <a:buNone/>
            </a:pPr>
            <a:r>
              <a:rPr lang="en-US" sz="2600" b="1" dirty="0">
                <a:solidFill>
                  <a:schemeClr val="tx1"/>
                </a:solidFill>
              </a:rPr>
              <a:t>Quản trị thuộc tính AI cho sản phẩm</a:t>
            </a:r>
            <a:endParaRPr lang="en-US" sz="2600" dirty="0"/>
          </a:p>
        </p:txBody>
      </p:sp>
      <p:sp>
        <p:nvSpPr>
          <p:cNvPr id="3" name="frame-admin"/>
          <p:cNvSpPr/>
          <p:nvPr/>
        </p:nvSpPr>
        <p:spPr>
          <a:xfrm>
            <a:off x="411480" y="960120"/>
            <a:ext cx="4846320" cy="1639540"/>
          </a:xfrm>
          <a:prstGeom prst="roundRect">
            <a:avLst>
              <a:gd name="adj" fmla="val 3346"/>
            </a:avLst>
          </a:prstGeom>
          <a:solidFill>
            <a:schemeClr val="bg1"/>
          </a:solidFill>
          <a:ln w="9525">
            <a:solidFill>
              <a:srgbClr val="E5E7EB"/>
            </a:solidFill>
            <a:prstDash val="solid"/>
          </a:ln>
          <a:effectLst>
            <a:outerShdw sx="100000" sy="100000" kx="0" ky="0" algn="bl" rotWithShape="0" blurRad="101600" dist="25400" dir="5400000">
              <a:srgbClr val="000000">
                <a:alpha val="12000"/>
              </a:srgbClr>
            </a:outerShdw>
          </a:effectLst>
        </p:spPr>
      </p:sp>
      <p:pic>
        <p:nvPicPr>
          <p:cNvPr id="4" name="img-admin" descr="Form sản phẩm với các thuộc tính AI">    </p:cNvPr>
          <p:cNvPicPr>
            <a:picLocks noChangeAspect="1"/>
          </p:cNvPicPr>
          <p:nvPr/>
        </p:nvPicPr>
        <p:blipFill>
          <a:blip r:embed="rId1"/>
          <a:stretch>
            <a:fillRect/>
          </a:stretch>
        </p:blipFill>
        <p:spPr>
          <a:xfrm>
            <a:off x="457200" y="1005840"/>
            <a:ext cx="4754880" cy="1548100"/>
          </a:xfrm>
          <a:prstGeom prst="rect">
            <a:avLst/>
          </a:prstGeom>
        </p:spPr>
      </p:pic>
      <p:sp>
        <p:nvSpPr>
          <p:cNvPr id="5" name="card"/>
          <p:cNvSpPr/>
          <p:nvPr/>
        </p:nvSpPr>
        <p:spPr>
          <a:xfrm>
            <a:off x="5577840" y="960120"/>
            <a:ext cx="3108960" cy="713232"/>
          </a:xfrm>
          <a:prstGeom prst="roundRect">
            <a:avLst>
              <a:gd name="adj" fmla="val 10256"/>
            </a:avLst>
          </a:prstGeom>
          <a:solidFill>
            <a:schemeClr val="bg2"/>
          </a:solidFill>
          <a:ln w="9525">
            <a:solidFill>
              <a:schemeClr val="bg2"/>
            </a:solidFill>
            <a:prstDash val="solid"/>
          </a:ln>
        </p:spPr>
      </p:sp>
      <p:sp>
        <p:nvSpPr>
          <p:cNvPr id="6" name="Text 3"/>
          <p:cNvSpPr txBox="1"/>
          <p:nvPr/>
        </p:nvSpPr>
        <p:spPr>
          <a:xfrm>
            <a:off x="5760720" y="960120"/>
            <a:ext cx="2834640" cy="713232"/>
          </a:xfrm>
          <a:prstGeom prst="rect">
            <a:avLst/>
          </a:prstGeom>
          <a:noFill/>
          <a:ln/>
        </p:spPr>
        <p:txBody>
          <a:bodyPr wrap="square" lIns="0" tIns="0" rIns="0" bIns="0" rtlCol="0" anchor="ctr"/>
          <a:lstStyle/>
          <a:p>
            <a:pPr indent="0" marL="0">
              <a:buNone/>
            </a:pPr>
            <a:r>
              <a:rPr lang="en-US" sz="1350" b="1" dirty="0">
                <a:solidFill>
                  <a:schemeClr val="accent1"/>
                </a:solidFill>
              </a:rPr>
              <a:t>Giới tính</a:t>
            </a:r>
            <a:endParaRPr lang="en-US" sz="1350" dirty="0"/>
          </a:p>
          <a:p>
            <a:pPr indent="0" marL="0">
              <a:buNone/>
            </a:pPr>
            <a:r>
              <a:rPr lang="en-US" sz="1100" dirty="0">
                <a:solidFill>
                  <a:schemeClr val="tx2"/>
                </a:solidFill>
              </a:rPr>
              <a:t>Nam · Nữ · Unisex</a:t>
            </a:r>
            <a:endParaRPr lang="en-US" sz="1350" dirty="0"/>
          </a:p>
        </p:txBody>
      </p:sp>
      <p:sp>
        <p:nvSpPr>
          <p:cNvPr id="7" name="card"/>
          <p:cNvSpPr/>
          <p:nvPr/>
        </p:nvSpPr>
        <p:spPr>
          <a:xfrm>
            <a:off x="5577840" y="1801368"/>
            <a:ext cx="3108960" cy="713232"/>
          </a:xfrm>
          <a:prstGeom prst="roundRect">
            <a:avLst>
              <a:gd name="adj" fmla="val 10256"/>
            </a:avLst>
          </a:prstGeom>
          <a:solidFill>
            <a:schemeClr val="bg2"/>
          </a:solidFill>
          <a:ln w="9525">
            <a:solidFill>
              <a:schemeClr val="bg2"/>
            </a:solidFill>
            <a:prstDash val="solid"/>
          </a:ln>
        </p:spPr>
      </p:sp>
      <p:sp>
        <p:nvSpPr>
          <p:cNvPr id="8" name="Text 5"/>
          <p:cNvSpPr txBox="1"/>
          <p:nvPr/>
        </p:nvSpPr>
        <p:spPr>
          <a:xfrm>
            <a:off x="5760720" y="1801368"/>
            <a:ext cx="2834640" cy="713232"/>
          </a:xfrm>
          <a:prstGeom prst="rect">
            <a:avLst/>
          </a:prstGeom>
          <a:noFill/>
          <a:ln/>
        </p:spPr>
        <p:txBody>
          <a:bodyPr wrap="square" lIns="0" tIns="0" rIns="0" bIns="0" rtlCol="0" anchor="ctr"/>
          <a:lstStyle/>
          <a:p>
            <a:pPr indent="0" marL="0">
              <a:buNone/>
            </a:pPr>
            <a:r>
              <a:rPr lang="en-US" sz="1350" b="1" dirty="0">
                <a:solidFill>
                  <a:schemeClr val="accent1"/>
                </a:solidFill>
              </a:rPr>
              <a:t>Môn thể thao</a:t>
            </a:r>
            <a:endParaRPr lang="en-US" sz="1350" dirty="0"/>
          </a:p>
          <a:p>
            <a:pPr indent="0" marL="0">
              <a:buNone/>
            </a:pPr>
            <a:r>
              <a:rPr lang="en-US" sz="1100" dirty="0">
                <a:solidFill>
                  <a:schemeClr val="tx2"/>
                </a:solidFill>
              </a:rPr>
              <a:t>7 môn: bóng đá, chạy bộ, gym...</a:t>
            </a:r>
            <a:endParaRPr lang="en-US" sz="1350" dirty="0"/>
          </a:p>
        </p:txBody>
      </p:sp>
      <p:sp>
        <p:nvSpPr>
          <p:cNvPr id="9" name="card"/>
          <p:cNvSpPr/>
          <p:nvPr/>
        </p:nvSpPr>
        <p:spPr>
          <a:xfrm>
            <a:off x="5577840" y="2642616"/>
            <a:ext cx="3108960" cy="713232"/>
          </a:xfrm>
          <a:prstGeom prst="roundRect">
            <a:avLst>
              <a:gd name="adj" fmla="val 10256"/>
            </a:avLst>
          </a:prstGeom>
          <a:solidFill>
            <a:schemeClr val="bg2"/>
          </a:solidFill>
          <a:ln w="9525">
            <a:solidFill>
              <a:schemeClr val="bg2"/>
            </a:solidFill>
            <a:prstDash val="solid"/>
          </a:ln>
        </p:spPr>
      </p:sp>
      <p:sp>
        <p:nvSpPr>
          <p:cNvPr id="10" name="Text 7"/>
          <p:cNvSpPr txBox="1"/>
          <p:nvPr/>
        </p:nvSpPr>
        <p:spPr>
          <a:xfrm>
            <a:off x="5760720" y="2642616"/>
            <a:ext cx="2834640" cy="713232"/>
          </a:xfrm>
          <a:prstGeom prst="rect">
            <a:avLst/>
          </a:prstGeom>
          <a:noFill/>
          <a:ln/>
        </p:spPr>
        <p:txBody>
          <a:bodyPr wrap="square" lIns="0" tIns="0" rIns="0" bIns="0" rtlCol="0" anchor="ctr"/>
          <a:lstStyle/>
          <a:p>
            <a:pPr indent="0" marL="0">
              <a:buNone/>
            </a:pPr>
            <a:r>
              <a:rPr lang="en-US" sz="1350" b="1" dirty="0">
                <a:solidFill>
                  <a:schemeClr val="accent1"/>
                </a:solidFill>
              </a:rPr>
              <a:t>Mục đích</a:t>
            </a:r>
            <a:endParaRPr lang="en-US" sz="1350" dirty="0"/>
          </a:p>
          <a:p>
            <a:pPr indent="0" marL="0">
              <a:buNone/>
            </a:pPr>
            <a:r>
              <a:rPr lang="en-US" sz="1100" dirty="0">
                <a:solidFill>
                  <a:schemeClr val="tx2"/>
                </a:solidFill>
              </a:rPr>
              <a:t>Tập luyện · Thi đấu · Hằng ngày</a:t>
            </a:r>
            <a:endParaRPr lang="en-US" sz="1350" dirty="0"/>
          </a:p>
        </p:txBody>
      </p:sp>
      <p:sp>
        <p:nvSpPr>
          <p:cNvPr id="11" name="card"/>
          <p:cNvSpPr/>
          <p:nvPr/>
        </p:nvSpPr>
        <p:spPr>
          <a:xfrm>
            <a:off x="5577840" y="3483864"/>
            <a:ext cx="3108960" cy="713232"/>
          </a:xfrm>
          <a:prstGeom prst="roundRect">
            <a:avLst>
              <a:gd name="adj" fmla="val 10256"/>
            </a:avLst>
          </a:prstGeom>
          <a:solidFill>
            <a:schemeClr val="bg2"/>
          </a:solidFill>
          <a:ln w="9525">
            <a:solidFill>
              <a:schemeClr val="bg2"/>
            </a:solidFill>
            <a:prstDash val="solid"/>
          </a:ln>
        </p:spPr>
      </p:sp>
      <p:sp>
        <p:nvSpPr>
          <p:cNvPr id="12" name="Text 9"/>
          <p:cNvSpPr txBox="1"/>
          <p:nvPr/>
        </p:nvSpPr>
        <p:spPr>
          <a:xfrm>
            <a:off x="5760720" y="3483864"/>
            <a:ext cx="2834640" cy="713232"/>
          </a:xfrm>
          <a:prstGeom prst="rect">
            <a:avLst/>
          </a:prstGeom>
          <a:noFill/>
          <a:ln/>
        </p:spPr>
        <p:txBody>
          <a:bodyPr wrap="square" lIns="0" tIns="0" rIns="0" bIns="0" rtlCol="0" anchor="ctr"/>
          <a:lstStyle/>
          <a:p>
            <a:pPr indent="0" marL="0">
              <a:buNone/>
            </a:pPr>
            <a:r>
              <a:rPr lang="en-US" sz="1350" b="1" dirty="0">
                <a:solidFill>
                  <a:schemeClr val="accent1"/>
                </a:solidFill>
              </a:rPr>
              <a:t>Kiểu dáng</a:t>
            </a:r>
            <a:endParaRPr lang="en-US" sz="1350" dirty="0"/>
          </a:p>
          <a:p>
            <a:pPr indent="0" marL="0">
              <a:buNone/>
            </a:pPr>
            <a:r>
              <a:rPr lang="en-US" sz="1100" dirty="0">
                <a:solidFill>
                  <a:schemeClr val="tx2"/>
                </a:solidFill>
              </a:rPr>
              <a:t>Ôm · Vừa · Thể thao · Rộng</a:t>
            </a:r>
            <a:endParaRPr lang="en-US" sz="1350" dirty="0"/>
          </a:p>
        </p:txBody>
      </p:sp>
      <p:sp>
        <p:nvSpPr>
          <p:cNvPr id="25" name="Slide Number Placeholder 0"/>
          <p:cNvSpPr>
            <a:spLocks noGrp="1"/>
          </p:cNvSpPr>
          <p:nvPr>
            <p:ph type="sldNum" sz="quarter" idx="4294967295"/>
          </p:nvPr>
        </p:nvSpPr>
        <p:spPr>
          <a:xfrm>
            <a:off x="8229600" y="4754880"/>
            <a:ext cx="457200" cy="274320"/>
          </a:xfrm>
          <a:prstGeom prst="rect">
            <a:avLst/>
          </a:prstGeom>
          <a:extLst>
            <a:ext uri="{C572A759-6A51-4108-AA02-DFA0A04FC94B}">
              <ma14:wrappingTextBoxFlag xmlns:ma14="http://schemas.microsoft.com/office/mac/drawingml/2011/main" val="0"/>
            </a:ext>
          </a:extLst>
        </p:spPr>
        <p:txBody>
          <a:bodyPr/>
          <a:lstStyle>
            <a:lvl1pPr>
              <a:defRPr sz="900">
                <a:solidFill>
                  <a:schemeClr val="accent4"/>
                </a:solidFill>
              </a:defRPr>
            </a:lvl1pPr>
          </a:lstStyle>
          <a:p>
            <a:pPr algn="r"/>
            <a:fld id="{F7021451-1387-4CA6-816F-3879F97B5CBC}" type="slidenum">
              <a:rPr b="0" lang="en-US"/>
              <a:t>18</a:t>
            </a:fld>
            <a:endParaRPr lang="en-US"/>
          </a:p>
        </p:txBody>
      </p:sp>
    </p:spTree>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name="Slide 19">
    <p:spTree>
      <p:nvGrpSpPr>
        <p:cNvPr id="1" name=""/>
        <p:cNvGrpSpPr/>
        <p:nvPr/>
      </p:nvGrpSpPr>
      <p:grpSpPr>
        <a:xfrm>
          <a:off x="0" y="0"/>
          <a:ext cx="0" cy="0"/>
          <a:chOff x="0" y="0"/>
          <a:chExt cx="0" cy="0"/>
        </a:xfrm>
      </p:grpSpPr>
      <p:sp>
        <p:nvSpPr>
          <p:cNvPr id="2" name="Text 0"/>
          <p:cNvSpPr/>
          <p:nvPr>
            <p:ph idx="100" type="body" hasCustomPrompt="1"/>
          </p:nvPr>
        </p:nvSpPr>
        <p:spPr>
          <a:xfrm>
            <a:off x="640080" y="1097280"/>
            <a:ext cx="2743200" cy="1280160"/>
          </a:xfrm>
          <a:prstGeom prst="rect">
            <a:avLst/>
          </a:prstGeom>
          <a:noFill/>
          <a:ln/>
        </p:spPr>
        <p:txBody>
          <a:bodyPr wrap="square" lIns="0" tIns="0" rIns="0" bIns="0" rtlCol="0" anchor="b"/>
          <a:lstStyle/>
          <a:p>
            <a:pPr algn="l" indent="0" marL="0">
              <a:buNone/>
            </a:pPr>
            <a:r>
              <a:rPr lang="en-US" sz="9600" b="1" dirty="0">
                <a:solidFill>
                  <a:schemeClr val="accent1"/>
                </a:solidFill>
              </a:rPr>
              <a:t>05</a:t>
            </a:r>
            <a:endParaRPr lang="en-US" sz="9600" dirty="0"/>
          </a:p>
        </p:txBody>
      </p:sp>
      <p:sp>
        <p:nvSpPr>
          <p:cNvPr id="3" name="Text 0"/>
          <p:cNvSpPr/>
          <p:nvPr>
            <p:ph idx="101" type="title" hasCustomPrompt="1"/>
          </p:nvPr>
        </p:nvSpPr>
        <p:spPr>
          <a:xfrm>
            <a:off x="640080" y="2423160"/>
            <a:ext cx="7863840" cy="822960"/>
          </a:xfrm>
          <a:prstGeom prst="rect">
            <a:avLst/>
          </a:prstGeom>
          <a:noFill/>
          <a:ln/>
        </p:spPr>
        <p:txBody>
          <a:bodyPr wrap="square" lIns="0" tIns="0" rIns="0" bIns="0" rtlCol="0" anchor="t"/>
          <a:lstStyle/>
          <a:p>
            <a:pPr algn="l" indent="0" marL="0">
              <a:buNone/>
            </a:pPr>
            <a:r>
              <a:rPr lang="en-US" sz="3600" b="1" dirty="0">
                <a:solidFill>
                  <a:schemeClr val="bg1"/>
                </a:solidFill>
              </a:rPr>
              <a:t>Demo &amp; kết luận</a:t>
            </a:r>
            <a:endParaRPr lang="en-US" sz="3600" dirty="0"/>
          </a:p>
        </p:txBody>
      </p:sp>
      <p:sp>
        <p:nvSpPr>
          <p:cNvPr id="4" name="Text 0"/>
          <p:cNvSpPr/>
          <p:nvPr>
            <p:ph idx="102" type="body" hasCustomPrompt="1"/>
          </p:nvPr>
        </p:nvSpPr>
        <p:spPr>
          <a:xfrm>
            <a:off x="640080" y="3246120"/>
            <a:ext cx="7863840" cy="548640"/>
          </a:xfrm>
          <a:prstGeom prst="rect">
            <a:avLst/>
          </a:prstGeom>
          <a:noFill/>
          <a:ln/>
        </p:spPr>
        <p:txBody>
          <a:bodyPr wrap="square" lIns="0" tIns="0" rIns="0" bIns="0" rtlCol="0" anchor="t"/>
          <a:lstStyle/>
          <a:p>
            <a:pPr algn="l" indent="0" marL="0">
              <a:buNone/>
            </a:pPr>
            <a:r>
              <a:rPr lang="en-US" sz="1600" dirty="0">
                <a:solidFill>
                  <a:schemeClr val="accent4"/>
                </a:solidFill>
              </a:rPr>
              <a:t>Kết quả 5 tình huống demo bắt buộc</a:t>
            </a:r>
            <a:endParaRPr lang="en-US" sz="1600" dirty="0"/>
          </a:p>
        </p:txBody>
      </p:sp>
      <p:sp>
        <p:nvSpPr>
          <p:cNvPr id="5" name="motif"/>
          <p:cNvSpPr/>
          <p:nvPr/>
        </p:nvSpPr>
        <p:spPr>
          <a:xfrm>
            <a:off x="6492240" y="-1097280"/>
            <a:ext cx="3840480" cy="3840480"/>
          </a:xfrm>
          <a:prstGeom prst="ellipse">
            <a:avLst/>
          </a:prstGeom>
          <a:solidFill>
            <a:schemeClr val="accent1">
              <a:alpha val="15000"/>
            </a:schemeClr>
          </a:solidFill>
          <a:ln w="12700">
            <a:solidFill>
              <a:schemeClr val="accent1">
                <a:alpha val="15000"/>
              </a:schemeClr>
            </a:solidFill>
            <a:prstDash val="solid"/>
          </a:ln>
        </p:spPr>
      </p:sp>
      <p:sp>
        <p:nvSpPr>
          <p:cNvPr id="6" name="motif-2"/>
          <p:cNvSpPr/>
          <p:nvPr/>
        </p:nvSpPr>
        <p:spPr>
          <a:xfrm>
            <a:off x="7498080" y="3566160"/>
            <a:ext cx="2194560" cy="2194560"/>
          </a:xfrm>
          <a:prstGeom prst="ellipse">
            <a:avLst/>
          </a:prstGeom>
          <a:solidFill>
            <a:schemeClr val="accent1">
              <a:alpha val="8000"/>
            </a:schemeClr>
          </a:solidFill>
          <a:ln w="12700">
            <a:solidFill>
              <a:schemeClr val="accent1">
                <a:alpha val="8000"/>
              </a:schemeClr>
            </a:solidFill>
            <a:prstDash val="solid"/>
          </a:ln>
        </p:spPr>
      </p:sp>
    </p:spTree>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name="Slide 20">
    <p:spTree>
      <p:nvGrpSpPr>
        <p:cNvPr id="1" name=""/>
        <p:cNvGrpSpPr/>
        <p:nvPr/>
      </p:nvGrpSpPr>
      <p:grpSpPr>
        <a:xfrm>
          <a:off x="0" y="0"/>
          <a:ext cx="0" cy="0"/>
          <a:chOff x="0" y="0"/>
          <a:chExt cx="0" cy="0"/>
        </a:xfrm>
      </p:grpSpPr>
      <p:sp>
        <p:nvSpPr>
          <p:cNvPr id="2" name="Text 0"/>
          <p:cNvSpPr/>
          <p:nvPr>
            <p:ph idx="100" type="title" hasCustomPrompt="1"/>
          </p:nvPr>
        </p:nvSpPr>
        <p:spPr>
          <a:xfrm>
            <a:off x="457200" y="256032"/>
            <a:ext cx="8229600" cy="566928"/>
          </a:xfrm>
          <a:prstGeom prst="rect">
            <a:avLst/>
          </a:prstGeom>
          <a:noFill/>
          <a:ln/>
        </p:spPr>
        <p:txBody>
          <a:bodyPr wrap="square" lIns="0" tIns="0" rIns="0" bIns="0" rtlCol="0" anchor="ctr"/>
          <a:lstStyle/>
          <a:p>
            <a:pPr algn="l" indent="0" marL="0">
              <a:buNone/>
            </a:pPr>
            <a:r>
              <a:rPr lang="en-US" sz="2600" b="1" dirty="0">
                <a:solidFill>
                  <a:schemeClr val="tx1"/>
                </a:solidFill>
              </a:rPr>
              <a:t>Kết quả demo 1 – 3</a:t>
            </a:r>
            <a:endParaRPr lang="en-US" sz="2600" dirty="0"/>
          </a:p>
        </p:txBody>
      </p:sp>
      <p:sp>
        <p:nvSpPr>
          <p:cNvPr id="3" name="frame-05-demo1-hoi-san-pham.png"/>
          <p:cNvSpPr/>
          <p:nvPr/>
        </p:nvSpPr>
        <p:spPr>
          <a:xfrm>
            <a:off x="1339596" y="877824"/>
            <a:ext cx="1655064" cy="3502152"/>
          </a:xfrm>
          <a:prstGeom prst="roundRect">
            <a:avLst>
              <a:gd name="adj" fmla="val 3315"/>
            </a:avLst>
          </a:prstGeom>
          <a:solidFill>
            <a:schemeClr val="bg1"/>
          </a:solidFill>
          <a:ln w="9525">
            <a:solidFill>
              <a:srgbClr val="E5E7EB"/>
            </a:solidFill>
            <a:prstDash val="solid"/>
          </a:ln>
          <a:effectLst>
            <a:outerShdw sx="100000" sy="100000" kx="0" ky="0" algn="bl" rotWithShape="0" blurRad="101600" dist="25400" dir="5400000">
              <a:srgbClr val="000000">
                <a:alpha val="12000"/>
              </a:srgbClr>
            </a:outerShdw>
          </a:effectLst>
        </p:spPr>
      </p:sp>
      <p:pic>
        <p:nvPicPr>
          <p:cNvPr id="4" name="img-05-demo1-hoi-san-pham.png" descr="Demo 1 – Hỏi sản phẩm">    </p:cNvPr>
          <p:cNvPicPr>
            <a:picLocks noChangeAspect="1"/>
          </p:cNvPicPr>
          <p:nvPr/>
        </p:nvPicPr>
        <p:blipFill>
          <a:blip r:embed="rId1"/>
          <a:stretch>
            <a:fillRect/>
          </a:stretch>
        </p:blipFill>
        <p:spPr>
          <a:xfrm>
            <a:off x="1376172" y="914400"/>
            <a:ext cx="1581912" cy="3429000"/>
          </a:xfrm>
          <a:prstGeom prst="rect">
            <a:avLst/>
          </a:prstGeom>
        </p:spPr>
      </p:pic>
      <p:sp>
        <p:nvSpPr>
          <p:cNvPr id="5" name="Text 2"/>
          <p:cNvSpPr txBox="1"/>
          <p:nvPr/>
        </p:nvSpPr>
        <p:spPr>
          <a:xfrm>
            <a:off x="1101852" y="4416552"/>
            <a:ext cx="2130552" cy="274320"/>
          </a:xfrm>
          <a:prstGeom prst="rect">
            <a:avLst/>
          </a:prstGeom>
          <a:noFill/>
          <a:ln/>
        </p:spPr>
        <p:txBody>
          <a:bodyPr wrap="square" lIns="0" tIns="0" rIns="0" bIns="0" rtlCol="0" anchor="ctr"/>
          <a:lstStyle/>
          <a:p>
            <a:pPr algn="ctr" indent="0" marL="0">
              <a:buNone/>
            </a:pPr>
            <a:r>
              <a:rPr lang="en-US" sz="1100" dirty="0">
                <a:solidFill>
                  <a:schemeClr val="tx2"/>
                </a:solidFill>
              </a:rPr>
              <a:t>Demo 1 – Hỏi sản phẩm</a:t>
            </a:r>
            <a:endParaRPr lang="en-US" sz="1100" dirty="0"/>
          </a:p>
        </p:txBody>
      </p:sp>
      <p:sp>
        <p:nvSpPr>
          <p:cNvPr id="6" name="frame-06-demo2-loc-gia.png"/>
          <p:cNvSpPr/>
          <p:nvPr/>
        </p:nvSpPr>
        <p:spPr>
          <a:xfrm>
            <a:off x="3744468" y="877824"/>
            <a:ext cx="1655064" cy="3502152"/>
          </a:xfrm>
          <a:prstGeom prst="roundRect">
            <a:avLst>
              <a:gd name="adj" fmla="val 3315"/>
            </a:avLst>
          </a:prstGeom>
          <a:solidFill>
            <a:schemeClr val="bg1"/>
          </a:solidFill>
          <a:ln w="9525">
            <a:solidFill>
              <a:srgbClr val="E5E7EB"/>
            </a:solidFill>
            <a:prstDash val="solid"/>
          </a:ln>
          <a:effectLst>
            <a:outerShdw sx="100000" sy="100000" kx="0" ky="0" algn="bl" rotWithShape="0" blurRad="101600" dist="25400" dir="5400000">
              <a:srgbClr val="000000">
                <a:alpha val="12000"/>
              </a:srgbClr>
            </a:outerShdw>
          </a:effectLst>
        </p:spPr>
      </p:sp>
      <p:pic>
        <p:nvPicPr>
          <p:cNvPr id="7" name="img-06-demo2-loc-gia.png" descr="Demo 2 – Lọc theo giá (≤ 300k)">    </p:cNvPr>
          <p:cNvPicPr>
            <a:picLocks noChangeAspect="1"/>
          </p:cNvPicPr>
          <p:nvPr/>
        </p:nvPicPr>
        <p:blipFill>
          <a:blip r:embed="rId2"/>
          <a:stretch>
            <a:fillRect/>
          </a:stretch>
        </p:blipFill>
        <p:spPr>
          <a:xfrm>
            <a:off x="3781044" y="914400"/>
            <a:ext cx="1581912" cy="3429000"/>
          </a:xfrm>
          <a:prstGeom prst="rect">
            <a:avLst/>
          </a:prstGeom>
        </p:spPr>
      </p:pic>
      <p:sp>
        <p:nvSpPr>
          <p:cNvPr id="8" name="Text 4"/>
          <p:cNvSpPr txBox="1"/>
          <p:nvPr/>
        </p:nvSpPr>
        <p:spPr>
          <a:xfrm>
            <a:off x="3506724" y="4416552"/>
            <a:ext cx="2130552" cy="274320"/>
          </a:xfrm>
          <a:prstGeom prst="rect">
            <a:avLst/>
          </a:prstGeom>
          <a:noFill/>
          <a:ln/>
        </p:spPr>
        <p:txBody>
          <a:bodyPr wrap="square" lIns="0" tIns="0" rIns="0" bIns="0" rtlCol="0" anchor="ctr"/>
          <a:lstStyle/>
          <a:p>
            <a:pPr algn="ctr" indent="0" marL="0">
              <a:buNone/>
            </a:pPr>
            <a:r>
              <a:rPr lang="en-US" sz="1100" dirty="0">
                <a:solidFill>
                  <a:schemeClr val="tx2"/>
                </a:solidFill>
              </a:rPr>
              <a:t>Demo 2 – Lọc theo giá (≤ 300k)</a:t>
            </a:r>
            <a:endParaRPr lang="en-US" sz="1100" dirty="0"/>
          </a:p>
        </p:txBody>
      </p:sp>
      <p:sp>
        <p:nvSpPr>
          <p:cNvPr id="9" name="frame-07-demo3-tu-van-size.png"/>
          <p:cNvSpPr/>
          <p:nvPr/>
        </p:nvSpPr>
        <p:spPr>
          <a:xfrm>
            <a:off x="6149340" y="877824"/>
            <a:ext cx="1655064" cy="3502152"/>
          </a:xfrm>
          <a:prstGeom prst="roundRect">
            <a:avLst>
              <a:gd name="adj" fmla="val 3315"/>
            </a:avLst>
          </a:prstGeom>
          <a:solidFill>
            <a:schemeClr val="bg1"/>
          </a:solidFill>
          <a:ln w="9525">
            <a:solidFill>
              <a:srgbClr val="E5E7EB"/>
            </a:solidFill>
            <a:prstDash val="solid"/>
          </a:ln>
          <a:effectLst>
            <a:outerShdw sx="100000" sy="100000" kx="0" ky="0" algn="bl" rotWithShape="0" blurRad="101600" dist="25400" dir="5400000">
              <a:srgbClr val="000000">
                <a:alpha val="12000"/>
              </a:srgbClr>
            </a:outerShdw>
          </a:effectLst>
        </p:spPr>
      </p:sp>
      <p:pic>
        <p:nvPicPr>
          <p:cNvPr id="10" name="img-07-demo3-tu-van-size.png" descr="Demo 3 – Tư vấn size L">    </p:cNvPr>
          <p:cNvPicPr>
            <a:picLocks noChangeAspect="1"/>
          </p:cNvPicPr>
          <p:nvPr/>
        </p:nvPicPr>
        <p:blipFill>
          <a:blip r:embed="rId3"/>
          <a:stretch>
            <a:fillRect/>
          </a:stretch>
        </p:blipFill>
        <p:spPr>
          <a:xfrm>
            <a:off x="6185916" y="914400"/>
            <a:ext cx="1581912" cy="3429000"/>
          </a:xfrm>
          <a:prstGeom prst="rect">
            <a:avLst/>
          </a:prstGeom>
        </p:spPr>
      </p:pic>
      <p:sp>
        <p:nvSpPr>
          <p:cNvPr id="11" name="Text 6"/>
          <p:cNvSpPr txBox="1"/>
          <p:nvPr/>
        </p:nvSpPr>
        <p:spPr>
          <a:xfrm>
            <a:off x="5911596" y="4416552"/>
            <a:ext cx="2130552" cy="274320"/>
          </a:xfrm>
          <a:prstGeom prst="rect">
            <a:avLst/>
          </a:prstGeom>
          <a:noFill/>
          <a:ln/>
        </p:spPr>
        <p:txBody>
          <a:bodyPr wrap="square" lIns="0" tIns="0" rIns="0" bIns="0" rtlCol="0" anchor="ctr"/>
          <a:lstStyle/>
          <a:p>
            <a:pPr algn="ctr" indent="0" marL="0">
              <a:buNone/>
            </a:pPr>
            <a:r>
              <a:rPr lang="en-US" sz="1100" dirty="0">
                <a:solidFill>
                  <a:schemeClr val="tx2"/>
                </a:solidFill>
              </a:rPr>
              <a:t>Demo 3 – Tư vấn size L</a:t>
            </a:r>
            <a:endParaRPr lang="en-US" sz="1100" dirty="0"/>
          </a:p>
        </p:txBody>
      </p:sp>
      <p:sp>
        <p:nvSpPr>
          <p:cNvPr id="25" name="Slide Number Placeholder 0"/>
          <p:cNvSpPr>
            <a:spLocks noGrp="1"/>
          </p:cNvSpPr>
          <p:nvPr>
            <p:ph type="sldNum" sz="quarter" idx="4294967295"/>
          </p:nvPr>
        </p:nvSpPr>
        <p:spPr>
          <a:xfrm>
            <a:off x="8229600" y="4754880"/>
            <a:ext cx="457200" cy="274320"/>
          </a:xfrm>
          <a:prstGeom prst="rect">
            <a:avLst/>
          </a:prstGeom>
          <a:extLst>
            <a:ext uri="{C572A759-6A51-4108-AA02-DFA0A04FC94B}">
              <ma14:wrappingTextBoxFlag xmlns:ma14="http://schemas.microsoft.com/office/mac/drawingml/2011/main" val="0"/>
            </a:ext>
          </a:extLst>
        </p:spPr>
        <p:txBody>
          <a:bodyPr/>
          <a:lstStyle>
            <a:lvl1pPr>
              <a:defRPr sz="900">
                <a:solidFill>
                  <a:schemeClr val="accent4"/>
                </a:solidFill>
              </a:defRPr>
            </a:lvl1pPr>
          </a:lstStyle>
          <a:p>
            <a:pPr algn="r"/>
            <a:fld id="{F7021451-1387-4CA6-816F-3879F97B5CBC}" type="slidenum">
              <a:rPr b="0" lang="en-US"/>
              <a:t>20</a:t>
            </a:fld>
            <a:endParaRPr lang="en-US"/>
          </a:p>
        </p:txBody>
      </p:sp>
    </p:spTree>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name="Slide 21">
    <p:spTree>
      <p:nvGrpSpPr>
        <p:cNvPr id="1" name=""/>
        <p:cNvGrpSpPr/>
        <p:nvPr/>
      </p:nvGrpSpPr>
      <p:grpSpPr>
        <a:xfrm>
          <a:off x="0" y="0"/>
          <a:ext cx="0" cy="0"/>
          <a:chOff x="0" y="0"/>
          <a:chExt cx="0" cy="0"/>
        </a:xfrm>
      </p:grpSpPr>
      <p:sp>
        <p:nvSpPr>
          <p:cNvPr id="2" name="Text 0"/>
          <p:cNvSpPr/>
          <p:nvPr>
            <p:ph idx="100" type="title" hasCustomPrompt="1"/>
          </p:nvPr>
        </p:nvSpPr>
        <p:spPr>
          <a:xfrm>
            <a:off x="457200" y="256032"/>
            <a:ext cx="8229600" cy="566928"/>
          </a:xfrm>
          <a:prstGeom prst="rect">
            <a:avLst/>
          </a:prstGeom>
          <a:noFill/>
          <a:ln/>
        </p:spPr>
        <p:txBody>
          <a:bodyPr wrap="square" lIns="0" tIns="0" rIns="0" bIns="0" rtlCol="0" anchor="ctr"/>
          <a:lstStyle/>
          <a:p>
            <a:pPr algn="l" indent="0" marL="0">
              <a:buNone/>
            </a:pPr>
            <a:r>
              <a:rPr lang="en-US" sz="2600" b="1" dirty="0">
                <a:solidFill>
                  <a:schemeClr val="tx1"/>
                </a:solidFill>
              </a:rPr>
              <a:t>Kết quả demo 4 – 5</a:t>
            </a:r>
            <a:endParaRPr lang="en-US" sz="2600" dirty="0"/>
          </a:p>
        </p:txBody>
      </p:sp>
      <p:sp>
        <p:nvSpPr>
          <p:cNvPr id="3" name="frame-08b-demo4-bo-do-the.png"/>
          <p:cNvSpPr/>
          <p:nvPr/>
        </p:nvSpPr>
        <p:spPr>
          <a:xfrm>
            <a:off x="1339596" y="877824"/>
            <a:ext cx="1655064" cy="3502152"/>
          </a:xfrm>
          <a:prstGeom prst="roundRect">
            <a:avLst>
              <a:gd name="adj" fmla="val 3315"/>
            </a:avLst>
          </a:prstGeom>
          <a:solidFill>
            <a:schemeClr val="bg1"/>
          </a:solidFill>
          <a:ln w="9525">
            <a:solidFill>
              <a:srgbClr val="E5E7EB"/>
            </a:solidFill>
            <a:prstDash val="solid"/>
          </a:ln>
          <a:effectLst>
            <a:outerShdw sx="100000" sy="100000" kx="0" ky="0" algn="bl" rotWithShape="0" blurRad="101600" dist="25400" dir="5400000">
              <a:srgbClr val="000000">
                <a:alpha val="12000"/>
              </a:srgbClr>
            </a:outerShdw>
          </a:effectLst>
        </p:spPr>
      </p:sp>
      <p:pic>
        <p:nvPicPr>
          <p:cNvPr id="4" name="img-08b-demo4-bo-do-the.png" descr="Demo 4 – 3 bộ đồ chạy bộ ~500k">    </p:cNvPr>
          <p:cNvPicPr>
            <a:picLocks noChangeAspect="1"/>
          </p:cNvPicPr>
          <p:nvPr/>
        </p:nvPicPr>
        <p:blipFill>
          <a:blip r:embed="rId1"/>
          <a:stretch>
            <a:fillRect/>
          </a:stretch>
        </p:blipFill>
        <p:spPr>
          <a:xfrm>
            <a:off x="1376172" y="914400"/>
            <a:ext cx="1581912" cy="3429000"/>
          </a:xfrm>
          <a:prstGeom prst="rect">
            <a:avLst/>
          </a:prstGeom>
        </p:spPr>
      </p:pic>
      <p:sp>
        <p:nvSpPr>
          <p:cNvPr id="5" name="Text 2"/>
          <p:cNvSpPr txBox="1"/>
          <p:nvPr/>
        </p:nvSpPr>
        <p:spPr>
          <a:xfrm>
            <a:off x="1101852" y="4416552"/>
            <a:ext cx="2130552" cy="274320"/>
          </a:xfrm>
          <a:prstGeom prst="rect">
            <a:avLst/>
          </a:prstGeom>
          <a:noFill/>
          <a:ln/>
        </p:spPr>
        <p:txBody>
          <a:bodyPr wrap="square" lIns="0" tIns="0" rIns="0" bIns="0" rtlCol="0" anchor="ctr"/>
          <a:lstStyle/>
          <a:p>
            <a:pPr algn="ctr" indent="0" marL="0">
              <a:buNone/>
            </a:pPr>
            <a:r>
              <a:rPr lang="en-US" sz="1100" dirty="0">
                <a:solidFill>
                  <a:schemeClr val="tx2"/>
                </a:solidFill>
              </a:rPr>
              <a:t>Demo 4 – 3 bộ đồ chạy bộ ~500k</a:t>
            </a:r>
            <a:endParaRPr lang="en-US" sz="1100" dirty="0"/>
          </a:p>
        </p:txBody>
      </p:sp>
      <p:sp>
        <p:nvSpPr>
          <p:cNvPr id="6" name="frame-09-demo5-nhieu-dieu-kien.png"/>
          <p:cNvSpPr/>
          <p:nvPr/>
        </p:nvSpPr>
        <p:spPr>
          <a:xfrm>
            <a:off x="3744468" y="877824"/>
            <a:ext cx="1655064" cy="3502152"/>
          </a:xfrm>
          <a:prstGeom prst="roundRect">
            <a:avLst>
              <a:gd name="adj" fmla="val 3315"/>
            </a:avLst>
          </a:prstGeom>
          <a:solidFill>
            <a:schemeClr val="bg1"/>
          </a:solidFill>
          <a:ln w="9525">
            <a:solidFill>
              <a:srgbClr val="E5E7EB"/>
            </a:solidFill>
            <a:prstDash val="solid"/>
          </a:ln>
          <a:effectLst>
            <a:outerShdw sx="100000" sy="100000" kx="0" ky="0" algn="bl" rotWithShape="0" blurRad="101600" dist="25400" dir="5400000">
              <a:srgbClr val="000000">
                <a:alpha val="12000"/>
              </a:srgbClr>
            </a:outerShdw>
          </a:effectLst>
        </p:spPr>
      </p:sp>
      <p:pic>
        <p:nvPicPr>
          <p:cNvPr id="7" name="img-09-demo5-nhieu-dieu-kien.png" descr="Demo 5 – Nhiều điều kiện">    </p:cNvPr>
          <p:cNvPicPr>
            <a:picLocks noChangeAspect="1"/>
          </p:cNvPicPr>
          <p:nvPr/>
        </p:nvPicPr>
        <p:blipFill>
          <a:blip r:embed="rId2"/>
          <a:stretch>
            <a:fillRect/>
          </a:stretch>
        </p:blipFill>
        <p:spPr>
          <a:xfrm>
            <a:off x="3781044" y="914400"/>
            <a:ext cx="1581912" cy="3429000"/>
          </a:xfrm>
          <a:prstGeom prst="rect">
            <a:avLst/>
          </a:prstGeom>
        </p:spPr>
      </p:pic>
      <p:sp>
        <p:nvSpPr>
          <p:cNvPr id="8" name="Text 4"/>
          <p:cNvSpPr txBox="1"/>
          <p:nvPr/>
        </p:nvSpPr>
        <p:spPr>
          <a:xfrm>
            <a:off x="3506724" y="4416552"/>
            <a:ext cx="2130552" cy="274320"/>
          </a:xfrm>
          <a:prstGeom prst="rect">
            <a:avLst/>
          </a:prstGeom>
          <a:noFill/>
          <a:ln/>
        </p:spPr>
        <p:txBody>
          <a:bodyPr wrap="square" lIns="0" tIns="0" rIns="0" bIns="0" rtlCol="0" anchor="ctr"/>
          <a:lstStyle/>
          <a:p>
            <a:pPr algn="ctr" indent="0" marL="0">
              <a:buNone/>
            </a:pPr>
            <a:r>
              <a:rPr lang="en-US" sz="1100" dirty="0">
                <a:solidFill>
                  <a:schemeClr val="tx2"/>
                </a:solidFill>
              </a:rPr>
              <a:t>Demo 5 – Nhiều điều kiện</a:t>
            </a:r>
            <a:endParaRPr lang="en-US" sz="1100" dirty="0"/>
          </a:p>
        </p:txBody>
      </p:sp>
      <p:sp>
        <p:nvSpPr>
          <p:cNvPr id="9" name="frame-10-hoi-noi-tiep.png"/>
          <p:cNvSpPr/>
          <p:nvPr/>
        </p:nvSpPr>
        <p:spPr>
          <a:xfrm>
            <a:off x="6149340" y="877824"/>
            <a:ext cx="1655064" cy="3502152"/>
          </a:xfrm>
          <a:prstGeom prst="roundRect">
            <a:avLst>
              <a:gd name="adj" fmla="val 3315"/>
            </a:avLst>
          </a:prstGeom>
          <a:solidFill>
            <a:schemeClr val="bg1"/>
          </a:solidFill>
          <a:ln w="9525">
            <a:solidFill>
              <a:srgbClr val="E5E7EB"/>
            </a:solidFill>
            <a:prstDash val="solid"/>
          </a:ln>
          <a:effectLst>
            <a:outerShdw sx="100000" sy="100000" kx="0" ky="0" algn="bl" rotWithShape="0" blurRad="101600" dist="25400" dir="5400000">
              <a:srgbClr val="000000">
                <a:alpha val="12000"/>
              </a:srgbClr>
            </a:outerShdw>
          </a:effectLst>
        </p:spPr>
      </p:sp>
      <p:pic>
        <p:nvPicPr>
          <p:cNvPr id="10" name="img-10-hoi-noi-tiep.png" descr="Hỏi tiếp: &quot;Còn màu trắng không?&quot;">    </p:cNvPr>
          <p:cNvPicPr>
            <a:picLocks noChangeAspect="1"/>
          </p:cNvPicPr>
          <p:nvPr/>
        </p:nvPicPr>
        <p:blipFill>
          <a:blip r:embed="rId3"/>
          <a:stretch>
            <a:fillRect/>
          </a:stretch>
        </p:blipFill>
        <p:spPr>
          <a:xfrm>
            <a:off x="6185916" y="914400"/>
            <a:ext cx="1581912" cy="3429000"/>
          </a:xfrm>
          <a:prstGeom prst="rect">
            <a:avLst/>
          </a:prstGeom>
        </p:spPr>
      </p:pic>
      <p:sp>
        <p:nvSpPr>
          <p:cNvPr id="11" name="Text 6"/>
          <p:cNvSpPr txBox="1"/>
          <p:nvPr/>
        </p:nvSpPr>
        <p:spPr>
          <a:xfrm>
            <a:off x="5911596" y="4416552"/>
            <a:ext cx="2130552" cy="274320"/>
          </a:xfrm>
          <a:prstGeom prst="rect">
            <a:avLst/>
          </a:prstGeom>
          <a:noFill/>
          <a:ln/>
        </p:spPr>
        <p:txBody>
          <a:bodyPr wrap="square" lIns="0" tIns="0" rIns="0" bIns="0" rtlCol="0" anchor="ctr"/>
          <a:lstStyle/>
          <a:p>
            <a:pPr algn="ctr" indent="0" marL="0">
              <a:buNone/>
            </a:pPr>
            <a:r>
              <a:rPr lang="en-US" sz="1100" dirty="0">
                <a:solidFill>
                  <a:schemeClr val="tx2"/>
                </a:solidFill>
              </a:rPr>
              <a:t>Hỏi tiếp: "Còn màu trắng không?"</a:t>
            </a:r>
            <a:endParaRPr lang="en-US" sz="1100" dirty="0"/>
          </a:p>
        </p:txBody>
      </p:sp>
      <p:sp>
        <p:nvSpPr>
          <p:cNvPr id="25" name="Slide Number Placeholder 0"/>
          <p:cNvSpPr>
            <a:spLocks noGrp="1"/>
          </p:cNvSpPr>
          <p:nvPr>
            <p:ph type="sldNum" sz="quarter" idx="4294967295"/>
          </p:nvPr>
        </p:nvSpPr>
        <p:spPr>
          <a:xfrm>
            <a:off x="8229600" y="4754880"/>
            <a:ext cx="457200" cy="274320"/>
          </a:xfrm>
          <a:prstGeom prst="rect">
            <a:avLst/>
          </a:prstGeom>
          <a:extLst>
            <a:ext uri="{C572A759-6A51-4108-AA02-DFA0A04FC94B}">
              <ma14:wrappingTextBoxFlag xmlns:ma14="http://schemas.microsoft.com/office/mac/drawingml/2011/main" val="0"/>
            </a:ext>
          </a:extLst>
        </p:spPr>
        <p:txBody>
          <a:bodyPr/>
          <a:lstStyle>
            <a:lvl1pPr>
              <a:defRPr sz="900">
                <a:solidFill>
                  <a:schemeClr val="accent4"/>
                </a:solidFill>
              </a:defRPr>
            </a:lvl1pPr>
          </a:lstStyle>
          <a:p>
            <a:pPr algn="r"/>
            <a:fld id="{F7021451-1387-4CA6-816F-3879F97B5CBC}" type="slidenum">
              <a:rPr b="0" lang="en-US"/>
              <a:t>21</a:t>
            </a:fld>
            <a:endParaRPr lang="en-US"/>
          </a:p>
        </p:txBody>
      </p:sp>
    </p:spTree>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name="Slide 22">
    <p:spTree>
      <p:nvGrpSpPr>
        <p:cNvPr id="1" name=""/>
        <p:cNvGrpSpPr/>
        <p:nvPr/>
      </p:nvGrpSpPr>
      <p:grpSpPr>
        <a:xfrm>
          <a:off x="0" y="0"/>
          <a:ext cx="0" cy="0"/>
          <a:chOff x="0" y="0"/>
          <a:chExt cx="0" cy="0"/>
        </a:xfrm>
      </p:grpSpPr>
      <p:sp>
        <p:nvSpPr>
          <p:cNvPr id="2" name="Text 0"/>
          <p:cNvSpPr/>
          <p:nvPr>
            <p:ph idx="100" type="title" hasCustomPrompt="1"/>
          </p:nvPr>
        </p:nvSpPr>
        <p:spPr>
          <a:xfrm>
            <a:off x="457200" y="256032"/>
            <a:ext cx="8229600" cy="566928"/>
          </a:xfrm>
          <a:prstGeom prst="rect">
            <a:avLst/>
          </a:prstGeom>
          <a:noFill/>
          <a:ln/>
        </p:spPr>
        <p:txBody>
          <a:bodyPr wrap="square" lIns="0" tIns="0" rIns="0" bIns="0" rtlCol="0" anchor="ctr"/>
          <a:lstStyle/>
          <a:p>
            <a:pPr algn="l" indent="0" marL="0">
              <a:buNone/>
            </a:pPr>
            <a:r>
              <a:rPr lang="en-US" sz="2600" b="1" dirty="0">
                <a:solidFill>
                  <a:schemeClr val="tx1"/>
                </a:solidFill>
              </a:rPr>
              <a:t>Kết luận &amp; hướng phát triển</a:t>
            </a:r>
            <a:endParaRPr lang="en-US" sz="2600" dirty="0"/>
          </a:p>
        </p:txBody>
      </p:sp>
      <p:sp>
        <p:nvSpPr>
          <p:cNvPr id="3" name="card"/>
          <p:cNvSpPr/>
          <p:nvPr/>
        </p:nvSpPr>
        <p:spPr>
          <a:xfrm>
            <a:off x="457200" y="960120"/>
            <a:ext cx="3977640" cy="3520440"/>
          </a:xfrm>
          <a:prstGeom prst="roundRect">
            <a:avLst>
              <a:gd name="adj" fmla="val 2078"/>
            </a:avLst>
          </a:prstGeom>
          <a:solidFill>
            <a:schemeClr val="bg2"/>
          </a:solidFill>
          <a:ln w="9525">
            <a:solidFill>
              <a:schemeClr val="bg2"/>
            </a:solidFill>
            <a:prstDash val="solid"/>
          </a:ln>
        </p:spPr>
      </p:sp>
      <p:sp>
        <p:nvSpPr>
          <p:cNvPr id="4" name="Text 2"/>
          <p:cNvSpPr txBox="1"/>
          <p:nvPr/>
        </p:nvSpPr>
        <p:spPr>
          <a:xfrm>
            <a:off x="685800" y="1051560"/>
            <a:ext cx="3566160" cy="384048"/>
          </a:xfrm>
          <a:prstGeom prst="rect">
            <a:avLst/>
          </a:prstGeom>
          <a:noFill/>
          <a:ln/>
        </p:spPr>
        <p:txBody>
          <a:bodyPr wrap="square" lIns="0" tIns="0" rIns="0" bIns="0" rtlCol="0" anchor="ctr"/>
          <a:lstStyle/>
          <a:p>
            <a:pPr indent="0" marL="0">
              <a:buNone/>
            </a:pPr>
            <a:r>
              <a:rPr lang="en-US" sz="1700" b="1" dirty="0">
                <a:solidFill>
                  <a:schemeClr val="accent1"/>
                </a:solidFill>
              </a:rPr>
              <a:t>Đã đạt được</a:t>
            </a:r>
            <a:endParaRPr lang="en-US" sz="1700" dirty="0"/>
          </a:p>
        </p:txBody>
      </p:sp>
      <p:sp>
        <p:nvSpPr>
          <p:cNvPr id="5" name="Text 3"/>
          <p:cNvSpPr txBox="1"/>
          <p:nvPr/>
        </p:nvSpPr>
        <p:spPr>
          <a:xfrm>
            <a:off x="685800" y="1508760"/>
            <a:ext cx="3611880" cy="2834640"/>
          </a:xfrm>
          <a:prstGeom prst="rect">
            <a:avLst/>
          </a:prstGeom>
          <a:noFill/>
          <a:ln/>
        </p:spPr>
        <p:txBody>
          <a:bodyPr wrap="square" lIns="0" tIns="0" rIns="0" bIns="0" rtlCol="0" anchor="t"/>
          <a:lstStyle/>
          <a:p>
            <a:pPr marL="342900" indent="-342900">
              <a:spcAft>
                <a:spcPts val="800"/>
              </a:spcAft>
              <a:buSzPct val="100000"/>
              <a:buChar char="•"/>
            </a:pPr>
            <a:r>
              <a:rPr lang="en-US" sz="1300" dirty="0">
                <a:solidFill>
                  <a:schemeClr val="tx1"/>
                </a:solidFill>
              </a:rPr>
              <a:t>Đáp ứng đủ 7 mục tiêu, 5/5 tình huống demo</a:t>
            </a:r>
            <a:endParaRPr lang="en-US" sz="1300" dirty="0"/>
          </a:p>
          <a:p>
            <a:pPr marL="342900" indent="-342900">
              <a:spcAft>
                <a:spcPts val="800"/>
              </a:spcAft>
              <a:buSzPct val="100000"/>
              <a:buChar char="•"/>
            </a:pPr>
            <a:r>
              <a:rPr lang="en-US" sz="1300" dirty="0">
                <a:solidFill>
                  <a:schemeClr val="tx1"/>
                </a:solidFill>
              </a:rPr>
              <a:t>Kết hợp Gemini với dữ liệu thật – không bịa thông tin</a:t>
            </a:r>
            <a:endParaRPr lang="en-US" sz="1300" dirty="0"/>
          </a:p>
          <a:p>
            <a:pPr marL="342900" indent="-342900">
              <a:spcAft>
                <a:spcPts val="800"/>
              </a:spcAft>
              <a:buSzPct val="100000"/>
              <a:buChar char="•"/>
            </a:pPr>
            <a:r>
              <a:rPr lang="en-US" sz="1300" dirty="0">
                <a:solidFill>
                  <a:schemeClr val="tx1"/>
                </a:solidFill>
              </a:rPr>
              <a:t>Tự dự phòng khi mất mạng / hết hạn mức</a:t>
            </a:r>
            <a:endParaRPr lang="en-US" sz="1300" dirty="0"/>
          </a:p>
          <a:p>
            <a:pPr marL="342900" indent="-342900">
              <a:spcAft>
                <a:spcPts val="800"/>
              </a:spcAft>
              <a:buSzPct val="100000"/>
              <a:buChar char="•"/>
            </a:pPr>
            <a:r>
              <a:rPr lang="en-US" sz="1300" dirty="0">
                <a:solidFill>
                  <a:schemeClr val="tx1"/>
                </a:solidFill>
              </a:rPr>
              <a:t>Giao diện đẹp trên máy tính và điện thoại</a:t>
            </a:r>
            <a:endParaRPr lang="en-US" sz="1300" dirty="0"/>
          </a:p>
          <a:p>
            <a:pPr marL="342900" indent="-342900">
              <a:spcAft>
                <a:spcPts val="800"/>
              </a:spcAft>
              <a:buSzPct val="100000"/>
              <a:buChar char="•"/>
            </a:pPr>
            <a:r>
              <a:rPr lang="en-US" sz="1300" dirty="0">
                <a:solidFill>
                  <a:schemeClr val="tx1"/>
                </a:solidFill>
              </a:rPr>
              <a:t>32 ca kiểm thử tự động đều đạt</a:t>
            </a:r>
            <a:endParaRPr lang="en-US" sz="1300" dirty="0"/>
          </a:p>
        </p:txBody>
      </p:sp>
      <p:sp>
        <p:nvSpPr>
          <p:cNvPr id="6" name="card"/>
          <p:cNvSpPr/>
          <p:nvPr/>
        </p:nvSpPr>
        <p:spPr>
          <a:xfrm>
            <a:off x="4709160" y="960120"/>
            <a:ext cx="3977640" cy="3520440"/>
          </a:xfrm>
          <a:prstGeom prst="roundRect">
            <a:avLst>
              <a:gd name="adj" fmla="val 2078"/>
            </a:avLst>
          </a:prstGeom>
          <a:solidFill>
            <a:schemeClr val="tx1"/>
          </a:solidFill>
          <a:ln w="9525">
            <a:solidFill>
              <a:schemeClr val="tx1"/>
            </a:solidFill>
            <a:prstDash val="solid"/>
          </a:ln>
        </p:spPr>
      </p:sp>
      <p:sp>
        <p:nvSpPr>
          <p:cNvPr id="7" name="Text 5"/>
          <p:cNvSpPr txBox="1"/>
          <p:nvPr/>
        </p:nvSpPr>
        <p:spPr>
          <a:xfrm>
            <a:off x="4937760" y="1051560"/>
            <a:ext cx="3566160" cy="384048"/>
          </a:xfrm>
          <a:prstGeom prst="rect">
            <a:avLst/>
          </a:prstGeom>
          <a:noFill/>
          <a:ln/>
        </p:spPr>
        <p:txBody>
          <a:bodyPr wrap="square" lIns="0" tIns="0" rIns="0" bIns="0" rtlCol="0" anchor="ctr"/>
          <a:lstStyle/>
          <a:p>
            <a:pPr indent="0" marL="0">
              <a:buNone/>
            </a:pPr>
            <a:r>
              <a:rPr lang="en-US" sz="1700" b="1" dirty="0">
                <a:solidFill>
                  <a:schemeClr val="accent1"/>
                </a:solidFill>
              </a:rPr>
              <a:t>Hướng phát triển</a:t>
            </a:r>
            <a:endParaRPr lang="en-US" sz="1700" dirty="0"/>
          </a:p>
        </p:txBody>
      </p:sp>
      <p:sp>
        <p:nvSpPr>
          <p:cNvPr id="8" name="Text 6"/>
          <p:cNvSpPr txBox="1"/>
          <p:nvPr/>
        </p:nvSpPr>
        <p:spPr>
          <a:xfrm>
            <a:off x="4937760" y="1508760"/>
            <a:ext cx="3611880" cy="2834640"/>
          </a:xfrm>
          <a:prstGeom prst="rect">
            <a:avLst/>
          </a:prstGeom>
          <a:noFill/>
          <a:ln/>
        </p:spPr>
        <p:txBody>
          <a:bodyPr wrap="square" lIns="0" tIns="0" rIns="0" bIns="0" rtlCol="0" anchor="t"/>
          <a:lstStyle/>
          <a:p>
            <a:pPr marL="342900" indent="-342900">
              <a:spcAft>
                <a:spcPts val="800"/>
              </a:spcAft>
              <a:buSzPct val="100000"/>
              <a:buChar char="•"/>
            </a:pPr>
            <a:r>
              <a:rPr lang="en-US" sz="1300" dirty="0">
                <a:solidFill>
                  <a:schemeClr val="bg1"/>
                </a:solidFill>
              </a:rPr>
              <a:t>Lưu &amp; thống kê lịch sử hội thoại</a:t>
            </a:r>
            <a:endParaRPr lang="en-US" sz="1300" dirty="0"/>
          </a:p>
          <a:p>
            <a:pPr marL="342900" indent="-342900">
              <a:spcAft>
                <a:spcPts val="800"/>
              </a:spcAft>
              <a:buSzPct val="100000"/>
              <a:buChar char="•"/>
            </a:pPr>
            <a:r>
              <a:rPr lang="en-US" sz="1300" dirty="0">
                <a:solidFill>
                  <a:schemeClr val="bg1"/>
                </a:solidFill>
              </a:rPr>
              <a:t>Thêm vào giỏ, đặt hàng ngay trong khung chat</a:t>
            </a:r>
            <a:endParaRPr lang="en-US" sz="1300" dirty="0"/>
          </a:p>
          <a:p>
            <a:pPr marL="342900" indent="-342900">
              <a:spcAft>
                <a:spcPts val="800"/>
              </a:spcAft>
              <a:buSzPct val="100000"/>
              <a:buChar char="•"/>
            </a:pPr>
            <a:r>
              <a:rPr lang="en-US" sz="1300" dirty="0">
                <a:solidFill>
                  <a:schemeClr val="bg1"/>
                </a:solidFill>
              </a:rPr>
              <a:t>Gợi ý cá nhân hóa theo lịch sử mua hàng</a:t>
            </a:r>
            <a:endParaRPr lang="en-US" sz="1300" dirty="0"/>
          </a:p>
          <a:p>
            <a:pPr marL="342900" indent="-342900">
              <a:spcAft>
                <a:spcPts val="800"/>
              </a:spcAft>
              <a:buSzPct val="100000"/>
              <a:buChar char="•"/>
            </a:pPr>
            <a:r>
              <a:rPr lang="en-US" sz="1300" dirty="0">
                <a:solidFill>
                  <a:schemeClr val="bg1"/>
                </a:solidFill>
              </a:rPr>
              <a:t>Tìm kiếm ngữ nghĩa, tìm sản phẩm bằng hình ảnh</a:t>
            </a:r>
            <a:endParaRPr lang="en-US" sz="1300" dirty="0"/>
          </a:p>
          <a:p>
            <a:pPr marL="342900" indent="-342900">
              <a:spcAft>
                <a:spcPts val="800"/>
              </a:spcAft>
              <a:buSzPct val="100000"/>
              <a:buChar char="•"/>
            </a:pPr>
            <a:r>
              <a:rPr lang="en-US" sz="1300" dirty="0">
                <a:solidFill>
                  <a:schemeClr val="bg1"/>
                </a:solidFill>
              </a:rPr>
              <a:t>Nâng cấp gói Gemini khi triển khai thực tế</a:t>
            </a:r>
            <a:endParaRPr lang="en-US" sz="1300" dirty="0"/>
          </a:p>
        </p:txBody>
      </p:sp>
      <p:sp>
        <p:nvSpPr>
          <p:cNvPr id="25" name="Slide Number Placeholder 0"/>
          <p:cNvSpPr>
            <a:spLocks noGrp="1"/>
          </p:cNvSpPr>
          <p:nvPr>
            <p:ph type="sldNum" sz="quarter" idx="4294967295"/>
          </p:nvPr>
        </p:nvSpPr>
        <p:spPr>
          <a:xfrm>
            <a:off x="8229600" y="4754880"/>
            <a:ext cx="457200" cy="274320"/>
          </a:xfrm>
          <a:prstGeom prst="rect">
            <a:avLst/>
          </a:prstGeom>
          <a:extLst>
            <a:ext uri="{C572A759-6A51-4108-AA02-DFA0A04FC94B}">
              <ma14:wrappingTextBoxFlag xmlns:ma14="http://schemas.microsoft.com/office/mac/drawingml/2011/main" val="0"/>
            </a:ext>
          </a:extLst>
        </p:spPr>
        <p:txBody>
          <a:bodyPr/>
          <a:lstStyle>
            <a:lvl1pPr>
              <a:defRPr sz="900">
                <a:solidFill>
                  <a:schemeClr val="accent4"/>
                </a:solidFill>
              </a:defRPr>
            </a:lvl1pPr>
          </a:lstStyle>
          <a:p>
            <a:pPr algn="r"/>
            <a:fld id="{F7021451-1387-4CA6-816F-3879F97B5CBC}" type="slidenum">
              <a:rPr b="0" lang="en-US"/>
              <a:t>22</a:t>
            </a:fld>
            <a:endParaRPr lang="en-US"/>
          </a:p>
        </p:txBody>
      </p:sp>
    </p:spTree>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name="Slide 23">
    <p:spTree>
      <p:nvGrpSpPr>
        <p:cNvPr id="1" name=""/>
        <p:cNvGrpSpPr/>
        <p:nvPr/>
      </p:nvGrpSpPr>
      <p:grpSpPr>
        <a:xfrm>
          <a:off x="0" y="0"/>
          <a:ext cx="0" cy="0"/>
          <a:chOff x="0" y="0"/>
          <a:chExt cx="0" cy="0"/>
        </a:xfrm>
      </p:grpSpPr>
      <p:sp>
        <p:nvSpPr>
          <p:cNvPr id="2" name="motif"/>
          <p:cNvSpPr/>
          <p:nvPr/>
        </p:nvSpPr>
        <p:spPr>
          <a:xfrm>
            <a:off x="-1097280" y="2377440"/>
            <a:ext cx="4023360" cy="4023360"/>
          </a:xfrm>
          <a:prstGeom prst="ellipse">
            <a:avLst/>
          </a:prstGeom>
          <a:solidFill>
            <a:schemeClr val="accent1">
              <a:alpha val="15000"/>
            </a:schemeClr>
          </a:solidFill>
          <a:ln w="12700">
            <a:solidFill>
              <a:schemeClr val="accent1">
                <a:alpha val="15000"/>
              </a:schemeClr>
            </a:solidFill>
            <a:prstDash val="solid"/>
          </a:ln>
        </p:spPr>
      </p:sp>
      <p:sp>
        <p:nvSpPr>
          <p:cNvPr id="3" name="motif-2"/>
          <p:cNvSpPr/>
          <p:nvPr/>
        </p:nvSpPr>
        <p:spPr>
          <a:xfrm>
            <a:off x="6949440" y="-1188720"/>
            <a:ext cx="3291840" cy="3291840"/>
          </a:xfrm>
          <a:prstGeom prst="ellipse">
            <a:avLst/>
          </a:prstGeom>
          <a:solidFill>
            <a:schemeClr val="accent1">
              <a:alpha val="12000"/>
            </a:schemeClr>
          </a:solidFill>
          <a:ln w="12700">
            <a:solidFill>
              <a:schemeClr val="accent1">
                <a:alpha val="12000"/>
              </a:schemeClr>
            </a:solidFill>
            <a:prstDash val="solid"/>
          </a:ln>
        </p:spPr>
      </p:sp>
      <p:sp>
        <p:nvSpPr>
          <p:cNvPr id="4" name="Text 2"/>
          <p:cNvSpPr txBox="1"/>
          <p:nvPr/>
        </p:nvSpPr>
        <p:spPr>
          <a:xfrm>
            <a:off x="457200" y="1371600"/>
            <a:ext cx="8229600" cy="1188720"/>
          </a:xfrm>
          <a:prstGeom prst="rect">
            <a:avLst/>
          </a:prstGeom>
          <a:noFill/>
          <a:ln/>
        </p:spPr>
        <p:txBody>
          <a:bodyPr wrap="square" lIns="0" tIns="0" rIns="0" bIns="0" rtlCol="0" anchor="ctr"/>
          <a:lstStyle/>
          <a:p>
            <a:pPr algn="ctr" indent="0" marL="0">
              <a:buNone/>
            </a:pPr>
            <a:r>
              <a:rPr lang="en-US" sz="3200" b="1" dirty="0">
                <a:solidFill>
                  <a:schemeClr val="bg1"/>
                </a:solidFill>
              </a:rPr>
              <a:t>Cảm ơn thầy cô và các bạn đã lắng nghe!</a:t>
            </a:r>
            <a:endParaRPr lang="en-US" sz="3200" dirty="0"/>
          </a:p>
        </p:txBody>
      </p:sp>
      <p:sp>
        <p:nvSpPr>
          <p:cNvPr id="5" name="Text 3"/>
          <p:cNvSpPr txBox="1"/>
          <p:nvPr/>
        </p:nvSpPr>
        <p:spPr>
          <a:xfrm>
            <a:off x="731520" y="2788920"/>
            <a:ext cx="7680960" cy="457200"/>
          </a:xfrm>
          <a:prstGeom prst="rect">
            <a:avLst/>
          </a:prstGeom>
          <a:noFill/>
          <a:ln/>
        </p:spPr>
        <p:txBody>
          <a:bodyPr wrap="square" lIns="0" tIns="0" rIns="0" bIns="0" rtlCol="0" anchor="ctr"/>
          <a:lstStyle/>
          <a:p>
            <a:pPr algn="ctr" indent="0" marL="0">
              <a:buNone/>
            </a:pPr>
            <a:r>
              <a:rPr lang="en-US" sz="1800" dirty="0">
                <a:solidFill>
                  <a:schemeClr val="accent1"/>
                </a:solidFill>
              </a:rPr>
              <a:t>Mời thầy cô và các bạn đặt câu hỏi</a:t>
            </a:r>
            <a:endParaRPr lang="en-US" sz="1800" dirty="0"/>
          </a:p>
        </p:txBody>
      </p:sp>
    </p:spTree>
  </p:cSld>
  <p:clrMapOvr>
    <a:masterClrMapping/>
  </p:clrMapOvr>
</p:sld>
</file>

<file path=ppt/theme/theme1.xml><?xml version="1.0" encoding="utf-8"?>
<a:theme xmlns:a="http://schemas.openxmlformats.org/drawingml/2006/main" name="MODESPORT">
  <a:themeElements>
    <a:clrScheme name="MODESPORT">
      <a:dk1>
        <a:srgbClr val="161922"/>
      </a:dk1>
      <a:lt1>
        <a:srgbClr val="FFFFFF"/>
      </a:lt1>
      <a:dk2>
        <a:srgbClr val="4B5563"/>
      </a:dk2>
      <a:lt2>
        <a:srgbClr val="F4F5F7"/>
      </a:lt2>
      <a:accent1>
        <a:srgbClr val="E42508"/>
      </a:accent1>
      <a:accent2>
        <a:srgbClr val="FF7A59"/>
      </a:accent2>
      <a:accent3>
        <a:srgbClr val="2A2F3B"/>
      </a:accent3>
      <a:accent4>
        <a:srgbClr val="9CA3AF"/>
      </a:accent4>
      <a:accent5>
        <a:srgbClr val="FDE7E1"/>
      </a:accent5>
      <a:accent6>
        <a:srgbClr val="22C55E"/>
      </a:accent6>
      <a:hlink>
        <a:srgbClr val="E42508"/>
      </a:hlink>
      <a:folHlink>
        <a:srgbClr val="B91C04"/>
      </a:folHlink>
    </a:clrScheme>
    <a:fontScheme name="MODESPORT">
      <a:majorFont>
        <a:latin typeface="Arial"/>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rial"/>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(16:9)</PresentationFormat>
  <Paragraphs>0</Paragraphs>
  <Slides>23</Slides>
  <Notes>23</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23</vt:i4>
      </vt:variant>
    </vt:vector>
  </HeadingPairs>
  <TitlesOfParts>
    <vt:vector size="26" baseType="lpstr">
      <vt:lpstr>Arial</vt:lpstr>
      <vt:lpstr>Calibri</vt:lpstr>
      <vt:lpstr>Office Theme</vt:lpstr>
      <vt:lpstr>Slide 1</vt:lpstr>
      <vt:lpstr>Slide 2</vt:lpstr>
      <vt:lpstr>Slide 3</vt:lpstr>
      <vt:lpstr>Slide 4</vt:lpstr>
      <vt:lpstr>Slide 5</vt:lpstr>
      <vt:lpstr>Slide 6</vt:lpstr>
      <vt:lpstr>Slide 7</vt:lpstr>
      <vt:lpstr>Slide 8</vt:lpstr>
      <vt:lpstr>Slide 9</vt:lpstr>
      <vt:lpstr>Slide 10</vt:lpstr>
      <vt:lpstr>Slide 11</vt:lpstr>
      <vt:lpstr>Slide 12</vt:lpstr>
      <vt:lpstr>Slide 13</vt:lpstr>
      <vt:lpstr>Slide 14</vt:lpstr>
      <vt:lpstr>Slide 15</vt:lpstr>
      <vt:lpstr>Slide 16</vt:lpstr>
      <vt:lpstr>Slide 17</vt:lpstr>
      <vt:lpstr>Slide 18</vt:lpstr>
      <vt:lpstr>Slide 19</vt:lpstr>
      <vt:lpstr>Slide 20</vt:lpstr>
      <vt:lpstr>Slide 21</vt:lpstr>
      <vt:lpstr>Slide 22</vt:lpstr>
      <vt:lpstr>Slide 23</vt:lpstr>
    </vt:vector>
  </TitlesOfParts>
  <Company>PptxGenJS</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Chatbot AI tư vấn sản phẩm – MODESPORT</dc:title>
  <dc:subject>PptxGenJS Presentation</dc:subject>
  <dc:creator>PptxGenJS</dc:creator>
  <cp:lastModifiedBy>PptxGenJS</cp:lastModifiedBy>
  <cp:revision>1</cp:revision>
  <dcterms:created xsi:type="dcterms:W3CDTF">2026-10-12T07:48:28Z</dcterms:created>
  <dcterms:modified xsi:type="dcterms:W3CDTF">2026-10-12T07:48:28Z</dcterms:modified>
</cp:coreProperties>
</file>